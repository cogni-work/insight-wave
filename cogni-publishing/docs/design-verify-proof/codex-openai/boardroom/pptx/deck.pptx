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docProps/core.xml" ContentType="application/vnd.openxmlformats-package.core-properties+xml"/>
</Types>
</file>

<file path=_rels/.rels>&#65279;<?xml version="1.0" encoding="utf-8"?><Relationships xmlns="http://schemas.openxmlformats.org/package/2006/relationships"><Relationship Type="http://schemas.openxmlformats.org/package/2006/relationships/metadata/core-properties" Target="/docProps/core.xml" Id="R9e8afe52365645e5" /><Relationship Type="http://schemas.openxmlformats.org/officeDocument/2006/relationships/extended-properties" Target="/docProps/app.xml" Id="Rfb1d8a3854744f71" /><Relationship Type="http://schemas.openxmlformats.org/officeDocument/2006/relationships/officeDocument" Target="/ppt/presentation.xml" Id="R83bc367f865d4149" /></Relationships>
</file>

<file path=ppt/presentation.xml><?xml version="1.0" encoding="utf-8"?>
<p:presentation xmlns:p="http://schemas.openxmlformats.org/presentationml/2006/main">
  <p:sldMasterIdLst>
    <p:sldMasterId xmlns:r="http://schemas.openxmlformats.org/officeDocument/2006/relationships" id="2147483648" r:id="Rb5e0534d46424889"/>
  </p:sldMasterIdLst>
  <p:notesMasterIdLst>
    <p:notesMasterId xmlns:r="http://schemas.openxmlformats.org/officeDocument/2006/relationships" r:id="Rf8fd91070cb64a33"/>
  </p:notesMasterIdLst>
  <p:sldIdLst>
    <p:sldId xmlns:r="http://schemas.openxmlformats.org/officeDocument/2006/relationships" id="256" r:id="R1ca8920e59064562"/>
    <p:sldId xmlns:r="http://schemas.openxmlformats.org/officeDocument/2006/relationships" id="257" r:id="R8bb1a57b86ff4370"/>
    <p:sldId xmlns:r="http://schemas.openxmlformats.org/officeDocument/2006/relationships" id="258" r:id="Rceb0526a039e4d81"/>
    <p:sldId xmlns:r="http://schemas.openxmlformats.org/officeDocument/2006/relationships" id="259" r:id="R5d2634a565444ffd"/>
    <p:sldId xmlns:r="http://schemas.openxmlformats.org/officeDocument/2006/relationships" id="260" r:id="R8e7fd6264e0f48a1"/>
    <p:sldId xmlns:r="http://schemas.openxmlformats.org/officeDocument/2006/relationships" id="261" r:id="Rda526a1e033f4916"/>
    <p:sldId xmlns:r="http://schemas.openxmlformats.org/officeDocument/2006/relationships" id="262" r:id="R640f9a258a6f4ed7"/>
    <p:sldId xmlns:r="http://schemas.openxmlformats.org/officeDocument/2006/relationships" id="263" r:id="R9202a707e6364168"/>
    <p:sldId xmlns:r="http://schemas.openxmlformats.org/officeDocument/2006/relationships" id="264" r:id="R5847ed96f3074f1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8d6b46a1f2a41b6" /><Relationship Type="http://schemas.openxmlformats.org/officeDocument/2006/relationships/slideMaster" Target="/ppt/slideMasters/slideMaster1.xml" Id="Rb5e0534d46424889" /><Relationship Type="http://schemas.openxmlformats.org/officeDocument/2006/relationships/notesMaster" Target="/ppt/notesMasters/notesMaster1.xml" Id="Rf8fd91070cb64a33" /><Relationship Type="http://schemas.openxmlformats.org/officeDocument/2006/relationships/presProps" Target="/ppt/presProps.xml" Id="Ra2028f85796f4ad3" /><Relationship Type="http://schemas.openxmlformats.org/officeDocument/2006/relationships/tableStyles" Target="/ppt/tableStyles.xml" Id="R2734c097cfb44a58" /><Relationship Type="http://schemas.openxmlformats.org/officeDocument/2006/relationships/slide" Target="/ppt/slides/slide1.xml" Id="R1ca8920e59064562" /><Relationship Type="http://schemas.openxmlformats.org/officeDocument/2006/relationships/slide" Target="/ppt/slides/slide2.xml" Id="R8bb1a57b86ff4370" /><Relationship Type="http://schemas.openxmlformats.org/officeDocument/2006/relationships/slide" Target="/ppt/slides/slide3.xml" Id="Rceb0526a039e4d81" /><Relationship Type="http://schemas.openxmlformats.org/officeDocument/2006/relationships/slide" Target="/ppt/slides/slide4.xml" Id="R5d2634a565444ffd" /><Relationship Type="http://schemas.openxmlformats.org/officeDocument/2006/relationships/slide" Target="/ppt/slides/slide5.xml" Id="R8e7fd6264e0f48a1" /><Relationship Type="http://schemas.openxmlformats.org/officeDocument/2006/relationships/slide" Target="/ppt/slides/slide6.xml" Id="Rda526a1e033f4916" /><Relationship Type="http://schemas.openxmlformats.org/officeDocument/2006/relationships/slide" Target="/ppt/slides/slide7.xml" Id="R640f9a258a6f4ed7" /><Relationship Type="http://schemas.openxmlformats.org/officeDocument/2006/relationships/slide" Target="/ppt/slides/slide8.xml" Id="R9202a707e6364168" /><Relationship Type="http://schemas.openxmlformats.org/officeDocument/2006/relationships/slide" Target="/ppt/slides/slide9.xml" Id="R5847ed96f3074f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113431ef864e7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0568f37551534e86"/><Relationship Type="http://schemas.openxmlformats.org/officeDocument/2006/relationships/notesMaster" Target="/ppt/notesMasters/notesMaster1.xml" Id="R21c0853f79544314"/></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7ffba96ddb804f17"/><Relationship Type="http://schemas.openxmlformats.org/officeDocument/2006/relationships/notesMaster" Target="/ppt/notesMasters/notesMaster1.xml" Id="R941957d6dc4c408c"/><Relationship Id="rIdProof100" Type="http://schemas.openxmlformats.org/officeDocument/2006/relationships/hyperlink" Target="https://www.iee.fraunhofer.de/de/publikationen/stundenwerte-windvermarktung-2026.html" TargetMode="External"/><Relationship Id="rIdProof101" Type="http://schemas.openxmlformats.org/officeDocument/2006/relationships/hyperlink" Target="https://www.bundesnetzagentur.de/redispatch-abregelung-2026" TargetMode="External"/><Relationship Id="rIdProof102" Type="http://schemas.openxmlformats.org/officeDocument/2006/relationships/hyperlink" Target="https://www.bundesnetzagentur.de/ausschreibungen-wind-an-land-2028" TargetMode="External"/></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28a90220e1fe4730"/><Relationship Type="http://schemas.openxmlformats.org/officeDocument/2006/relationships/notesMaster" Target="/ppt/notesMasters/notesMaster1.xml" Id="R874cfd5efaaf45ac"/><Relationship Id="rIdProof100" Type="http://schemas.openxmlformats.org/officeDocument/2006/relationships/hyperlink" Target="https://www.iee.fraunhofer.de/de/publikationen/stundenwerte-windvermarktung-2026.html" TargetMode="External"/><Relationship Id="rIdProof101" Type="http://schemas.openxmlformats.org/officeDocument/2006/relationships/hyperlink" Target="https://www.bundesnetzagentur.de/redispatch-abregelung-2026" TargetMode="External"/><Relationship Id="rIdProof102" Type="http://schemas.openxmlformats.org/officeDocument/2006/relationships/hyperlink" Target="https://www.bundesnetzagentur.de/ausschreibungen-wind-an-land-2028" TargetMode="External"/></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486acf195b3941c2"/><Relationship Type="http://schemas.openxmlformats.org/officeDocument/2006/relationships/notesMaster" Target="/ppt/notesMasters/notesMaster1.xml" Id="R75c500f293004a50"/><Relationship Id="rIdProof100" Type="http://schemas.openxmlformats.org/officeDocument/2006/relationships/hyperlink" Target="https://www.iee.fraunhofer.de/de/publikationen/stundenwerte-windvermarktung-2026.html" TargetMode="External"/><Relationship Id="rIdProof101" Type="http://schemas.openxmlformats.org/officeDocument/2006/relationships/hyperlink" Target="https://www.iee.fraunhofer.de/de/publikationen/stundenwerte-windvermarktung-2026.html" TargetMode="External"/><Relationship Id="rIdProof102" Type="http://schemas.openxmlformats.org/officeDocument/2006/relationships/hyperlink" Target="https://www.bundesnetzagentur.de/ausschreibungen-wind-an-land-2028" TargetMode="External"/><Relationship Id="rIdProof103" Type="http://schemas.openxmlformats.org/officeDocument/2006/relationships/hyperlink" Target="https://www.destatis.de/DE/Themen/Branchen-Unternehmen/Energie/speicherkosten-2030.html" TargetMode="External"/><Relationship Id="rIdProof104" Type="http://schemas.openxmlformats.org/officeDocument/2006/relationships/hyperlink" Target="https://www.handelsblatt.com/unternehmen/energie/abnehmer-speicher-datenvorsprung-2026" TargetMode="External"/></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e7f52859e9744f68"/><Relationship Type="http://schemas.openxmlformats.org/officeDocument/2006/relationships/notesMaster" Target="/ppt/notesMasters/notesMaster1.xml" Id="R1889277e33f24107"/><Relationship Id="rIdProof100" Type="http://schemas.openxmlformats.org/officeDocument/2006/relationships/hyperlink" Target="https://www.iee.fraunhofer.de/de/publikationen/stundenwerte-windvermarktung-2026.html" TargetMode="External"/><Relationship Id="rIdProof101" Type="http://schemas.openxmlformats.org/officeDocument/2006/relationships/hyperlink" Target="https://www.bundesnetzagentur.de/redispatch-abregelung-2026" TargetMode="External"/><Relationship Id="rIdProof102" Type="http://schemas.openxmlformats.org/officeDocument/2006/relationships/hyperlink" Target="https://www.iee.fraunhofer.de/de/publikationen/stundenwerte-windvermarktung-2026.html" TargetMode="External"/><Relationship Id="rIdProof103" Type="http://schemas.openxmlformats.org/officeDocument/2006/relationships/hyperlink" Target="https://www.handelsblatt.com/unternehmen/energie/abnehmer-speicher-datenvorsprung-2026" TargetMode="External"/></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8bd556c5ddf542ef"/><Relationship Type="http://schemas.openxmlformats.org/officeDocument/2006/relationships/notesMaster" Target="/ppt/notesMasters/notesMaster1.xml" Id="Rfaae2f16c5244c21"/><Relationship Id="rIdProof100" Type="http://schemas.openxmlformats.org/officeDocument/2006/relationships/hyperlink" Target="https://www.bundesnetzagentur.de/ausschreibungen-wind-an-land-2028" TargetMode="External"/><Relationship Id="rIdProof101" Type="http://schemas.openxmlformats.org/officeDocument/2006/relationships/hyperlink" Target="https://www.iee.fraunhofer.de/de/publikationen/stundenwerte-windvermarktung-2026.html" TargetMode="External"/><Relationship Id="rIdProof102" Type="http://schemas.openxmlformats.org/officeDocument/2006/relationships/hyperlink" Target="https://www.bundesnetzagentur.de/ausschreibungen-wind-an-land-2028" TargetMode="External"/></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6ff7005336e14305"/><Relationship Type="http://schemas.openxmlformats.org/officeDocument/2006/relationships/notesMaster" Target="/ppt/notesMasters/notesMaster1.xml" Id="Re70e9124b93c4520"/><Relationship Id="rIdProof100" Type="http://schemas.openxmlformats.org/officeDocument/2006/relationships/hyperlink" Target="https://www.iee.fraunhofer.de/de/publikationen/stundenwerte-windvermarktung-2026.html" TargetMode="External"/></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c65ecefd46274d8e"/><Relationship Type="http://schemas.openxmlformats.org/officeDocument/2006/relationships/notesMaster" Target="/ppt/notesMasters/notesMaster1.xml" Id="Ra81e543032ef462d"/></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942ef31887b44cee"/><Relationship Type="http://schemas.openxmlformats.org/officeDocument/2006/relationships/notesMaster" Target="/ppt/notesMasters/notesMaster1.xml" Id="R7fd3704193454c11"/></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Wie sollte ein norddeutscher Windparkbetreiber auf negative Börsenpreise und kurzfristige Abregelung reagieren? Der Windpark Nordlicht speist 38 Prozent seiner Jahresmenge in die vier Stunden ein, in denen der Preis am niedrigsten ist </ns0:t>
            </ns0:r>
            <ns0:r>
              <ns0:rPr sz="1200">
                <ns0:latin typeface="Arial"/>
                <ns0:hlinkClick xmlns:ns1="http://schemas.openxmlformats.org/officeDocument/2006/relationships" ns1:id="rIdProof100"/>
              </ns0:rPr>
              <ns0:t>[2]</ns0:t>
            </ns0:r>
            <ns0:r>
              <ns0:rPr sz="1200">
                <ns0:latin typeface="Arial"/>
              </ns0:rPr>
              <ns0:t>. Das ist kein Wetterproblem, sondern ein Fahrplanproblem: Die Anlagen laufen gegen einen Preis, den niemand im Betrieb vorher sieht. Der Netzbetreiber kündigt eine Abregelung im Mittel 19 Minuten vorher an, und in dieser Frist lässt sich weder ein Speicher laden noch ein Direktvertrag bedienen </ns0:t>
            </ns0:r>
            <ns0:r>
              <ns0:rPr sz="1200">
                <ns0:latin typeface="Arial"/>
                <ns0:hlinkClick xmlns:ns2="http://schemas.openxmlformats.org/officeDocument/2006/relationships" ns2:id="rIdProof101"/>
              </ns0:rPr>
              <ns0:t>[1]</ns0:t>
            </ns0:r>
            <ns0:r>
              <ns0:rPr sz="1200">
                <ns0:latin typeface="Arial"/>
              </ns0:rPr>
              <ns0:t>. Nordlicht sollte die Vermarktung von der reinen Mengenlogik auf eine Fahrplanlogik umstellen, bevor die nächste Ausschreibungsrunde im Januar 2028 die Erlöse für fünfzehn Jahre festschreibt </ns0:t>
            </ns0:r>
            <ns0:r>
              <ns0:rPr sz="1200">
                <ns0:latin typeface="Arial"/>
                <ns0:hlinkClick xmlns:ns3="http://schemas.openxmlformats.org/officeDocument/2006/relationships" ns3:id="rIdProof102"/>
              </ns0:rPr>
              <ns0:t>[3]</ns0:t>
            </ns0:r>
            <ns0:r>
              <ns0:rPr sz="1200">
                <ns0:latin typeface="Arial"/>
              </ns0:rPr>
              <ns0:t>. Die Geschäftsführung entscheidet das im zweiten Quartal 2027, nicht danach. Alles Weitere — der Speicher, der Direktvertrag, die Prognose — folgt aus dieser einen Entscheidung und lässt sich ohne sie nicht sinnvoll dimensionieren.</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Nordlicht vermarktet seine Menge, nicht seine Stunden. Der Park liefert 214 Gigawattstunden im Jahr und verkauft sie über einen Direktvermarkter, der nach Monatsmenge abrechnet </ns0:t>
            </ns0:r>
            <ns0:r>
              <ns0:rPr sz="1200">
                <ns0:latin typeface="Arial"/>
                <ns0:hlinkClick xmlns:ns1="http://schemas.openxmlformats.org/officeDocument/2006/relationships" ns1:id="rIdProof100"/>
              </ns0:rPr>
              <ns0:t>[2]</ns0:t>
            </ns0:r>
            <ns0:r>
              <ns0:rPr sz="1200">
                <ns0:latin typeface="Arial"/>
              </ns0:rPr>
              <ns0:t>. Die Wetterprognose liegt beim Dienstleister, die Vermarktung beim Händler, die Anlagensteuerung beim Betriebsführer — drei Systeme, von denen keines den Fahrplan des anderen kennt. Der Netzbetreiber meldet eine Abregelung im Mittel 19 Minuten vorher, gelegentlich weniger </ns0:t>
            </ns0:r>
            <ns0:r>
              <ns0:rPr sz="1200">
                <ns0:latin typeface="Arial"/>
                <ns0:hlinkClick xmlns:ns2="http://schemas.openxmlformats.org/officeDocument/2006/relationships" ns2:id="rIdProof101"/>
              </ns0:rPr>
              <ns0:t>[1]</ns0:t>
            </ns0:r>
            <ns0:r>
              <ns0:rPr sz="1200">
                <ns0:latin typeface="Arial"/>
              </ns0:rPr>
              <ns0:t>. In dieser Frist kann der Betriebsführer die Anlage herunterfahren, aber niemand kann die Menge anders verkaufen, weil der Handelstag längst geschlossen ist. Der Betrieb beschäftigt für 48 Anlagen etwa zwölf Personen, und ihr Arbeitstag beginnt mit der Störungsliste des Vortages, nicht mit dem Preisverlauf des kommenden. Diese Zahlen sind unstrittig; sie beschreiben den Zustand, von dem jede Entscheidung ausgeht, und keine Seite bestreitet sie. Unstrittig ist auch der Rahmen: Die nächste Ausschreibungsrunde der Bundesnetzagentur läuft im Januar 2028 und schreibt den Erlöspfad für fünfzehn Jahre fest </ns0:t>
            </ns0:r>
            <ns0:r>
              <ns0:rPr sz="1200">
                <ns0:latin typeface="Arial"/>
                <ns0:hlinkClick xmlns:ns3="http://schemas.openxmlformats.org/officeDocument/2006/relationships" ns3:id="rIdProof102"/>
              </ns0:rPr>
              <ns0:t>[3]</ns0:t>
            </ns0:r>
            <ns0:r>
              <ns0:rPr sz="1200">
                <ns0:latin typeface="Arial"/>
              </ns0:rPr>
              <ns0:t>. Mehr braucht die Ausgangslage nicht — alles Strittige gehört in den nächsten Abschnitt.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Die Ausgangslage hält nicht mehr, und zwar aus einem Grund, den die meisten Betreiber nicht sehen. Sie behandeln Erlös als Mengenfrage: mehr Verfügbarkeit, weniger Stillstand, höhere Jahresproduktion. Die Evidenz zeigt etwas anderes. Zwischen zwei Parks gleicher Größe und gleicher Verfügbarkeit liegt die Erlösdifferenz bei 6,80 Euro je Megawattstunde, und sie erklärt sich vollständig aus der Stunde der Einspeisung, nicht aus der Menge </ns0:t>
            </ns0:r>
            <ns0:r>
              <ns0:rPr sz="1200">
                <ns0:latin typeface="Arial"/>
                <ns0:hlinkClick xmlns:ns1="http://schemas.openxmlformats.org/officeDocument/2006/relationships" ns1:id="rIdProof100"/>
              </ns0:rPr>
              <ns0:t>[2]</ns0:t>
            </ns0:r>
            <ns0:r>
              <ns0:rPr sz="1200">
                <ns0:latin typeface="Arial"/>
              </ns0:rPr>
              <ns0:t>. Der deutsche Markt zählte im vergangenen Jahr 412 Stunden mit negativem Preis, und Nordlicht speiste in 94 Prozent davon ein </ns0:t>
            </ns0:r>
            <ns0:r>
              <ns0:rPr sz="1200">
                <ns0:latin typeface="Arial"/>
                <ns0:hlinkClick xmlns:ns2="http://schemas.openxmlformats.org/officeDocument/2006/relationships" ns2:id="rIdProof101"/>
              </ns0:rPr>
              <ns0:t>[2]</ns0:t>
            </ns0:r>
            <ns0:r>
              <ns0:rPr sz="1200">
                <ns0:latin typeface="Arial"/>
              </ns0:rPr>
              <ns0:t>. Der Engpass ist also von der Anlage zum Fahrplan gewandert: Nicht die Turbine fehlt, sondern der Blick auf die Stunde, in der sie liefert. Drei äußere Kräfte machen daraus eine Frist. Die Ausschreibung läuft im Januar 2028, und der Zuschlag bindet den Erlöspfad für fünfzehn Jahre </ns0:t>
            </ns0:r>
            <ns0:r>
              <ns0:rPr sz="1200">
                <ns0:latin typeface="Arial"/>
                <ns0:hlinkClick xmlns:ns3="http://schemas.openxmlformats.org/officeDocument/2006/relationships" ns3:id="rIdProof102"/>
              </ns0:rPr>
              <ns0:t>[3]</ns0:t>
            </ns0:r>
            <ns0:r>
              <ns0:rPr sz="1200">
                <ns0:latin typeface="Arial"/>
              </ns0:rPr>
              <ns0:t>. Die Kosten für Batteriespeicher sinken bis 2030 um 27 Prozent, was die heutige Wirtschaftlichkeitsrechnung jedes Jahr verändert </ns0:t>
            </ns0:r>
            <ns0:r>
              <ns0:rPr sz="1200">
                <ns0:latin typeface="Arial"/>
                <ns0:hlinkClick xmlns:ns4="http://schemas.openxmlformats.org/officeDocument/2006/relationships" ns4:id="rIdProof103"/>
              </ns0:rPr>
              <ns0:t>[4]</ns0:t>
            </ns0:r>
            <ns0:r>
              <ns0:rPr sz="1200">
                <ns0:latin typeface="Arial"/>
              </ns0:rPr>
              <ns0:t>. Und zwei der drei größten Abnehmer im norddeutschen Raum verhandeln seit 2026 nur noch Verträge mit stündlicher Lieferzusage </ns0:t>
            </ns0:r>
            <ns0:r>
              <ns0:rPr sz="1200">
                <ns0:latin typeface="Arial"/>
                <ns0:hlinkClick xmlns:ns5="http://schemas.openxmlformats.org/officeDocument/2006/relationships" ns5:id="rIdProof104"/>
              </ns0:rPr>
              <ns0:t>[5]</ns0:t>
            </ns0:r>
            <ns0:r>
              <ns0:rPr sz="1200">
                <ns0:latin typeface="Arial"/>
              </ns0:rPr>
              <ns0:t>. Das Fenster schließt sich von beiden Seiten.</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Die Antwort lautet: Prognose, Preis und Anlagensteuerung in einen gemeinsamen Fahrplan überführen und die stündliche Lieferzusage von der ersten Anlage an gegen die Ausschreibung dokumentieren. Erstens: Parks, die ihre drei Systeme in einen Fahrplan überführen, erzielen 4,10 Euro je Megawattstunde Mehrerlös gegenüber Parks, die es nicht tun </ns0:t>
            </ns0:r>
            <ns0:r>
              <ns0:rPr sz="1200">
                <ns0:latin typeface="Arial"/>
                <ns0:hlinkClick xmlns:ns1="http://schemas.openxmlformats.org/officeDocument/2006/relationships" ns1:id="rIdProof100"/>
              </ns0:rPr>
              <ns0:t>[2]</ns0:t>
            </ns0:r>
            <ns0:r>
              <ns0:rPr sz="1200">
                <ns0:latin typeface="Arial"/>
              </ns0:rPr>
              <ns0:t>. Zweitens: Betreiber, die 2025 begonnen haben, kennen ihre Abregelung 36 Stunden im Voraus statt 19 Minuten und können die Menge verkaufen, statt sie zu verlieren </ns0:t>
            </ns0:r>
            <ns0:r>
              <ns0:rPr sz="1200">
                <ns0:latin typeface="Arial"/>
                <ns0:hlinkClick xmlns:ns2="http://schemas.openxmlformats.org/officeDocument/2006/relationships" ns2:id="rIdProof101"/>
              </ns0:rPr>
              <ns0:t>[1]</ns0:t>
            </ns0:r>
            <ns0:r>
              <ns0:rPr sz="1200">
                <ns0:latin typeface="Arial"/>
              </ns0:rPr>
              <ns0:t>. Drittens: Marktübliche Vermarktungsprodukte decken den Day-Ahead-Handel ab; in den Intraday-Stunden entstehen jedoch rund 60 Prozent der negativen Preise </ns0:t>
            </ns0:r>
            <ns0:r>
              <ns0:rPr sz="1200">
                <ns0:latin typeface="Arial"/>
                <ns0:hlinkClick xmlns:ns3="http://schemas.openxmlformats.org/officeDocument/2006/relationships" ns3:id="rIdProof102"/>
              </ns0:rPr>
              <ns0:t>[2]</ns0:t>
            </ns0:r>
            <ns0:r>
              <ns0:rPr sz="1200">
                <ns0:latin typeface="Arial"/>
              </ns0:rPr>
              <ns0:t>. Eine Lösung, die nur den Day-Ahead abdeckt, löst das Problem daher nicht, sondern verschiebt es. Die Interpretation, kenntlich gemacht: Drei Jahre stündlich beschriftete Einspeisehistorie sind ein Datenvermögen, das ein Wettbewerber nachträglich nicht kaufen kann </ns0:t>
            </ns0:r>
            <ns0:r>
              <ns0:rPr sz="1200">
                <ns0:latin typeface="Arial"/>
                <ns0:hlinkClick xmlns:ns4="http://schemas.openxmlformats.org/officeDocument/2006/relationships" ns4:id="rIdProof103"/>
              </ns0:rPr>
              <ns0:t>[5]</ns0:t>
            </ns0:r>
            <ns0:r>
              <ns0:rPr sz="1200">
                <ns0:latin typeface="Arial"/>
              </ns0:rPr>
              <ns0:t>. Was die Antwort ausschließt, ist ebenso klar. Mehr Verfügbarkeit beantwortet die Komplikation nicht, weil sie den unbeobachteten Stunden nichts hinzufügt. Die Antwort verlangt deshalb zwei Dinge zugleich, die getrennt einfacher zu haben wären — Tempo bis zur Ausschreibung und Hoheit über die Prognose.</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Wenn das die Antwort ist, folgen drei Dinge. Erstens entscheidet die Geschäftsführung im zweiten Quartal 2027, denn ein Start 2028 verfehlt die Ausschreibung: Der nachgeholte Aufbau unter Zeitdruck kostet über die Laufzeit 31 Millionen Euro gegenüber 12 Millionen bei geplantem Vorgehen </ns0:t>
            </ns0:r>
            <ns0:r>
              <ns0:rPr sz="1200">
                <ns0:latin typeface="Arial"/>
                <ns0:hlinkClick xmlns:ns1="http://schemas.openxmlformats.org/officeDocument/2006/relationships" ns1:id="rIdProof100"/>
              </ns0:rPr>
              <ns0:t>[3]</ns0:t>
            </ns0:r>
            <ns0:r>
              <ns0:rPr sz="1200">
                <ns0:latin typeface="Arial"/>
              </ns0:rPr>
              <ns0:t>, und die entgangenen Intraday-Erlöse addieren über drei Jahre weitere 4,5 Millionen Euro </ns0:t>
            </ns0:r>
            <ns0:r>
              <ns0:rPr sz="1200">
                <ns0:latin typeface="Arial"/>
                <ns0:hlinkClick xmlns:ns2="http://schemas.openxmlformats.org/officeDocument/2006/relationships" ns2:id="rIdProof101"/>
              </ns0:rPr>
              <ns0:t>[2]</ns0:t>
            </ns0:r>
            <ns0:r>
              <ns0:rPr sz="1200">
                <ns0:latin typeface="Arial"/>
              </ns0:rPr>
              <ns0:t>. Zweitens gehört die Prognosehoheit in jeden Vertrag: Wer die Einspeisehistorie besitzt, entscheidet über den Wert der Investition — das ist die Entscheidung der Geschäftsführung, nicht des Dienstleisters. Drittens misst die Betriebsführung ab dem ersten Quartal die Intraday-Abdeckung, denn sie ist die Größe, an der die Antwort scheitern kann. Die Gesamtrechnung stützt den Beschluss: Ein Fahrplanprogramm kostet für 48 Anlagen über drei Jahre 9,7 Millionen Euro </ns0:t>
            </ns0:r>
            <ns0:r>
              <ns0:rPr sz="1200">
                <ns0:latin typeface="Arial"/>
                <ns0:hlinkClick xmlns:ns3="http://schemas.openxmlformats.org/officeDocument/2006/relationships" ns3:id="rIdProof102"/>
              </ns0:rPr>
              <ns0:t>[3]</ns0:t>
            </ns0:r>
            <ns0:r>
              <ns0:rPr sz="1200">
                <ns0:latin typeface="Arial"/>
              </ns0:rPr>
              <ns0:t>; Nichthandeln kostet im selben Zeitraum ein Vielfaches davon. Gegeben eine Mengenvermarktung, die in den billigsten Stunden liefert; aber 412 Stunden sind vorher bekannt; deshalb ein gemeinsamer Fahrplan vor Januar 2028; was bedeutet, dass die Geschäftsführung jetzt entscheidet und die Prognosehoheit sichert. Der erste Schritt ist die Vorlage im April.</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Gegeben eine Mengenvermarktung, die in den billigsten Stunden liefert; aber 412 Stunden mit negativem Preis sind am Vortag bekannt; deshalb ein gemeinsamer Fahrplan aus Prognose, Preis und Anlage vor Januar 2028; was bedeutet, dass die Geschäftsführung jetzt entscheidet und die Prognosehoheit sichert. Diese eine Zahl trägt den ganzen Foliensatz: 38 Prozent der Jahresmenge liegen in vier Stunden, und diese vier Stunden sind die billigsten des Jahres </ns0:t>
            </ns0:r>
            <ns0:r>
              <ns0:rPr sz="1200">
                <ns0:latin typeface="Arial"/>
                <ns0:hlinkClick xmlns:ns1="http://schemas.openxmlformats.org/officeDocument/2006/relationships" ns1:id="rIdProof100"/>
              </ns0:rPr>
              <ns0:t>[2]</ns0:t>
            </ns0:r>
            <ns0:r>
              <ns0:rPr sz="1200">
                <ns0:latin typeface="Arial"/>
              </ns0:rPr>
              <ns0: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Der erste Schritt ist die Vorlage im April. Zweitens gehört die Prognosehoheit in jeden Vertrag: Wer die Einspeisehistorie besitzt, entscheidet über den Wert der Investition — das ist die Entscheidung der Geschäftsführung, nicht des Dienstleisters.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Das Quellenverzeichnis des Foliensatzes, vom Renderer wörtlich aus dem Quellenblock gebaut. Jeder Zitatmarker der vorherigen Folien wird hier aufgelöst.</ns0:t>
            </ns0:r>
          </ns0:p>
          <ns1:p xmlns:ns1="http://schemas.openxmlformats.org/drawingml/2006/main">
            <ns1:r>
              <ns1:rPr sz="1200">
                <ns1:latin typeface="Arial"/>
              </ns1:rPr>
              <ns1:t>Texte sind eingefroren — jede Zeile wörtlich übernehmen</ns1:t>
            </ns1:r>
          </ns1:p>
          <ns2:p xmlns:ns2="http://schemas.openxmlformats.org/drawingml/2006/main">
            <ns2:r>
              <ns2:rPr sz="1200">
                <ns2:latin typeface="Arial"/>
              </ns2:rPr>
              <ns2:t>Zitate als Fußnoten rendern und die URLs erhalten</ns2:t>
            </ns2:r>
          </ns2:p>
          <ns3:p xmlns:ns3="http://schemas.openxmlformats.org/drawingml/2006/main">
            <ns3:r>
              <ns3:rPr sz="1200">
                <ns3:latin typeface="Arial"/>
              </ns3:rPr>
              <ns3:t>die Einheiten und ihre Reihenfolge sind das Ergebnis — vor dem Hinzufügen, Zusammenlegen oder Umsortieren nachfragen</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6cddc2652d4cb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41747a30cc246ee" /><Relationship Type="http://schemas.openxmlformats.org/officeDocument/2006/relationships/slideLayout" Target="/ppt/slideLayouts/slideLayout1.xml" Id="R060ebe3f54c44a1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0ebe3f54c44a1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75ff095f6584432" /><Relationship Type="http://schemas.openxmlformats.org/officeDocument/2006/relationships/notesSlide" Target="/ppt/notesSlides/notesSlide1.xml" Id="R37cca04fc60d472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bc6d77b54f84d2a" /><Relationship Type="http://schemas.openxmlformats.org/officeDocument/2006/relationships/hyperlink" Target="https://www.iee.fraunhofer.de/de/publikationen/stundenwerte-windvermarktung-2026.html" TargetMode="External" Id="Rb3119f0a3cbd4736" /><Relationship Type="http://schemas.openxmlformats.org/officeDocument/2006/relationships/hyperlink" Target="https://www.bundesnetzagentur.de/redispatch-abregelung-2026" TargetMode="External" Id="R9436ccc97b484f06" /><Relationship Type="http://schemas.openxmlformats.org/officeDocument/2006/relationships/hyperlink" Target="https://www.iee.fraunhofer.de/de/publikationen/stundenwerte-windvermarktung-2026.html" TargetMode="External" Id="Rfda4180655824b5a" /><Relationship Type="http://schemas.openxmlformats.org/officeDocument/2006/relationships/hyperlink" Target="https://www.bundesnetzagentur.de/redispatch-abregelung-2026" TargetMode="External" Id="Ra9b1c76a49894ab7" /><Relationship Type="http://schemas.openxmlformats.org/officeDocument/2006/relationships/hyperlink" Target="https://www.bundesnetzagentur.de/ausschreibungen-wind-an-land-2028" TargetMode="External" Id="R2e52cc4547ab4b05" /><Relationship Type="http://schemas.openxmlformats.org/officeDocument/2006/relationships/notesSlide" Target="/ppt/notesSlides/notesSlide2.xml" Id="R5d6577622abe4e5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f68eb39e82a4b67" /><Relationship Type="http://schemas.openxmlformats.org/officeDocument/2006/relationships/hyperlink" Target="https://www.iee.fraunhofer.de/de/publikationen/stundenwerte-windvermarktung-2026.html" TargetMode="External" Id="R97b29e0c83fc41ac" /><Relationship Type="http://schemas.openxmlformats.org/officeDocument/2006/relationships/hyperlink" Target="https://www.bundesnetzagentur.de/redispatch-abregelung-2026" TargetMode="External" Id="R260fe90c1fdc4251" /><Relationship Type="http://schemas.openxmlformats.org/officeDocument/2006/relationships/hyperlink" Target="https://www.iee.fraunhofer.de/de/publikationen/stundenwerte-windvermarktung-2026.html" TargetMode="External" Id="R12903f4c753c430b" /><Relationship Type="http://schemas.openxmlformats.org/officeDocument/2006/relationships/hyperlink" Target="https://www.bundesnetzagentur.de/redispatch-abregelung-2026" TargetMode="External" Id="Rdb6d368681da46db" /><Relationship Type="http://schemas.openxmlformats.org/officeDocument/2006/relationships/hyperlink" Target="https://www.bundesnetzagentur.de/ausschreibungen-wind-an-land-2028" TargetMode="External" Id="Rf118f7a0b12e4957" /><Relationship Type="http://schemas.openxmlformats.org/officeDocument/2006/relationships/notesSlide" Target="/ppt/notesSlides/notesSlide3.xml" Id="R478f0137b5a0417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ee8ea22a66e4864" /><Relationship Type="http://schemas.openxmlformats.org/officeDocument/2006/relationships/hyperlink" Target="https://www.iee.fraunhofer.de/de/publikationen/stundenwerte-windvermarktung-2026.html" TargetMode="External" Id="Rc6f85534a4184977" /><Relationship Type="http://schemas.openxmlformats.org/officeDocument/2006/relationships/hyperlink" Target="https://www.iee.fraunhofer.de/de/publikationen/stundenwerte-windvermarktung-2026.html" TargetMode="External" Id="R1b10c9c3680a457b" /><Relationship Type="http://schemas.openxmlformats.org/officeDocument/2006/relationships/hyperlink" Target="https://www.bundesnetzagentur.de/ausschreibungen-wind-an-land-2028" TargetMode="External" Id="R6a5ff58cc7cd4616" /><Relationship Type="http://schemas.openxmlformats.org/officeDocument/2006/relationships/hyperlink" Target="https://www.iee.fraunhofer.de/de/publikationen/stundenwerte-windvermarktung-2026.html" TargetMode="External" Id="R268ff098a61d4f16" /><Relationship Type="http://schemas.openxmlformats.org/officeDocument/2006/relationships/hyperlink" Target="https://www.bundesnetzagentur.de/ausschreibungen-wind-an-land-2028" TargetMode="External" Id="R3aa50c303eb24db5" /><Relationship Type="http://schemas.openxmlformats.org/officeDocument/2006/relationships/hyperlink" Target="https://www.destatis.de/DE/Themen/Branchen-Unternehmen/Energie/speicherkosten-2030.html" TargetMode="External" Id="R002648d518c54627" /><Relationship Type="http://schemas.openxmlformats.org/officeDocument/2006/relationships/hyperlink" Target="https://www.handelsblatt.com/unternehmen/energie/abnehmer-speicher-datenvorsprung-2026" TargetMode="External" Id="Rab62ba63dd4547db" /><Relationship Type="http://schemas.openxmlformats.org/officeDocument/2006/relationships/notesSlide" Target="/ppt/notesSlides/notesSlide4.xml" Id="R8e616d8d0ca943c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ca16cb51b624377" /><Relationship Type="http://schemas.openxmlformats.org/officeDocument/2006/relationships/hyperlink" Target="https://www.iee.fraunhofer.de/de/publikationen/stundenwerte-windvermarktung-2026.html" TargetMode="External" Id="Recfc9621101e457f" /><Relationship Type="http://schemas.openxmlformats.org/officeDocument/2006/relationships/hyperlink" Target="https://www.bundesnetzagentur.de/redispatch-abregelung-2026" TargetMode="External" Id="R1c13eead2f684ade" /><Relationship Type="http://schemas.openxmlformats.org/officeDocument/2006/relationships/hyperlink" Target="https://www.iee.fraunhofer.de/de/publikationen/stundenwerte-windvermarktung-2026.html" TargetMode="External" Id="Rdaf51eb7b7db48d7" /><Relationship Type="http://schemas.openxmlformats.org/officeDocument/2006/relationships/hyperlink" Target="https://www.iee.fraunhofer.de/de/publikationen/stundenwerte-windvermarktung-2026.html" TargetMode="External" Id="Rbbaea47966ca4da1" /><Relationship Type="http://schemas.openxmlformats.org/officeDocument/2006/relationships/hyperlink" Target="https://www.bundesnetzagentur.de/redispatch-abregelung-2026" TargetMode="External" Id="R33a351adea574047" /><Relationship Type="http://schemas.openxmlformats.org/officeDocument/2006/relationships/hyperlink" Target="https://www.handelsblatt.com/unternehmen/energie/abnehmer-speicher-datenvorsprung-2026" TargetMode="External" Id="R1425713fcda343ce" /><Relationship Type="http://schemas.openxmlformats.org/officeDocument/2006/relationships/notesSlide" Target="/ppt/notesSlides/notesSlide5.xml" Id="R536aeb416e7a4b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3e0f7f86e5b4dbc" /><Relationship Type="http://schemas.openxmlformats.org/officeDocument/2006/relationships/hyperlink" Target="https://www.bundesnetzagentur.de/ausschreibungen-wind-an-land-2028" TargetMode="External" Id="R05854b7a34864061" /><Relationship Type="http://schemas.openxmlformats.org/officeDocument/2006/relationships/hyperlink" Target="https://www.iee.fraunhofer.de/de/publikationen/stundenwerte-windvermarktung-2026.html" TargetMode="External" Id="R44f87b63f6594894" /><Relationship Type="http://schemas.openxmlformats.org/officeDocument/2006/relationships/hyperlink" Target="https://www.bundesnetzagentur.de/ausschreibungen-wind-an-land-2028" TargetMode="External" Id="R06778b171a454c1a" /><Relationship Type="http://schemas.openxmlformats.org/officeDocument/2006/relationships/hyperlink" Target="https://www.bundesnetzagentur.de/ausschreibungen-wind-an-land-2028" TargetMode="External" Id="R88cc3ab9735743e3" /><Relationship Type="http://schemas.openxmlformats.org/officeDocument/2006/relationships/hyperlink" Target="https://www.iee.fraunhofer.de/de/publikationen/stundenwerte-windvermarktung-2026.html" TargetMode="External" Id="Rb56e29521db84256" /><Relationship Type="http://schemas.openxmlformats.org/officeDocument/2006/relationships/notesSlide" Target="/ppt/notesSlides/notesSlide6.xml" Id="Red56829cedec41e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e10634996a04055" /><Relationship Type="http://schemas.openxmlformats.org/officeDocument/2006/relationships/hyperlink" Target="https://www.iee.fraunhofer.de/de/publikationen/stundenwerte-windvermarktung-2026.html" TargetMode="External" Id="R4cd64f59ebaf4a9a" /><Relationship Type="http://schemas.openxmlformats.org/officeDocument/2006/relationships/hyperlink" Target="https://www.iee.fraunhofer.de/de/publikationen/stundenwerte-windvermarktung-2026.html" TargetMode="External" Id="Rfd7954d5cc02462f" /><Relationship Type="http://schemas.openxmlformats.org/officeDocument/2006/relationships/hyperlink" Target="https://www.bundesnetzagentur.de/ausschreibungen-wind-an-land-2028" TargetMode="External" Id="R3914571fd6674868" /><Relationship Type="http://schemas.openxmlformats.org/officeDocument/2006/relationships/hyperlink" Target="https://www.iee.fraunhofer.de/de/publikationen/stundenwerte-windvermarktung-2026.html" TargetMode="External" Id="R4b04fd95236b481c" /><Relationship Type="http://schemas.openxmlformats.org/officeDocument/2006/relationships/hyperlink" Target="https://www.bundesnetzagentur.de/ausschreibungen-wind-an-land-2028" TargetMode="External" Id="R248cb07428864ecd" /><Relationship Type="http://schemas.openxmlformats.org/officeDocument/2006/relationships/notesSlide" Target="/ppt/notesSlides/notesSlide7.xml" Id="R274a1737557948f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4afdeb435074613" /><Relationship Type="http://schemas.openxmlformats.org/officeDocument/2006/relationships/notesSlide" Target="/ppt/notesSlides/notesSlide8.xml" Id="R15a2b3431c2446d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87ffdd91b4342a8" /><Relationship Type="http://schemas.openxmlformats.org/officeDocument/2006/relationships/hyperlink" Target="https://www.bundesnetzagentur.de/redispatch-abregelung-2026" TargetMode="External" Id="R87ec5cb4e78c4afc" /><Relationship Type="http://schemas.openxmlformats.org/officeDocument/2006/relationships/hyperlink" Target="https://www.iee.fraunhofer.de/de/publikationen/stundenwerte-windvermarktung-2026.html" TargetMode="External" Id="Re85f118ab7934c90" /><Relationship Type="http://schemas.openxmlformats.org/officeDocument/2006/relationships/hyperlink" Target="https://www.bundesnetzagentur.de/ausschreibungen-wind-an-land-2028" TargetMode="External" Id="Rc9749cfc00064a90" /><Relationship Type="http://schemas.openxmlformats.org/officeDocument/2006/relationships/hyperlink" Target="https://www.destatis.de/DE/Themen/Branchen-Unternehmen/Energie/speicherkosten-2030.html" TargetMode="External" Id="R20335c448d0d4b40" /><Relationship Type="http://schemas.openxmlformats.org/officeDocument/2006/relationships/hyperlink" Target="https://www.handelsblatt.com/unternehmen/energie/abnehmer-speicher-datenvorsprung-2026" TargetMode="External" Id="R93a46b1f32f44348" /><Relationship Type="http://schemas.openxmlformats.org/officeDocument/2006/relationships/notesSlide" Target="/ppt/notesSlides/notesSlide9.xml" Id="Rcbc61e880f1e4235" /></Relationships>
</file>

<file path=ppt/slides/slide1.xml><?xml version="1.0" encoding="utf-8"?>
<p:sld xmlns:p="http://schemas.openxmlformats.org/presentationml/2006/main">
  <p:cSld name="document">
    <p:bg>
      <p:bgPr>
        <a:solidFill xmlns:a="http://schemas.openxmlformats.org/drawingml/2006/main">
          <a:srgbClr val="12305C"/>
        </a:solidFill>
      </p:bgPr>
    </p:bg>
    <p:spTree>
      <p:nvGrpSpPr>
        <p:cNvPr id="1" name=""/>
        <p:cNvGrpSpPr/>
        <p:nvPr/>
      </p:nvGrpSpPr>
      <p:grpSpPr>
        <a:xfrm xmlns:a="http://schemas.openxmlformats.org/drawingml/2006/main"/>
      </p:grpSpPr>
      <p:sp>
        <p:nvSpPr>
          <p:cNvPr id="3" name="copy:document#title">
            <a:extLst xmlns:a="http://schemas.openxmlformats.org/drawingml/2006/main">
              <a:ext uri="{FF2B5EF4-FFF2-40B4-BE49-F238E27FC236}">
                <a16:creationId xmlns:a16="http://schemas.microsoft.com/office/drawing/2014/main" id="{1AF966F4-D095-4D0F-BC11-D1F674EDE74A}"/>
              </a:ext>
            </a:extLst>
          </p:cNvPr>
          <p:cNvSpPr>
            <a:spLocks xmlns:a="http://schemas.openxmlformats.org/drawingml/2006/main" noGrp="1"/>
          </p:cNvSpPr>
          <p:nvPr/>
        </p:nvSpPr>
        <p:spPr>
          <a:xfrm xmlns:a="http://schemas.openxmlformats.org/drawingml/2006/main">
            <a:off x="666750" y="1524000"/>
            <a:ext cx="108585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4200" b="1">
                <a:solidFill>
                  <a:srgbClr val="FFFFFF"/>
                </a:solidFill>
                <a:latin typeface="Arial"/>
                <a:ea typeface="Arial"/>
                <a:cs typeface="Arial"/>
              </a:defRPr>
            </a:pPr>
            <a:r>
              <a:rPr sz="4200" b="1">
                <a:solidFill>
                  <a:srgbClr val="FFFFFF"/>
                </a:solidFill>
                <a:latin typeface="Arial"/>
                <a:ea typeface="Arial"/>
                <a:cs typeface="Arial"/>
              </a:rPr>
              <a:t>Nordlicht verkauft Strom in Stunden, die es nicht kennt</a:t>
            </a:r>
          </a:p>
        </p:txBody>
      </p:sp>
      <p:sp>
        <p:nvSpPr>
          <p:cNvPr id="2" name="copy:document#subtitle">
            <a:extLst xmlns:a="http://schemas.openxmlformats.org/drawingml/2006/main">
              <a:ext uri="{FF2B5EF4-FFF2-40B4-BE49-F238E27FC236}">
                <a16:creationId xmlns:a16="http://schemas.microsoft.com/office/drawing/2014/main" id="{8ED8FE24-D494-4F05-BCB3-17E22C68F418}"/>
              </a:ext>
            </a:extLst>
          </p:cNvPr>
          <p:cNvSpPr>
            <a:spLocks xmlns:a="http://schemas.openxmlformats.org/drawingml/2006/main" noGrp="1"/>
          </p:cNvSpPr>
          <p:nvPr/>
        </p:nvSpPr>
        <p:spPr>
          <a:xfrm xmlns:a="http://schemas.openxmlformats.org/drawingml/2006/main">
            <a:off x="666750" y="4095750"/>
            <a:ext cx="1085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2250" b="0">
                <a:solidFill>
                  <a:srgbClr val="FFFFFF"/>
                </a:solidFill>
                <a:latin typeface="Arial"/>
                <a:ea typeface="Arial"/>
                <a:cs typeface="Arial"/>
              </a:defRPr>
            </a:pPr>
            <a:r>
              <a:rPr sz="2250" b="0">
                <a:solidFill>
                  <a:srgbClr val="FFFFFF"/>
                </a:solidFill>
                <a:latin typeface="Arial"/>
                <a:ea typeface="Arial"/>
                <a:cs typeface="Arial"/>
              </a:rPr>
              <a:t>Wie sollte ein norddeutscher Windparkbetreiber auf negative Börsenpreise und kurzfristige Abregelung reagieren?</a:t>
            </a:r>
          </a:p>
        </p:txBody>
      </p:sp>
    </p:spTree>
    <p:extLst>
      <p:ext uri="{BB962C8B-B14F-4D97-AF65-F5344CB8AC3E}">
        <p14:creationId xmlns:p14="http://schemas.microsoft.com/office/powerpoint/2010/main" val="587270821"/>
      </p:ext>
    </p:extLst>
  </p:cSld>
</p:sld>
</file>

<file path=ppt/slides/slide2.xml><?xml version="1.0" encoding="utf-8"?>
<p:sld xmlns:p="http://schemas.openxmlformats.org/presentationml/2006/main">
  <p:cSld name="u-slide-1">
    <p:bg>
      <p:bgPr>
        <a:solidFill xmlns:a="http://schemas.openxmlformats.org/drawingml/2006/main">
          <a:srgbClr val="12305C"/>
        </a:solidFill>
      </p:bgPr>
    </p:bg>
    <p:spTree>
      <p:nvGrpSpPr>
        <p:cNvPr id="1" name=""/>
        <p:cNvGrpSpPr/>
        <p:nvPr/>
      </p:nvGrpSpPr>
      <p:grpSpPr>
        <a:xfrm xmlns:a="http://schemas.openxmlformats.org/drawingml/2006/main"/>
      </p:grpSpPr>
      <p:sp>
        <p:nvSpPr>
          <p:cNvPr id="4" name="copy:slide-1#headline">
            <a:extLst xmlns:a="http://schemas.openxmlformats.org/drawingml/2006/main">
              <a:ext uri="{FF2B5EF4-FFF2-40B4-BE49-F238E27FC236}">
                <a16:creationId xmlns:a16="http://schemas.microsoft.com/office/drawing/2014/main" id="{F18B4FF2-8A94-4605-93D1-FB6C4205CF71}"/>
              </a:ext>
            </a:extLst>
          </p:cNvPr>
          <p:cNvSpPr>
            <a:spLocks xmlns:a="http://schemas.openxmlformats.org/drawingml/2006/main" noGrp="1"/>
          </p:cNvSpPr>
          <p:nvPr/>
        </p:nvSpPr>
        <p:spPr>
          <a:xfrm xmlns:a="http://schemas.openxmlformats.org/drawingml/2006/main">
            <a:off x="666750" y="571500"/>
            <a:ext cx="1085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4200" b="1">
                <a:solidFill>
                  <a:srgbClr val="FFFFFF"/>
                </a:solidFill>
                <a:latin typeface="Arial"/>
                <a:ea typeface="Arial"/>
                <a:cs typeface="Arial"/>
              </a:defRPr>
            </a:pPr>
            <a:r>
              <a:rPr sz="4200" b="1">
                <a:solidFill>
                  <a:srgbClr val="FFFFFF"/>
                </a:solidFill>
                <a:latin typeface="Arial"/>
                <a:ea typeface="Arial"/>
                <a:cs typeface="Arial"/>
              </a:rPr>
              <a:t>Nordlicht verkauft Strom in Stunden, die es nicht kennt</a:t>
            </a:r>
          </a:p>
        </p:txBody>
      </p:sp>
      <p:sp>
        <p:nvSpPr>
          <p:cNvPr id="2" name="copy:slide-1#slide_points">
            <a:extLst xmlns:a="http://schemas.openxmlformats.org/drawingml/2006/main">
              <a:ext uri="{FF2B5EF4-FFF2-40B4-BE49-F238E27FC236}">
                <a16:creationId xmlns:a16="http://schemas.microsoft.com/office/drawing/2014/main" id="{51A9A1C4-A2C4-4676-B653-93C0CCC5AD3E}"/>
              </a:ext>
            </a:extLst>
          </p:cNvPr>
          <p:cNvSpPr>
            <a:spLocks xmlns:a="http://schemas.openxmlformats.org/drawingml/2006/main" noGrp="1"/>
          </p:cNvSpPr>
          <p:nvPr/>
        </p:nvSpPr>
        <p:spPr>
          <a:xfrm xmlns:a="http://schemas.openxmlformats.org/drawingml/2006/main">
            <a:off x="666750" y="2381250"/>
            <a:ext cx="1085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2100" b="0">
                <a:solidFill>
                  <a:srgbClr val="FFFFFF"/>
                </a:solidFill>
                <a:latin typeface="Arial"/>
                <a:ea typeface="Arial"/>
                <a:cs typeface="Arial"/>
              </a:defRPr>
            </a:pPr>
            <a:r>
              <a:rPr sz="5400" b="1">
                <a:solidFill>
                  <a:srgbClr val="FFFFFF"/>
                </a:solidFill>
                <a:latin typeface="Arial"/>
                <a:ea typeface="Arial"/>
                <a:cs typeface="Arial"/>
              </a:rPr>
              <a:t>38</a:t>
            </a:r>
            <a:r>
              <a:rPr sz="2100" b="0">
                <a:solidFill>
                  <a:srgbClr val="FFFFFF"/>
                </a:solidFill>
                <a:latin typeface="Arial"/>
                <a:ea typeface="Arial"/>
                <a:cs typeface="Arial"/>
              </a:rPr>
              <a:t> Prozent der Jahresmenge in den billigsten Stunden </a:t>
            </a:r>
            <a:r>
              <a:rPr sz="2100" b="0">
                <a:solidFill>
                  <a:srgbClr val="FFFFFF"/>
                </a:solidFill>
                <a:latin typeface="Arial"/>
                <a:ea typeface="Arial"/>
                <a:cs typeface="Arial"/>
                <a:hlinkClick xmlns:r="http://schemas.openxmlformats.org/officeDocument/2006/relationships" r:id="Rb3119f0a3cbd4736"/>
              </a:rPr>
              <a:t>[2]</a:t>
            </a:r>
          </a:p>
          <a:p xmlns:a="http://schemas.openxmlformats.org/drawingml/2006/main">
            <a:pPr>
              <a:spcAft>
                <a:spcPts val="1500"/>
              </a:spcAft>
              <a:defRPr sz="2100" b="0">
                <a:solidFill>
                  <a:srgbClr val="FFFFFF"/>
                </a:solidFill>
                <a:latin typeface="Arial"/>
                <a:ea typeface="Arial"/>
                <a:cs typeface="Arial"/>
              </a:defRPr>
            </a:pPr>
            <a:r>
              <a:rPr sz="5400" b="1">
                <a:solidFill>
                  <a:srgbClr val="FFFFFF"/>
                </a:solidFill>
                <a:latin typeface="Arial"/>
                <a:ea typeface="Arial"/>
                <a:cs typeface="Arial"/>
              </a:rPr>
              <a:t>19</a:t>
            </a:r>
            <a:r>
              <a:rPr sz="2100" b="0">
                <a:solidFill>
                  <a:srgbClr val="FFFFFF"/>
                </a:solidFill>
                <a:latin typeface="Arial"/>
                <a:ea typeface="Arial"/>
                <a:cs typeface="Arial"/>
              </a:rPr>
              <a:t> Minuten Vorlauf bis zur Abregelung </a:t>
            </a:r>
            <a:r>
              <a:rPr sz="2100" b="0">
                <a:solidFill>
                  <a:srgbClr val="FFFFFF"/>
                </a:solidFill>
                <a:latin typeface="Arial"/>
                <a:ea typeface="Arial"/>
                <a:cs typeface="Arial"/>
                <a:hlinkClick xmlns:r="http://schemas.openxmlformats.org/officeDocument/2006/relationships" r:id="R9436ccc97b484f06"/>
              </a:rPr>
              <a:t>[1]</a:t>
            </a:r>
          </a:p>
          <a:p xmlns:a="http://schemas.openxmlformats.org/drawingml/2006/main">
            <a:pPr>
              <a:spcAft>
                <a:spcPts val="1500"/>
              </a:spcAft>
              <a:defRPr sz="2100" b="0">
                <a:solidFill>
                  <a:srgbClr val="FFFFFF"/>
                </a:solidFill>
                <a:latin typeface="Arial"/>
                <a:ea typeface="Arial"/>
                <a:cs typeface="Arial"/>
              </a:defRPr>
            </a:pPr>
            <a:r>
              <a:rPr sz="2100" b="0">
                <a:solidFill>
                  <a:srgbClr val="FFFFFF"/>
                </a:solidFill>
                <a:latin typeface="Arial"/>
                <a:ea typeface="Arial"/>
                <a:cs typeface="Arial"/>
              </a:rPr>
              <a:t>Die Geschäftsführung entscheidet im zweiten Quartal 2027</a:t>
            </a:r>
          </a:p>
        </p:txBody>
      </p:sp>
      <p:sp>
        <p:nvSpPr>
          <p:cNvPr id="3" name="cites:u-slide-1">
            <a:extLst xmlns:a="http://schemas.openxmlformats.org/drawingml/2006/main">
              <a:ext uri="{FF2B5EF4-FFF2-40B4-BE49-F238E27FC236}">
                <a16:creationId xmlns:a16="http://schemas.microsoft.com/office/drawing/2014/main" id="{95E3014A-772B-41EB-AEEF-C4FF78BB9684}"/>
              </a:ext>
            </a:extLst>
          </p:cNvPr>
          <p:cNvSpPr>
            <a:spLocks xmlns:a="http://schemas.openxmlformats.org/drawingml/2006/main" noGrp="1"/>
          </p:cNvSpPr>
          <p:nvPr/>
        </p:nvSpPr>
        <p:spPr>
          <a:xfrm xmlns:a="http://schemas.openxmlformats.org/drawingml/2006/main">
            <a:off x="8382000" y="61436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1200" b="0">
                <a:solidFill>
                  <a:srgbClr val="FFFFFF"/>
                </a:solidFill>
                <a:latin typeface="Arial"/>
                <a:ea typeface="Arial"/>
                <a:cs typeface="Arial"/>
              </a:defRPr>
            </a:pPr>
            <a:r>
              <a:rPr sz="1200" b="0">
                <a:solidFill>
                  <a:srgbClr val="FFFFFF"/>
                </a:solidFill>
                <a:latin typeface="Arial"/>
                <a:ea typeface="Arial"/>
                <a:cs typeface="Arial"/>
                <a:hlinkClick xmlns:r="http://schemas.openxmlformats.org/officeDocument/2006/relationships" r:id="Rfda4180655824b5a"/>
              </a:rPr>
              <a:t>[2]</a:t>
            </a:r>
            <a:r>
              <a:rPr sz="1200" b="0">
                <a:solidFill>
                  <a:srgbClr val="FFFFFF"/>
                </a:solidFill>
                <a:latin typeface="Arial"/>
                <a:ea typeface="Arial"/>
                <a:cs typeface="Arial"/>
              </a:rPr>
              <a:t> </a:t>
            </a:r>
            <a:r>
              <a:rPr sz="1200" b="0">
                <a:solidFill>
                  <a:srgbClr val="FFFFFF"/>
                </a:solidFill>
                <a:latin typeface="Arial"/>
                <a:ea typeface="Arial"/>
                <a:cs typeface="Arial"/>
                <a:hlinkClick xmlns:r="http://schemas.openxmlformats.org/officeDocument/2006/relationships" r:id="Ra9b1c76a49894ab7"/>
              </a:rPr>
              <a:t>[1]</a:t>
            </a:r>
            <a:r>
              <a:rPr sz="1200" b="0">
                <a:solidFill>
                  <a:srgbClr val="FFFFFF"/>
                </a:solidFill>
                <a:latin typeface="Arial"/>
                <a:ea typeface="Arial"/>
                <a:cs typeface="Arial"/>
              </a:rPr>
              <a:t> </a:t>
            </a:r>
            <a:r>
              <a:rPr sz="1200" b="0">
                <a:solidFill>
                  <a:srgbClr val="FFFFFF"/>
                </a:solidFill>
                <a:latin typeface="Arial"/>
                <a:ea typeface="Arial"/>
                <a:cs typeface="Arial"/>
                <a:hlinkClick xmlns:r="http://schemas.openxmlformats.org/officeDocument/2006/relationships" r:id="R2e52cc4547ab4b05"/>
              </a:rPr>
              <a:t>[3]</a:t>
            </a:r>
          </a:p>
        </p:txBody>
      </p:sp>
    </p:spTree>
    <p:extLst>
      <p:ext uri="{BB962C8B-B14F-4D97-AF65-F5344CB8AC3E}">
        <p14:creationId xmlns:p14="http://schemas.microsoft.com/office/powerpoint/2010/main" val="1262194752"/>
      </p:ext>
    </p:extLst>
  </p:cSld>
</p:sld>
</file>

<file path=ppt/slides/slide3.xml><?xml version="1.0" encoding="utf-8"?>
<p:sld xmlns:p="http://schemas.openxmlformats.org/presentationml/2006/main">
  <p:cSld name="u-slide-2">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copy:slide-2#headline">
            <a:extLst xmlns:a="http://schemas.openxmlformats.org/drawingml/2006/main">
              <a:ext uri="{FF2B5EF4-FFF2-40B4-BE49-F238E27FC236}">
                <a16:creationId xmlns:a16="http://schemas.microsoft.com/office/drawing/2014/main" id="{04FEBBC3-8821-47EB-8CDB-44E2B907AE8B}"/>
              </a:ext>
            </a:extLst>
          </p:cNvPr>
          <p:cNvSpPr>
            <a:spLocks xmlns:a="http://schemas.openxmlformats.org/drawingml/2006/main" noGrp="1"/>
          </p:cNvSpPr>
          <p:nvPr/>
        </p:nvSpPr>
        <p:spPr>
          <a:xfrm xmlns:a="http://schemas.openxmlformats.org/drawingml/2006/main">
            <a:off x="666750" y="571500"/>
            <a:ext cx="1085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3000" b="1">
                <a:solidFill>
                  <a:srgbClr val="1A2331"/>
                </a:solidFill>
                <a:latin typeface="Arial"/>
                <a:ea typeface="Arial"/>
                <a:cs typeface="Arial"/>
              </a:defRPr>
            </a:pPr>
            <a:r>
              <a:rPr sz="3000" b="1">
                <a:solidFill>
                  <a:srgbClr val="1A2331"/>
                </a:solidFill>
                <a:latin typeface="Arial"/>
                <a:ea typeface="Arial"/>
                <a:cs typeface="Arial"/>
              </a:rPr>
              <a:t>Nordlicht vermarktet seine Menge, nicht seine Stunden</a:t>
            </a:r>
          </a:p>
        </p:txBody>
      </p:sp>
      <p:sp>
        <p:nvSpPr>
          <p:cNvPr id="2" name="copy:slide-2#slide_points">
            <a:extLst xmlns:a="http://schemas.openxmlformats.org/drawingml/2006/main">
              <a:ext uri="{FF2B5EF4-FFF2-40B4-BE49-F238E27FC236}">
                <a16:creationId xmlns:a16="http://schemas.microsoft.com/office/drawing/2014/main" id="{C3FFEE6D-B50D-4199-AB81-7E5230E0F579}"/>
              </a:ext>
            </a:extLst>
          </p:cNvPr>
          <p:cNvSpPr>
            <a:spLocks xmlns:a="http://schemas.openxmlformats.org/drawingml/2006/main" noGrp="1"/>
          </p:cNvSpPr>
          <p:nvPr/>
        </p:nvSpPr>
        <p:spPr>
          <a:xfrm xmlns:a="http://schemas.openxmlformats.org/drawingml/2006/main">
            <a:off x="666750" y="2381250"/>
            <a:ext cx="1085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2100" b="0">
                <a:solidFill>
                  <a:srgbClr val="1A2331"/>
                </a:solidFill>
                <a:latin typeface="Arial"/>
                <a:ea typeface="Arial"/>
                <a:cs typeface="Arial"/>
              </a:defRPr>
            </a:pPr>
            <a:r>
              <a:rPr sz="2100" b="0">
                <a:solidFill>
                  <a:srgbClr val="1A2331"/>
                </a:solidFill>
                <a:latin typeface="Arial"/>
                <a:ea typeface="Arial"/>
                <a:cs typeface="Arial"/>
              </a:rPr>
              <a:t>214 Gigawattstunden Jahresmenge </a:t>
            </a:r>
            <a:r>
              <a:rPr sz="2100" b="0">
                <a:solidFill>
                  <a:srgbClr val="1A2331"/>
                </a:solidFill>
                <a:latin typeface="Arial"/>
                <a:ea typeface="Arial"/>
                <a:cs typeface="Arial"/>
                <a:hlinkClick xmlns:r="http://schemas.openxmlformats.org/officeDocument/2006/relationships" r:id="R97b29e0c83fc41ac"/>
              </a:rPr>
              <a:t>[2]</a:t>
            </a:r>
          </a:p>
          <a:p xmlns:a="http://schemas.openxmlformats.org/drawingml/2006/main">
            <a:pPr>
              <a:spcAft>
                <a:spcPts val="1500"/>
              </a:spcAft>
              <a:defRPr sz="2100" b="0">
                <a:solidFill>
                  <a:srgbClr val="1A2331"/>
                </a:solidFill>
                <a:latin typeface="Arial"/>
                <a:ea typeface="Arial"/>
                <a:cs typeface="Arial"/>
              </a:defRPr>
            </a:pPr>
            <a:r>
              <a:rPr sz="5400" b="1">
                <a:solidFill>
                  <a:srgbClr val="1A2331"/>
                </a:solidFill>
                <a:latin typeface="Arial"/>
                <a:ea typeface="Arial"/>
                <a:cs typeface="Arial"/>
              </a:rPr>
              <a:t>19</a:t>
            </a:r>
            <a:r>
              <a:rPr sz="2100" b="0">
                <a:solidFill>
                  <a:srgbClr val="1A2331"/>
                </a:solidFill>
                <a:latin typeface="Arial"/>
                <a:ea typeface="Arial"/>
                <a:cs typeface="Arial"/>
              </a:rPr>
              <a:t> Minuten Vorlauf bis zur Abregelung </a:t>
            </a:r>
            <a:r>
              <a:rPr sz="2100" b="0">
                <a:solidFill>
                  <a:srgbClr val="1A2331"/>
                </a:solidFill>
                <a:latin typeface="Arial"/>
                <a:ea typeface="Arial"/>
                <a:cs typeface="Arial"/>
                <a:hlinkClick xmlns:r="http://schemas.openxmlformats.org/officeDocument/2006/relationships" r:id="R260fe90c1fdc4251"/>
              </a:rPr>
              <a:t>[1]</a:t>
            </a:r>
          </a:p>
          <a:p xmlns:a="http://schemas.openxmlformats.org/drawingml/2006/main">
            <a:pPr>
              <a:spcAft>
                <a:spcPts val="1500"/>
              </a:spcAft>
              <a:defRPr sz="2100" b="0">
                <a:solidFill>
                  <a:srgbClr val="1A2331"/>
                </a:solidFill>
                <a:latin typeface="Arial"/>
                <a:ea typeface="Arial"/>
                <a:cs typeface="Arial"/>
              </a:defRPr>
            </a:pPr>
            <a:r>
              <a:rPr sz="2100" b="0">
                <a:solidFill>
                  <a:srgbClr val="1A2331"/>
                </a:solidFill>
                <a:latin typeface="Arial"/>
                <a:ea typeface="Arial"/>
                <a:cs typeface="Arial"/>
              </a:rPr>
              <a:t>drei Systeme ohne gemeinsamen Fahrplan</a:t>
            </a:r>
          </a:p>
          <a:p xmlns:a="http://schemas.openxmlformats.org/drawingml/2006/main">
            <a:pPr>
              <a:spcAft>
                <a:spcPts val="1500"/>
              </a:spcAft>
              <a:defRPr sz="2100" b="0">
                <a:solidFill>
                  <a:srgbClr val="1A2331"/>
                </a:solidFill>
                <a:latin typeface="Arial"/>
                <a:ea typeface="Arial"/>
                <a:cs typeface="Arial"/>
              </a:defRPr>
            </a:pPr>
            <a:r>
              <a:rPr sz="2100" b="0">
                <a:solidFill>
                  <a:srgbClr val="1A2331"/>
                </a:solidFill>
                <a:latin typeface="Arial"/>
                <a:ea typeface="Arial"/>
                <a:cs typeface="Arial"/>
              </a:rPr>
              <a:t>Keines dieser Systeme liest das andere</a:t>
            </a:r>
          </a:p>
        </p:txBody>
      </p:sp>
      <p:sp>
        <p:nvSpPr>
          <p:cNvPr id="3" name="copy:slide-2#evidence_status">
            <a:extLst xmlns:a="http://schemas.openxmlformats.org/drawingml/2006/main">
              <a:ext uri="{FF2B5EF4-FFF2-40B4-BE49-F238E27FC236}">
                <a16:creationId xmlns:a16="http://schemas.microsoft.com/office/drawing/2014/main" id="{816F8AB7-E772-4790-98A8-506652ED1FAA}"/>
              </a:ext>
            </a:extLst>
          </p:cNvPr>
          <p:cNvSpPr>
            <a:spLocks xmlns:a="http://schemas.openxmlformats.org/drawingml/2006/main" noGrp="1"/>
          </p:cNvSpPr>
          <p:nvPr/>
        </p:nvSpPr>
        <p:spPr>
          <a:xfrm xmlns:a="http://schemas.openxmlformats.org/drawingml/2006/main">
            <a:off x="666750" y="60960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1650" b="0">
                <a:solidFill>
                  <a:srgbClr val="1A2331"/>
                </a:solidFill>
                <a:latin typeface="Arial"/>
                <a:ea typeface="Arial"/>
                <a:cs typeface="Arial"/>
              </a:defRPr>
            </a:pPr>
            <a:r>
              <a:rPr sz="1650" b="0" cap="all">
                <a:solidFill>
                  <a:srgbClr val="1A2331"/>
                </a:solidFill>
                <a:latin typeface="Arial"/>
                <a:ea typeface="Arial"/>
                <a:cs typeface="Arial"/>
              </a:rPr>
              <a:t>direct</a:t>
            </a:r>
          </a:p>
        </p:txBody>
      </p:sp>
      <p:sp>
        <p:nvSpPr>
          <p:cNvPr id="4" name="cites:u-slide-2">
            <a:extLst xmlns:a="http://schemas.openxmlformats.org/drawingml/2006/main">
              <a:ext uri="{FF2B5EF4-FFF2-40B4-BE49-F238E27FC236}">
                <a16:creationId xmlns:a16="http://schemas.microsoft.com/office/drawing/2014/main" id="{7731BB10-B245-4D46-BE29-265DBC9C6B23}"/>
              </a:ext>
            </a:extLst>
          </p:cNvPr>
          <p:cNvSpPr>
            <a:spLocks xmlns:a="http://schemas.openxmlformats.org/drawingml/2006/main" noGrp="1"/>
          </p:cNvSpPr>
          <p:nvPr/>
        </p:nvSpPr>
        <p:spPr>
          <a:xfrm xmlns:a="http://schemas.openxmlformats.org/drawingml/2006/main">
            <a:off x="8382000" y="61436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1200" b="0">
                <a:solidFill>
                  <a:srgbClr val="1A2331"/>
                </a:solidFill>
                <a:latin typeface="Arial"/>
                <a:ea typeface="Arial"/>
                <a:cs typeface="Arial"/>
              </a:defRPr>
            </a:pPr>
            <a:r>
              <a:rPr sz="1200" b="0">
                <a:solidFill>
                  <a:srgbClr val="1A2331"/>
                </a:solidFill>
                <a:latin typeface="Arial"/>
                <a:ea typeface="Arial"/>
                <a:cs typeface="Arial"/>
                <a:hlinkClick xmlns:r="http://schemas.openxmlformats.org/officeDocument/2006/relationships" r:id="R12903f4c753c430b"/>
              </a:rPr>
              <a:t>[2]</a:t>
            </a:r>
            <a:r>
              <a:rPr sz="1200" b="0">
                <a:solidFill>
                  <a:srgbClr val="1A2331"/>
                </a:solidFill>
                <a:latin typeface="Arial"/>
                <a:ea typeface="Arial"/>
                <a:cs typeface="Arial"/>
              </a:rPr>
              <a:t> </a:t>
            </a:r>
            <a:r>
              <a:rPr sz="1200" b="0">
                <a:solidFill>
                  <a:srgbClr val="1A2331"/>
                </a:solidFill>
                <a:latin typeface="Arial"/>
                <a:ea typeface="Arial"/>
                <a:cs typeface="Arial"/>
                <a:hlinkClick xmlns:r="http://schemas.openxmlformats.org/officeDocument/2006/relationships" r:id="Rdb6d368681da46db"/>
              </a:rPr>
              <a:t>[1]</a:t>
            </a:r>
            <a:r>
              <a:rPr sz="1200" b="0">
                <a:solidFill>
                  <a:srgbClr val="1A2331"/>
                </a:solidFill>
                <a:latin typeface="Arial"/>
                <a:ea typeface="Arial"/>
                <a:cs typeface="Arial"/>
              </a:rPr>
              <a:t> </a:t>
            </a:r>
            <a:r>
              <a:rPr sz="1200" b="0">
                <a:solidFill>
                  <a:srgbClr val="1A2331"/>
                </a:solidFill>
                <a:latin typeface="Arial"/>
                <a:ea typeface="Arial"/>
                <a:cs typeface="Arial"/>
                <a:hlinkClick xmlns:r="http://schemas.openxmlformats.org/officeDocument/2006/relationships" r:id="Rf118f7a0b12e4957"/>
              </a:rPr>
              <a:t>[3]</a:t>
            </a:r>
          </a:p>
        </p:txBody>
      </p:sp>
    </p:spTree>
    <p:extLst>
      <p:ext uri="{BB962C8B-B14F-4D97-AF65-F5344CB8AC3E}">
        <p14:creationId xmlns:p14="http://schemas.microsoft.com/office/powerpoint/2010/main" val="292281842"/>
      </p:ext>
    </p:extLst>
  </p:cSld>
</p:sld>
</file>

<file path=ppt/slides/slide4.xml><?xml version="1.0" encoding="utf-8"?>
<p:sld xmlns:p="http://schemas.openxmlformats.org/presentationml/2006/main">
  <p:cSld name="u-slide-3">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opy:slide-3#headline">
            <a:extLst xmlns:a="http://schemas.openxmlformats.org/drawingml/2006/main">
              <a:ext uri="{FF2B5EF4-FFF2-40B4-BE49-F238E27FC236}">
                <a16:creationId xmlns:a16="http://schemas.microsoft.com/office/drawing/2014/main" id="{DD1397C5-4680-4689-A8CD-F2A8D29067EC}"/>
              </a:ext>
            </a:extLst>
          </p:cNvPr>
          <p:cNvSpPr>
            <a:spLocks xmlns:a="http://schemas.openxmlformats.org/drawingml/2006/main" noGrp="1"/>
          </p:cNvSpPr>
          <p:nvPr/>
        </p:nvSpPr>
        <p:spPr>
          <a:xfrm xmlns:a="http://schemas.openxmlformats.org/drawingml/2006/main">
            <a:off x="666750" y="571500"/>
            <a:ext cx="1085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3000" b="1">
                <a:solidFill>
                  <a:srgbClr val="1A2331"/>
                </a:solidFill>
                <a:latin typeface="Arial"/>
                <a:ea typeface="Arial"/>
                <a:cs typeface="Arial"/>
              </a:defRPr>
            </a:pPr>
            <a:r>
              <a:rPr sz="3000" b="1">
                <a:solidFill>
                  <a:srgbClr val="1A2331"/>
                </a:solidFill>
                <a:latin typeface="Arial"/>
                <a:ea typeface="Arial"/>
                <a:cs typeface="Arial"/>
              </a:rPr>
              <a:t>Der Engpass ist von der Anlage zum Fahrplan gewandert</a:t>
            </a:r>
          </a:p>
        </p:txBody>
      </p:sp>
      <p:sp>
        <p:nvSpPr>
          <p:cNvPr id="2" name="copy:slide-3#slide_points#0">
            <a:extLst xmlns:a="http://schemas.openxmlformats.org/drawingml/2006/main">
              <a:ext uri="{FF2B5EF4-FFF2-40B4-BE49-F238E27FC236}">
                <a16:creationId xmlns:a16="http://schemas.microsoft.com/office/drawing/2014/main" id="{695649AB-9280-42CE-956D-9231338D8FE6}"/>
              </a:ext>
            </a:extLst>
          </p:cNvPr>
          <p:cNvSpPr>
            <a:spLocks xmlns:a="http://schemas.openxmlformats.org/drawingml/2006/main" noGrp="1"/>
          </p:cNvSpPr>
          <p:nvPr/>
        </p:nvSpPr>
        <p:spPr>
          <a:xfrm xmlns:a="http://schemas.openxmlformats.org/drawingml/2006/main">
            <a:off x="666750" y="2381250"/>
            <a:ext cx="3333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1950" b="0">
                <a:solidFill>
                  <a:srgbClr val="1A2331"/>
                </a:solidFill>
                <a:latin typeface="Arial"/>
                <a:ea typeface="Arial"/>
                <a:cs typeface="Arial"/>
              </a:defRPr>
            </a:pPr>
            <a:r>
              <a:rPr sz="3900" b="1">
                <a:solidFill>
                  <a:srgbClr val="1A2331"/>
                </a:solidFill>
                <a:latin typeface="Arial"/>
                <a:ea typeface="Arial"/>
                <a:cs typeface="Arial"/>
              </a:rPr>
              <a:t>6,80</a:t>
            </a:r>
            <a:r>
              <a:rPr sz="1950" b="0">
                <a:solidFill>
                  <a:srgbClr val="1A2331"/>
                </a:solidFill>
                <a:latin typeface="Arial"/>
                <a:ea typeface="Arial"/>
                <a:cs typeface="Arial"/>
              </a:rPr>
              <a:t> Euro je Megawattstunde Erlösdifferenz </a:t>
            </a:r>
            <a:r>
              <a:rPr sz="1950" b="0">
                <a:solidFill>
                  <a:srgbClr val="1A2331"/>
                </a:solidFill>
                <a:latin typeface="Arial"/>
                <a:ea typeface="Arial"/>
                <a:cs typeface="Arial"/>
                <a:hlinkClick xmlns:r="http://schemas.openxmlformats.org/officeDocument/2006/relationships" r:id="Rc6f85534a4184977"/>
              </a:rPr>
              <a:t>[2]</a:t>
            </a:r>
          </a:p>
        </p:txBody>
      </p:sp>
      <p:sp>
        <p:nvSpPr>
          <p:cNvPr id="3" name="copy:slide-3#slide_points#1">
            <a:extLst xmlns:a="http://schemas.openxmlformats.org/drawingml/2006/main">
              <a:ext uri="{FF2B5EF4-FFF2-40B4-BE49-F238E27FC236}">
                <a16:creationId xmlns:a16="http://schemas.microsoft.com/office/drawing/2014/main" id="{F5583450-2E8F-4BB5-9583-E1B4C5DD2AE0}"/>
              </a:ext>
            </a:extLst>
          </p:cNvPr>
          <p:cNvSpPr>
            <a:spLocks xmlns:a="http://schemas.openxmlformats.org/drawingml/2006/main" noGrp="1"/>
          </p:cNvSpPr>
          <p:nvPr/>
        </p:nvSpPr>
        <p:spPr>
          <a:xfrm xmlns:a="http://schemas.openxmlformats.org/drawingml/2006/main">
            <a:off x="4381500" y="2381250"/>
            <a:ext cx="3333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1950" b="0">
                <a:solidFill>
                  <a:srgbClr val="1A2331"/>
                </a:solidFill>
                <a:latin typeface="Arial"/>
                <a:ea typeface="Arial"/>
                <a:cs typeface="Arial"/>
              </a:defRPr>
            </a:pPr>
            <a:r>
              <a:rPr sz="1950" b="0">
                <a:solidFill>
                  <a:srgbClr val="1A2331"/>
                </a:solidFill>
                <a:latin typeface="Arial"/>
                <a:ea typeface="Arial"/>
                <a:cs typeface="Arial"/>
              </a:rPr>
              <a:t>412 Stunden mit negativem Preis </a:t>
            </a:r>
            <a:r>
              <a:rPr sz="1950" b="0">
                <a:solidFill>
                  <a:srgbClr val="1A2331"/>
                </a:solidFill>
                <a:latin typeface="Arial"/>
                <a:ea typeface="Arial"/>
                <a:cs typeface="Arial"/>
                <a:hlinkClick xmlns:r="http://schemas.openxmlformats.org/officeDocument/2006/relationships" r:id="R1b10c9c3680a457b"/>
              </a:rPr>
              <a:t>[2]</a:t>
            </a:r>
          </a:p>
        </p:txBody>
      </p:sp>
      <p:sp>
        <p:nvSpPr>
          <p:cNvPr id="4" name="copy:slide-3#slide_points#2">
            <a:extLst xmlns:a="http://schemas.openxmlformats.org/drawingml/2006/main">
              <a:ext uri="{FF2B5EF4-FFF2-40B4-BE49-F238E27FC236}">
                <a16:creationId xmlns:a16="http://schemas.microsoft.com/office/drawing/2014/main" id="{2AE65AAE-870A-44EC-B554-068F6B3E00EB}"/>
              </a:ext>
            </a:extLst>
          </p:cNvPr>
          <p:cNvSpPr>
            <a:spLocks xmlns:a="http://schemas.openxmlformats.org/drawingml/2006/main" noGrp="1"/>
          </p:cNvSpPr>
          <p:nvPr/>
        </p:nvSpPr>
        <p:spPr>
          <a:xfrm xmlns:a="http://schemas.openxmlformats.org/drawingml/2006/main">
            <a:off x="8096250" y="2381250"/>
            <a:ext cx="3333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1950" b="0">
                <a:solidFill>
                  <a:srgbClr val="1A2331"/>
                </a:solidFill>
                <a:latin typeface="Arial"/>
                <a:ea typeface="Arial"/>
                <a:cs typeface="Arial"/>
              </a:defRPr>
            </a:pPr>
            <a:r>
              <a:rPr sz="1950" b="0">
                <a:solidFill>
                  <a:srgbClr val="1A2331"/>
                </a:solidFill>
                <a:latin typeface="Arial"/>
                <a:ea typeface="Arial"/>
                <a:cs typeface="Arial"/>
              </a:rPr>
              <a:t>Die Ausschreibung läuft im Januar 2028 </a:t>
            </a:r>
            <a:r>
              <a:rPr sz="1950" b="0">
                <a:solidFill>
                  <a:srgbClr val="1A2331"/>
                </a:solidFill>
                <a:latin typeface="Arial"/>
                <a:ea typeface="Arial"/>
                <a:cs typeface="Arial"/>
                <a:hlinkClick xmlns:r="http://schemas.openxmlformats.org/officeDocument/2006/relationships" r:id="R6a5ff58cc7cd4616"/>
              </a:rPr>
              <a:t>[3]</a:t>
            </a:r>
          </a:p>
        </p:txBody>
      </p:sp>
      <p:sp>
        <p:nvSpPr>
          <p:cNvPr id="5" name="copy:slide-3#evidence_status">
            <a:extLst xmlns:a="http://schemas.openxmlformats.org/drawingml/2006/main">
              <a:ext uri="{FF2B5EF4-FFF2-40B4-BE49-F238E27FC236}">
                <a16:creationId xmlns:a16="http://schemas.microsoft.com/office/drawing/2014/main" id="{EF97D8D9-97A2-42F7-9799-691CC577567A}"/>
              </a:ext>
            </a:extLst>
          </p:cNvPr>
          <p:cNvSpPr>
            <a:spLocks xmlns:a="http://schemas.openxmlformats.org/drawingml/2006/main" noGrp="1"/>
          </p:cNvSpPr>
          <p:nvPr/>
        </p:nvSpPr>
        <p:spPr>
          <a:xfrm xmlns:a="http://schemas.openxmlformats.org/drawingml/2006/main">
            <a:off x="666750" y="60960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1650" b="0">
                <a:solidFill>
                  <a:srgbClr val="1A2331"/>
                </a:solidFill>
                <a:latin typeface="Arial"/>
                <a:ea typeface="Arial"/>
                <a:cs typeface="Arial"/>
              </a:defRPr>
            </a:pPr>
            <a:r>
              <a:rPr sz="1650" b="0" cap="all">
                <a:solidFill>
                  <a:srgbClr val="1A2331"/>
                </a:solidFill>
                <a:latin typeface="Arial"/>
                <a:ea typeface="Arial"/>
                <a:cs typeface="Arial"/>
              </a:rPr>
              <a:t>triangulated</a:t>
            </a:r>
          </a:p>
        </p:txBody>
      </p:sp>
      <p:sp>
        <p:nvSpPr>
          <p:cNvPr id="6" name="kind:e1:e2">
            <a:extLst xmlns:a="http://schemas.openxmlformats.org/drawingml/2006/main">
              <a:ext uri="{FF2B5EF4-FFF2-40B4-BE49-F238E27FC236}">
                <a16:creationId xmlns:a16="http://schemas.microsoft.com/office/drawing/2014/main" id="{03094935-D7DF-4B58-A0F5-8DA5D28F6028}"/>
              </a:ext>
            </a:extLst>
          </p:cNvPr>
          <p:cNvSpPr>
            <a:spLocks xmlns:a="http://schemas.openxmlformats.org/drawingml/2006/main" noGrp="1"/>
          </p:cNvSpPr>
          <p:nvPr/>
        </p:nvSpPr>
        <p:spPr>
          <a:xfrm xmlns:a="http://schemas.openxmlformats.org/drawingml/2006/main">
            <a:off x="666750" y="542925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1200" b="0">
                <a:solidFill>
                  <a:srgbClr val="1A2331"/>
                </a:solidFill>
                <a:latin typeface="Arial"/>
                <a:ea typeface="Arial"/>
                <a:cs typeface="Arial"/>
              </a:defRPr>
            </a:pPr>
            <a:r>
              <a:rPr sz="1200" b="0">
                <a:solidFill>
                  <a:srgbClr val="1A2331"/>
                </a:solidFill>
                <a:latin typeface="Arial"/>
                <a:ea typeface="Arial"/>
                <a:cs typeface="Arial"/>
              </a:rPr>
              <a:t>converges-with</a:t>
            </a:r>
          </a:p>
        </p:txBody>
      </p:sp>
      <p:cxnSp>
        <p:nvCxnSpPr>
          <p:cNvPr id="17" name=""/>
          <p:cNvCxnSpPr>
            <a:stCxn xmlns:a="http://schemas.openxmlformats.org/drawingml/2006/main" id="2" idx="3"/>
            <a:endCxn xmlns:a="http://schemas.openxmlformats.org/drawingml/2006/main" id="3" idx="1"/>
          </p:cNvCxnSpPr>
          <p:nvPr/>
        </p:nvCxnSpPr>
        <p:spPr>
          <a:xfrm xmlns:a="http://schemas.openxmlformats.org/drawingml/2006/main">
            <a:off x="4000500" y="3857625"/>
            <a:ext cx="381000" cy="0"/>
          </a:xfrm>
          <a:prstGeom xmlns:a="http://schemas.openxmlformats.org/drawingml/2006/main" prst="straightConnector1">
            <a:avLst/>
          </a:prstGeom>
          <a:ln xmlns:a="http://schemas.openxmlformats.org/drawingml/2006/main" w="19050">
            <a:solidFill>
              <a:srgbClr val="828B9E"/>
            </a:solidFill>
            <a:tailEnd type="triangle" w="med" len="med"/>
          </a:ln>
        </p:spPr>
      </p:cxnSp>
      <p:sp>
        <p:nvSpPr>
          <p:cNvPr id="8" name="kind:e2:e3">
            <a:extLst xmlns:a="http://schemas.openxmlformats.org/drawingml/2006/main">
              <a:ext uri="{FF2B5EF4-FFF2-40B4-BE49-F238E27FC236}">
                <a16:creationId xmlns:a16="http://schemas.microsoft.com/office/drawing/2014/main" id="{3A8134A7-730F-4381-985B-580D6D9CA467}"/>
              </a:ext>
            </a:extLst>
          </p:cNvPr>
          <p:cNvSpPr>
            <a:spLocks xmlns:a="http://schemas.openxmlformats.org/drawingml/2006/main" noGrp="1"/>
          </p:cNvSpPr>
          <p:nvPr/>
        </p:nvSpPr>
        <p:spPr>
          <a:xfrm xmlns:a="http://schemas.openxmlformats.org/drawingml/2006/main">
            <a:off x="7239000" y="542925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1200" b="0">
                <a:solidFill>
                  <a:srgbClr val="1A2331"/>
                </a:solidFill>
                <a:latin typeface="Arial"/>
                <a:ea typeface="Arial"/>
                <a:cs typeface="Arial"/>
              </a:defRPr>
            </a:pPr>
            <a:r>
              <a:rPr sz="1200" b="0">
                <a:solidFill>
                  <a:srgbClr val="1A2331"/>
                </a:solidFill>
                <a:latin typeface="Arial"/>
                <a:ea typeface="Arial"/>
                <a:cs typeface="Arial"/>
              </a:rPr>
              <a:t>converges-with</a:t>
            </a:r>
          </a:p>
        </p:txBody>
      </p:sp>
      <p:cxnSp>
        <p:nvCxnSpPr>
          <p:cNvPr id="19" name=""/>
          <p:cNvCxnSpPr>
            <a:stCxn xmlns:a="http://schemas.openxmlformats.org/drawingml/2006/main" id="3" idx="3"/>
            <a:endCxn xmlns:a="http://schemas.openxmlformats.org/drawingml/2006/main" id="4" idx="1"/>
          </p:cNvCxnSpPr>
          <p:nvPr/>
        </p:nvCxnSpPr>
        <p:spPr>
          <a:xfrm xmlns:a="http://schemas.openxmlformats.org/drawingml/2006/main">
            <a:off x="7715250" y="3857625"/>
            <a:ext cx="381000" cy="0"/>
          </a:xfrm>
          <a:prstGeom xmlns:a="http://schemas.openxmlformats.org/drawingml/2006/main" prst="straightConnector1">
            <a:avLst/>
          </a:prstGeom>
          <a:ln xmlns:a="http://schemas.openxmlformats.org/drawingml/2006/main" w="19050">
            <a:solidFill>
              <a:srgbClr val="828B9E"/>
            </a:solidFill>
            <a:tailEnd type="triangle" w="med" len="med"/>
          </a:ln>
        </p:spPr>
      </p:cxnSp>
      <p:sp>
        <p:nvSpPr>
          <p:cNvPr id="10" name="cites:u-slide-3">
            <a:extLst xmlns:a="http://schemas.openxmlformats.org/drawingml/2006/main">
              <a:ext uri="{FF2B5EF4-FFF2-40B4-BE49-F238E27FC236}">
                <a16:creationId xmlns:a16="http://schemas.microsoft.com/office/drawing/2014/main" id="{DDDF4CC1-CD06-4BDD-8D0E-FDDE3719352B}"/>
              </a:ext>
            </a:extLst>
          </p:cNvPr>
          <p:cNvSpPr>
            <a:spLocks xmlns:a="http://schemas.openxmlformats.org/drawingml/2006/main" noGrp="1"/>
          </p:cNvSpPr>
          <p:nvPr/>
        </p:nvSpPr>
        <p:spPr>
          <a:xfrm xmlns:a="http://schemas.openxmlformats.org/drawingml/2006/main">
            <a:off x="8382000" y="61436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1200" b="0">
                <a:solidFill>
                  <a:srgbClr val="1A2331"/>
                </a:solidFill>
                <a:latin typeface="Arial"/>
                <a:ea typeface="Arial"/>
                <a:cs typeface="Arial"/>
              </a:defRPr>
            </a:pPr>
            <a:r>
              <a:rPr sz="1200" b="0">
                <a:solidFill>
                  <a:srgbClr val="1A2331"/>
                </a:solidFill>
                <a:latin typeface="Arial"/>
                <a:ea typeface="Arial"/>
                <a:cs typeface="Arial"/>
                <a:hlinkClick xmlns:r="http://schemas.openxmlformats.org/officeDocument/2006/relationships" r:id="R268ff098a61d4f16"/>
              </a:rPr>
              <a:t>[2]</a:t>
            </a:r>
            <a:r>
              <a:rPr sz="1200" b="0">
                <a:solidFill>
                  <a:srgbClr val="1A2331"/>
                </a:solidFill>
                <a:latin typeface="Arial"/>
                <a:ea typeface="Arial"/>
                <a:cs typeface="Arial"/>
              </a:rPr>
              <a:t> </a:t>
            </a:r>
            <a:r>
              <a:rPr sz="1200" b="0">
                <a:solidFill>
                  <a:srgbClr val="1A2331"/>
                </a:solidFill>
                <a:latin typeface="Arial"/>
                <a:ea typeface="Arial"/>
                <a:cs typeface="Arial"/>
                <a:hlinkClick xmlns:r="http://schemas.openxmlformats.org/officeDocument/2006/relationships" r:id="R3aa50c303eb24db5"/>
              </a:rPr>
              <a:t>[3]</a:t>
            </a:r>
            <a:r>
              <a:rPr sz="1200" b="0">
                <a:solidFill>
                  <a:srgbClr val="1A2331"/>
                </a:solidFill>
                <a:latin typeface="Arial"/>
                <a:ea typeface="Arial"/>
                <a:cs typeface="Arial"/>
              </a:rPr>
              <a:t> </a:t>
            </a:r>
            <a:r>
              <a:rPr sz="1200" b="0">
                <a:solidFill>
                  <a:srgbClr val="1A2331"/>
                </a:solidFill>
                <a:latin typeface="Arial"/>
                <a:ea typeface="Arial"/>
                <a:cs typeface="Arial"/>
                <a:hlinkClick xmlns:r="http://schemas.openxmlformats.org/officeDocument/2006/relationships" r:id="R002648d518c54627"/>
              </a:rPr>
              <a:t>[4]</a:t>
            </a:r>
            <a:r>
              <a:rPr sz="1200" b="0">
                <a:solidFill>
                  <a:srgbClr val="1A2331"/>
                </a:solidFill>
                <a:latin typeface="Arial"/>
                <a:ea typeface="Arial"/>
                <a:cs typeface="Arial"/>
              </a:rPr>
              <a:t> </a:t>
            </a:r>
            <a:r>
              <a:rPr sz="1200" b="0">
                <a:solidFill>
                  <a:srgbClr val="1A2331"/>
                </a:solidFill>
                <a:latin typeface="Arial"/>
                <a:ea typeface="Arial"/>
                <a:cs typeface="Arial"/>
                <a:hlinkClick xmlns:r="http://schemas.openxmlformats.org/officeDocument/2006/relationships" r:id="Rab62ba63dd4547db"/>
              </a:rPr>
              <a:t>[5]</a:t>
            </a:r>
          </a:p>
        </p:txBody>
      </p:sp>
    </p:spTree>
    <p:extLst>
      <p:ext uri="{BB962C8B-B14F-4D97-AF65-F5344CB8AC3E}">
        <p14:creationId xmlns:p14="http://schemas.microsoft.com/office/powerpoint/2010/main" val="1986968407"/>
      </p:ext>
    </p:extLst>
  </p:cSld>
</p:sld>
</file>

<file path=ppt/slides/slide5.xml><?xml version="1.0" encoding="utf-8"?>
<p:sld xmlns:p="http://schemas.openxmlformats.org/presentationml/2006/main">
  <p:cSld name="u-slide-4">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opy:slide-4#headline">
            <a:extLst xmlns:a="http://schemas.openxmlformats.org/drawingml/2006/main">
              <a:ext uri="{FF2B5EF4-FFF2-40B4-BE49-F238E27FC236}">
                <a16:creationId xmlns:a16="http://schemas.microsoft.com/office/drawing/2014/main" id="{F673938C-DFFE-4FAC-9DED-4A86C2C7BA95}"/>
              </a:ext>
            </a:extLst>
          </p:cNvPr>
          <p:cNvSpPr>
            <a:spLocks xmlns:a="http://schemas.openxmlformats.org/drawingml/2006/main" noGrp="1"/>
          </p:cNvSpPr>
          <p:nvPr/>
        </p:nvSpPr>
        <p:spPr>
          <a:xfrm xmlns:a="http://schemas.openxmlformats.org/drawingml/2006/main">
            <a:off x="666750" y="571500"/>
            <a:ext cx="1085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3000" b="1">
                <a:solidFill>
                  <a:srgbClr val="1A2331"/>
                </a:solidFill>
                <a:latin typeface="Arial"/>
                <a:ea typeface="Arial"/>
                <a:cs typeface="Arial"/>
              </a:defRPr>
            </a:pPr>
            <a:r>
              <a:rPr sz="3000" b="1">
                <a:solidFill>
                  <a:srgbClr val="1A2331"/>
                </a:solidFill>
                <a:latin typeface="Arial"/>
                <a:ea typeface="Arial"/>
                <a:cs typeface="Arial"/>
              </a:rPr>
              <a:t>Ein gemeinsamer Fahrplan aus Prognose, Preis und Anlage</a:t>
            </a:r>
          </a:p>
        </p:txBody>
      </p:sp>
      <p:sp>
        <p:nvSpPr>
          <p:cNvPr id="2" name="copy:slide-4#slide_points#0">
            <a:extLst xmlns:a="http://schemas.openxmlformats.org/drawingml/2006/main">
              <a:ext uri="{FF2B5EF4-FFF2-40B4-BE49-F238E27FC236}">
                <a16:creationId xmlns:a16="http://schemas.microsoft.com/office/drawing/2014/main" id="{8398B5FD-7DCE-462F-8BFC-0085FEEBC440}"/>
              </a:ext>
            </a:extLst>
          </p:cNvPr>
          <p:cNvSpPr>
            <a:spLocks xmlns:a="http://schemas.openxmlformats.org/drawingml/2006/main" noGrp="1"/>
          </p:cNvSpPr>
          <p:nvPr/>
        </p:nvSpPr>
        <p:spPr>
          <a:xfrm xmlns:a="http://schemas.openxmlformats.org/drawingml/2006/main">
            <a:off x="4381500" y="2381250"/>
            <a:ext cx="333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1950" b="0">
                <a:solidFill>
                  <a:srgbClr val="1A2331"/>
                </a:solidFill>
                <a:latin typeface="Arial"/>
                <a:ea typeface="Arial"/>
                <a:cs typeface="Arial"/>
              </a:defRPr>
            </a:pPr>
            <a:r>
              <a:rPr sz="1950" b="0">
                <a:solidFill>
                  <a:srgbClr val="1A2331"/>
                </a:solidFill>
                <a:latin typeface="Arial"/>
                <a:ea typeface="Arial"/>
                <a:cs typeface="Arial"/>
              </a:rPr>
              <a:t>4,10 Euro je Megawattstunde Mehrerlös </a:t>
            </a:r>
            <a:r>
              <a:rPr sz="1950" b="0">
                <a:solidFill>
                  <a:srgbClr val="1A2331"/>
                </a:solidFill>
                <a:latin typeface="Arial"/>
                <a:ea typeface="Arial"/>
                <a:cs typeface="Arial"/>
                <a:hlinkClick xmlns:r="http://schemas.openxmlformats.org/officeDocument/2006/relationships" r:id="Recfc9621101e457f"/>
              </a:rPr>
              <a:t>[2]</a:t>
            </a:r>
          </a:p>
        </p:txBody>
      </p:sp>
      <p:sp>
        <p:nvSpPr>
          <p:cNvPr id="3" name="copy:slide-4#slide_points#1">
            <a:extLst xmlns:a="http://schemas.openxmlformats.org/drawingml/2006/main">
              <a:ext uri="{FF2B5EF4-FFF2-40B4-BE49-F238E27FC236}">
                <a16:creationId xmlns:a16="http://schemas.microsoft.com/office/drawing/2014/main" id="{025336F6-CE51-4F55-9458-57F641DC88FC}"/>
              </a:ext>
            </a:extLst>
          </p:cNvPr>
          <p:cNvSpPr>
            <a:spLocks xmlns:a="http://schemas.openxmlformats.org/drawingml/2006/main" noGrp="1"/>
          </p:cNvSpPr>
          <p:nvPr/>
        </p:nvSpPr>
        <p:spPr>
          <a:xfrm xmlns:a="http://schemas.openxmlformats.org/drawingml/2006/main">
            <a:off x="666750" y="4476750"/>
            <a:ext cx="4286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1950" b="0">
                <a:solidFill>
                  <a:srgbClr val="1A2331"/>
                </a:solidFill>
                <a:latin typeface="Arial"/>
                <a:ea typeface="Arial"/>
                <a:cs typeface="Arial"/>
              </a:defRPr>
            </a:pPr>
            <a:r>
              <a:rPr sz="1950" b="0">
                <a:solidFill>
                  <a:srgbClr val="1A2331"/>
                </a:solidFill>
                <a:latin typeface="Arial"/>
                <a:ea typeface="Arial"/>
                <a:cs typeface="Arial"/>
              </a:rPr>
              <a:t>36 Stunden Vorlauf statt 19 Minuten </a:t>
            </a:r>
            <a:r>
              <a:rPr sz="1950" b="0">
                <a:solidFill>
                  <a:srgbClr val="1A2331"/>
                </a:solidFill>
                <a:latin typeface="Arial"/>
                <a:ea typeface="Arial"/>
                <a:cs typeface="Arial"/>
                <a:hlinkClick xmlns:r="http://schemas.openxmlformats.org/officeDocument/2006/relationships" r:id="R1c13eead2f684ade"/>
              </a:rPr>
              <a:t>[1]</a:t>
            </a:r>
          </a:p>
        </p:txBody>
      </p:sp>
      <p:sp>
        <p:nvSpPr>
          <p:cNvPr id="4" name="copy:slide-4#slide_points#2">
            <a:extLst xmlns:a="http://schemas.openxmlformats.org/drawingml/2006/main">
              <a:ext uri="{FF2B5EF4-FFF2-40B4-BE49-F238E27FC236}">
                <a16:creationId xmlns:a16="http://schemas.microsoft.com/office/drawing/2014/main" id="{51DD73B4-ED4B-4D69-9A71-576951148E36}"/>
              </a:ext>
            </a:extLst>
          </p:cNvPr>
          <p:cNvSpPr>
            <a:spLocks xmlns:a="http://schemas.openxmlformats.org/drawingml/2006/main" noGrp="1"/>
          </p:cNvSpPr>
          <p:nvPr/>
        </p:nvSpPr>
        <p:spPr>
          <a:xfrm xmlns:a="http://schemas.openxmlformats.org/drawingml/2006/main">
            <a:off x="7239000" y="4476750"/>
            <a:ext cx="4286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1950" b="0">
                <a:solidFill>
                  <a:srgbClr val="1A2331"/>
                </a:solidFill>
                <a:latin typeface="Arial"/>
                <a:ea typeface="Arial"/>
                <a:cs typeface="Arial"/>
              </a:defRPr>
            </a:pPr>
            <a:r>
              <a:rPr sz="1950" b="0">
                <a:solidFill>
                  <a:srgbClr val="1A2331"/>
                </a:solidFill>
                <a:latin typeface="Arial"/>
                <a:ea typeface="Arial"/>
                <a:cs typeface="Arial"/>
              </a:rPr>
              <a:t>rund 60 Prozent der negativen Stunden </a:t>
            </a:r>
            <a:r>
              <a:rPr sz="1950" b="0">
                <a:solidFill>
                  <a:srgbClr val="1A2331"/>
                </a:solidFill>
                <a:latin typeface="Arial"/>
                <a:ea typeface="Arial"/>
                <a:cs typeface="Arial"/>
                <a:hlinkClick xmlns:r="http://schemas.openxmlformats.org/officeDocument/2006/relationships" r:id="Rdaf51eb7b7db48d7"/>
              </a:rPr>
              <a:t>[2]</a:t>
            </a:r>
          </a:p>
        </p:txBody>
      </p:sp>
      <p:sp>
        <p:nvSpPr>
          <p:cNvPr id="5" name="copy:slide-4#evidence_status">
            <a:extLst xmlns:a="http://schemas.openxmlformats.org/drawingml/2006/main">
              <a:ext uri="{FF2B5EF4-FFF2-40B4-BE49-F238E27FC236}">
                <a16:creationId xmlns:a16="http://schemas.microsoft.com/office/drawing/2014/main" id="{BC82E144-66FE-4C04-AF43-9739A8C984FC}"/>
              </a:ext>
            </a:extLst>
          </p:cNvPr>
          <p:cNvSpPr>
            <a:spLocks xmlns:a="http://schemas.openxmlformats.org/drawingml/2006/main" noGrp="1"/>
          </p:cNvSpPr>
          <p:nvPr/>
        </p:nvSpPr>
        <p:spPr>
          <a:xfrm xmlns:a="http://schemas.openxmlformats.org/drawingml/2006/main">
            <a:off x="666750" y="60960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1650" b="0">
                <a:solidFill>
                  <a:srgbClr val="1A2331"/>
                </a:solidFill>
                <a:latin typeface="Arial"/>
                <a:ea typeface="Arial"/>
                <a:cs typeface="Arial"/>
              </a:defRPr>
            </a:pPr>
            <a:r>
              <a:rPr sz="1650" b="0" cap="all">
                <a:solidFill>
                  <a:srgbClr val="1A2331"/>
                </a:solidFill>
                <a:latin typeface="Arial"/>
                <a:ea typeface="Arial"/>
                <a:cs typeface="Arial"/>
              </a:rPr>
              <a:t>interpretation</a:t>
            </a:r>
          </a:p>
        </p:txBody>
      </p:sp>
      <p:sp>
        <p:nvSpPr>
          <p:cNvPr id="6" name="kind:e2:e1">
            <a:extLst xmlns:a="http://schemas.openxmlformats.org/drawingml/2006/main">
              <a:ext uri="{FF2B5EF4-FFF2-40B4-BE49-F238E27FC236}">
                <a16:creationId xmlns:a16="http://schemas.microsoft.com/office/drawing/2014/main" id="{3CE3E892-23D1-4194-ABE3-6A25DDBA27DA}"/>
              </a:ext>
            </a:extLst>
          </p:cNvPr>
          <p:cNvSpPr>
            <a:spLocks xmlns:a="http://schemas.openxmlformats.org/drawingml/2006/main" noGrp="1"/>
          </p:cNvSpPr>
          <p:nvPr/>
        </p:nvSpPr>
        <p:spPr>
          <a:xfrm xmlns:a="http://schemas.openxmlformats.org/drawingml/2006/main">
            <a:off x="666750" y="366712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1200" b="0">
                <a:solidFill>
                  <a:srgbClr val="1A2331"/>
                </a:solidFill>
                <a:latin typeface="Arial"/>
                <a:ea typeface="Arial"/>
                <a:cs typeface="Arial"/>
              </a:defRPr>
            </a:pPr>
            <a:r>
              <a:rPr sz="1200" b="0">
                <a:solidFill>
                  <a:srgbClr val="1A2331"/>
                </a:solidFill>
                <a:latin typeface="Arial"/>
                <a:ea typeface="Arial"/>
                <a:cs typeface="Arial"/>
              </a:rPr>
              <a:t>depends-on</a:t>
            </a:r>
          </a:p>
        </p:txBody>
      </p:sp>
      <p:cxnSp>
        <p:nvCxnSpPr>
          <p:cNvPr id="17" name=""/>
          <p:cNvCxnSpPr>
            <a:stCxn xmlns:a="http://schemas.openxmlformats.org/drawingml/2006/main" id="3" idx="0"/>
            <a:endCxn xmlns:a="http://schemas.openxmlformats.org/drawingml/2006/main" id="2" idx="2"/>
          </p:cNvCxnSpPr>
          <p:nvPr/>
        </p:nvCxnSpPr>
        <p:spPr>
          <a:xfrm xmlns:a="http://schemas.openxmlformats.org/drawingml/2006/main" flipV="1">
            <a:off x="2809875" y="3619500"/>
            <a:ext cx="3238500" cy="857250"/>
          </a:xfrm>
          <a:prstGeom xmlns:a="http://schemas.openxmlformats.org/drawingml/2006/main" prst="bentConnector4">
            <a:avLst>
              <a:gd name="adj1" fmla="val 0"/>
              <a:gd name="adj2" fmla="val 26667"/>
            </a:avLst>
          </a:prstGeom>
          <a:ln xmlns:a="http://schemas.openxmlformats.org/drawingml/2006/main" w="19050">
            <a:solidFill>
              <a:srgbClr val="828B9E"/>
            </a:solidFill>
            <a:tailEnd type="triangle" w="med" len="med"/>
          </a:ln>
        </p:spPr>
      </p:cxnSp>
      <p:sp>
        <p:nvSpPr>
          <p:cNvPr id="8" name="kind:e3:e1">
            <a:extLst xmlns:a="http://schemas.openxmlformats.org/drawingml/2006/main">
              <a:ext uri="{FF2B5EF4-FFF2-40B4-BE49-F238E27FC236}">
                <a16:creationId xmlns:a16="http://schemas.microsoft.com/office/drawing/2014/main" id="{7C46ACA4-ACA4-4C9D-AC16-0C31A04494C8}"/>
              </a:ext>
            </a:extLst>
          </p:cNvPr>
          <p:cNvSpPr>
            <a:spLocks xmlns:a="http://schemas.openxmlformats.org/drawingml/2006/main" noGrp="1"/>
          </p:cNvSpPr>
          <p:nvPr/>
        </p:nvSpPr>
        <p:spPr>
          <a:xfrm xmlns:a="http://schemas.openxmlformats.org/drawingml/2006/main">
            <a:off x="7239000" y="366712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1200" b="0">
                <a:solidFill>
                  <a:srgbClr val="1A2331"/>
                </a:solidFill>
                <a:latin typeface="Arial"/>
                <a:ea typeface="Arial"/>
                <a:cs typeface="Arial"/>
              </a:defRPr>
            </a:pPr>
            <a:r>
              <a:rPr sz="1200" b="0">
                <a:solidFill>
                  <a:srgbClr val="1A2331"/>
                </a:solidFill>
                <a:latin typeface="Arial"/>
                <a:ea typeface="Arial"/>
                <a:cs typeface="Arial"/>
              </a:rPr>
              <a:t>depends-on</a:t>
            </a:r>
          </a:p>
        </p:txBody>
      </p:sp>
      <p:cxnSp>
        <p:nvCxnSpPr>
          <p:cNvPr id="19" name=""/>
          <p:cNvCxnSpPr>
            <a:stCxn xmlns:a="http://schemas.openxmlformats.org/drawingml/2006/main" id="4" idx="0"/>
            <a:endCxn xmlns:a="http://schemas.openxmlformats.org/drawingml/2006/main" id="2" idx="2"/>
          </p:cNvCxnSpPr>
          <p:nvPr/>
        </p:nvCxnSpPr>
        <p:spPr>
          <a:xfrm xmlns:a="http://schemas.openxmlformats.org/drawingml/2006/main" flipH="1" flipV="1">
            <a:off x="6048375" y="3619500"/>
            <a:ext cx="3333750" cy="857250"/>
          </a:xfrm>
          <a:prstGeom xmlns:a="http://schemas.openxmlformats.org/drawingml/2006/main" prst="bentConnector4">
            <a:avLst>
              <a:gd name="adj1" fmla="val 0"/>
              <a:gd name="adj2" fmla="val 26667"/>
            </a:avLst>
          </a:prstGeom>
          <a:ln xmlns:a="http://schemas.openxmlformats.org/drawingml/2006/main" w="19050">
            <a:solidFill>
              <a:srgbClr val="828B9E"/>
            </a:solidFill>
            <a:tailEnd type="triangle" w="med" len="med"/>
          </a:ln>
        </p:spPr>
      </p:cxnSp>
      <p:sp>
        <p:nvSpPr>
          <p:cNvPr id="10" name="cites:u-slide-4">
            <a:extLst xmlns:a="http://schemas.openxmlformats.org/drawingml/2006/main">
              <a:ext uri="{FF2B5EF4-FFF2-40B4-BE49-F238E27FC236}">
                <a16:creationId xmlns:a16="http://schemas.microsoft.com/office/drawing/2014/main" id="{3DCB99B4-024B-4A66-9403-70E085C7E448}"/>
              </a:ext>
            </a:extLst>
          </p:cNvPr>
          <p:cNvSpPr>
            <a:spLocks xmlns:a="http://schemas.openxmlformats.org/drawingml/2006/main" noGrp="1"/>
          </p:cNvSpPr>
          <p:nvPr/>
        </p:nvSpPr>
        <p:spPr>
          <a:xfrm xmlns:a="http://schemas.openxmlformats.org/drawingml/2006/main">
            <a:off x="8382000" y="61436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1200" b="0">
                <a:solidFill>
                  <a:srgbClr val="1A2331"/>
                </a:solidFill>
                <a:latin typeface="Arial"/>
                <a:ea typeface="Arial"/>
                <a:cs typeface="Arial"/>
              </a:defRPr>
            </a:pPr>
            <a:r>
              <a:rPr sz="1200" b="0">
                <a:solidFill>
                  <a:srgbClr val="1A2331"/>
                </a:solidFill>
                <a:latin typeface="Arial"/>
                <a:ea typeface="Arial"/>
                <a:cs typeface="Arial"/>
                <a:hlinkClick xmlns:r="http://schemas.openxmlformats.org/officeDocument/2006/relationships" r:id="Rbbaea47966ca4da1"/>
              </a:rPr>
              <a:t>[2]</a:t>
            </a:r>
            <a:r>
              <a:rPr sz="1200" b="0">
                <a:solidFill>
                  <a:srgbClr val="1A2331"/>
                </a:solidFill>
                <a:latin typeface="Arial"/>
                <a:ea typeface="Arial"/>
                <a:cs typeface="Arial"/>
              </a:rPr>
              <a:t> </a:t>
            </a:r>
            <a:r>
              <a:rPr sz="1200" b="0">
                <a:solidFill>
                  <a:srgbClr val="1A2331"/>
                </a:solidFill>
                <a:latin typeface="Arial"/>
                <a:ea typeface="Arial"/>
                <a:cs typeface="Arial"/>
                <a:hlinkClick xmlns:r="http://schemas.openxmlformats.org/officeDocument/2006/relationships" r:id="R33a351adea574047"/>
              </a:rPr>
              <a:t>[1]</a:t>
            </a:r>
            <a:r>
              <a:rPr sz="1200" b="0">
                <a:solidFill>
                  <a:srgbClr val="1A2331"/>
                </a:solidFill>
                <a:latin typeface="Arial"/>
                <a:ea typeface="Arial"/>
                <a:cs typeface="Arial"/>
              </a:rPr>
              <a:t> </a:t>
            </a:r>
            <a:r>
              <a:rPr sz="1200" b="0">
                <a:solidFill>
                  <a:srgbClr val="1A2331"/>
                </a:solidFill>
                <a:latin typeface="Arial"/>
                <a:ea typeface="Arial"/>
                <a:cs typeface="Arial"/>
                <a:hlinkClick xmlns:r="http://schemas.openxmlformats.org/officeDocument/2006/relationships" r:id="R1425713fcda343ce"/>
              </a:rPr>
              <a:t>[5]</a:t>
            </a:r>
          </a:p>
        </p:txBody>
      </p:sp>
    </p:spTree>
    <p:extLst>
      <p:ext uri="{BB962C8B-B14F-4D97-AF65-F5344CB8AC3E}">
        <p14:creationId xmlns:p14="http://schemas.microsoft.com/office/powerpoint/2010/main" val="447621115"/>
      </p:ext>
    </p:extLst>
  </p:cSld>
</p:sld>
</file>

<file path=ppt/slides/slide6.xml><?xml version="1.0" encoding="utf-8"?>
<p:sld xmlns:p="http://schemas.openxmlformats.org/presentationml/2006/main">
  <p:cSld name="u-slide-5">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copy:slide-5#headline">
            <a:extLst xmlns:a="http://schemas.openxmlformats.org/drawingml/2006/main">
              <a:ext uri="{FF2B5EF4-FFF2-40B4-BE49-F238E27FC236}">
                <a16:creationId xmlns:a16="http://schemas.microsoft.com/office/drawing/2014/main" id="{18DF9C64-89F2-4F75-A2C7-702EDB5CF6AB}"/>
              </a:ext>
            </a:extLst>
          </p:cNvPr>
          <p:cNvSpPr>
            <a:spLocks xmlns:a="http://schemas.openxmlformats.org/drawingml/2006/main" noGrp="1"/>
          </p:cNvSpPr>
          <p:nvPr/>
        </p:nvSpPr>
        <p:spPr>
          <a:xfrm xmlns:a="http://schemas.openxmlformats.org/drawingml/2006/main">
            <a:off x="666750" y="571500"/>
            <a:ext cx="1085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3000" b="1">
                <a:solidFill>
                  <a:srgbClr val="1A2331"/>
                </a:solidFill>
                <a:latin typeface="Arial"/>
                <a:ea typeface="Arial"/>
                <a:cs typeface="Arial"/>
              </a:defRPr>
            </a:pPr>
            <a:r>
              <a:rPr sz="3000" b="1">
                <a:solidFill>
                  <a:srgbClr val="1A2331"/>
                </a:solidFill>
                <a:latin typeface="Arial"/>
                <a:ea typeface="Arial"/>
                <a:cs typeface="Arial"/>
              </a:rPr>
              <a:t>Die Geschäftsführung entscheidet im zweiten Quartal 2027</a:t>
            </a:r>
          </a:p>
        </p:txBody>
      </p:sp>
      <p:sp>
        <p:nvSpPr>
          <p:cNvPr id="2" name="copy:slide-5#slide_points">
            <a:extLst xmlns:a="http://schemas.openxmlformats.org/drawingml/2006/main">
              <a:ext uri="{FF2B5EF4-FFF2-40B4-BE49-F238E27FC236}">
                <a16:creationId xmlns:a16="http://schemas.microsoft.com/office/drawing/2014/main" id="{900876D3-8020-43F8-A01E-1ABF432C379B}"/>
              </a:ext>
            </a:extLst>
          </p:cNvPr>
          <p:cNvSpPr>
            <a:spLocks xmlns:a="http://schemas.openxmlformats.org/drawingml/2006/main" noGrp="1"/>
          </p:cNvSpPr>
          <p:nvPr/>
        </p:nvSpPr>
        <p:spPr>
          <a:xfrm xmlns:a="http://schemas.openxmlformats.org/drawingml/2006/main">
            <a:off x="666750" y="2381250"/>
            <a:ext cx="1085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2100" b="0">
                <a:solidFill>
                  <a:srgbClr val="1A2331"/>
                </a:solidFill>
                <a:latin typeface="Arial"/>
                <a:ea typeface="Arial"/>
                <a:cs typeface="Arial"/>
              </a:defRPr>
            </a:pPr>
            <a:r>
              <a:rPr sz="5400" b="1">
                <a:solidFill>
                  <a:srgbClr val="1A2331"/>
                </a:solidFill>
                <a:latin typeface="Arial"/>
                <a:ea typeface="Arial"/>
                <a:cs typeface="Arial"/>
              </a:rPr>
              <a:t>31</a:t>
            </a:r>
            <a:r>
              <a:rPr sz="2100" b="0">
                <a:solidFill>
                  <a:srgbClr val="1A2331"/>
                </a:solidFill>
                <a:latin typeface="Arial"/>
                <a:ea typeface="Arial"/>
                <a:cs typeface="Arial"/>
              </a:rPr>
              <a:t> Millionen Euro über die Laufzeit gegenüber 12 Millionen bei geplantem Vorgehen </a:t>
            </a:r>
            <a:r>
              <a:rPr sz="2100" b="0">
                <a:solidFill>
                  <a:srgbClr val="1A2331"/>
                </a:solidFill>
                <a:latin typeface="Arial"/>
                <a:ea typeface="Arial"/>
                <a:cs typeface="Arial"/>
                <a:hlinkClick xmlns:r="http://schemas.openxmlformats.org/officeDocument/2006/relationships" r:id="R05854b7a34864061"/>
              </a:rPr>
              <a:t>[3]</a:t>
            </a:r>
          </a:p>
          <a:p xmlns:a="http://schemas.openxmlformats.org/drawingml/2006/main">
            <a:pPr>
              <a:spcAft>
                <a:spcPts val="1500"/>
              </a:spcAft>
              <a:defRPr sz="2100" b="0">
                <a:solidFill>
                  <a:srgbClr val="1A2331"/>
                </a:solidFill>
                <a:latin typeface="Arial"/>
                <a:ea typeface="Arial"/>
                <a:cs typeface="Arial"/>
              </a:defRPr>
            </a:pPr>
            <a:r>
              <a:rPr sz="2100" b="0">
                <a:solidFill>
                  <a:srgbClr val="1A2331"/>
                </a:solidFill>
                <a:latin typeface="Arial"/>
                <a:ea typeface="Arial"/>
                <a:cs typeface="Arial"/>
              </a:rPr>
              <a:t>weitere 4,5 Millionen Euro aus entgangenen Intraday-Erlösen </a:t>
            </a:r>
            <a:r>
              <a:rPr sz="2100" b="0">
                <a:solidFill>
                  <a:srgbClr val="1A2331"/>
                </a:solidFill>
                <a:latin typeface="Arial"/>
                <a:ea typeface="Arial"/>
                <a:cs typeface="Arial"/>
                <a:hlinkClick xmlns:r="http://schemas.openxmlformats.org/officeDocument/2006/relationships" r:id="R44f87b63f6594894"/>
              </a:rPr>
              <a:t>[2]</a:t>
            </a:r>
          </a:p>
          <a:p xmlns:a="http://schemas.openxmlformats.org/drawingml/2006/main">
            <a:pPr>
              <a:spcAft>
                <a:spcPts val="1500"/>
              </a:spcAft>
              <a:defRPr sz="2100" b="0">
                <a:solidFill>
                  <a:srgbClr val="1A2331"/>
                </a:solidFill>
                <a:latin typeface="Arial"/>
                <a:ea typeface="Arial"/>
                <a:cs typeface="Arial"/>
              </a:defRPr>
            </a:pPr>
            <a:r>
              <a:rPr sz="2100" b="0">
                <a:solidFill>
                  <a:srgbClr val="1A2331"/>
                </a:solidFill>
                <a:latin typeface="Arial"/>
                <a:ea typeface="Arial"/>
                <a:cs typeface="Arial"/>
              </a:rPr>
              <a:t>9,7 Millionen Euro Programmkosten über drei Jahre </a:t>
            </a:r>
            <a:r>
              <a:rPr sz="2100" b="0">
                <a:solidFill>
                  <a:srgbClr val="1A2331"/>
                </a:solidFill>
                <a:latin typeface="Arial"/>
                <a:ea typeface="Arial"/>
                <a:cs typeface="Arial"/>
                <a:hlinkClick xmlns:r="http://schemas.openxmlformats.org/officeDocument/2006/relationships" r:id="R06778b171a454c1a"/>
              </a:rPr>
              <a:t>[3]</a:t>
            </a:r>
          </a:p>
          <a:p xmlns:a="http://schemas.openxmlformats.org/drawingml/2006/main">
            <a:pPr>
              <a:spcAft>
                <a:spcPts val="1500"/>
              </a:spcAft>
              <a:defRPr sz="2100" b="0">
                <a:solidFill>
                  <a:srgbClr val="1A2331"/>
                </a:solidFill>
                <a:latin typeface="Arial"/>
                <a:ea typeface="Arial"/>
                <a:cs typeface="Arial"/>
              </a:defRPr>
            </a:pPr>
            <a:r>
              <a:rPr sz="2100" b="0">
                <a:solidFill>
                  <a:srgbClr val="1A2331"/>
                </a:solidFill>
                <a:latin typeface="Arial"/>
                <a:ea typeface="Arial"/>
                <a:cs typeface="Arial"/>
              </a:rPr>
              <a:t>Der erste Schritt ist die Vorlage im April</a:t>
            </a:r>
          </a:p>
        </p:txBody>
      </p:sp>
      <p:sp>
        <p:nvSpPr>
          <p:cNvPr id="3" name="copy:slide-5#evidence_status">
            <a:extLst xmlns:a="http://schemas.openxmlformats.org/drawingml/2006/main">
              <a:ext uri="{FF2B5EF4-FFF2-40B4-BE49-F238E27FC236}">
                <a16:creationId xmlns:a16="http://schemas.microsoft.com/office/drawing/2014/main" id="{7AA15833-EA48-4042-AA63-9149C9C8A06C}"/>
              </a:ext>
            </a:extLst>
          </p:cNvPr>
          <p:cNvSpPr>
            <a:spLocks xmlns:a="http://schemas.openxmlformats.org/drawingml/2006/main" noGrp="1"/>
          </p:cNvSpPr>
          <p:nvPr/>
        </p:nvSpPr>
        <p:spPr>
          <a:xfrm xmlns:a="http://schemas.openxmlformats.org/drawingml/2006/main">
            <a:off x="666750" y="60960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1650" b="0">
                <a:solidFill>
                  <a:srgbClr val="1A2331"/>
                </a:solidFill>
                <a:latin typeface="Arial"/>
                <a:ea typeface="Arial"/>
                <a:cs typeface="Arial"/>
              </a:defRPr>
            </a:pPr>
            <a:r>
              <a:rPr sz="1650" b="0" cap="all">
                <a:solidFill>
                  <a:srgbClr val="1A2331"/>
                </a:solidFill>
                <a:latin typeface="Arial"/>
                <a:ea typeface="Arial"/>
                <a:cs typeface="Arial"/>
              </a:rPr>
              <a:t>mixed</a:t>
            </a:r>
          </a:p>
        </p:txBody>
      </p:sp>
      <p:sp>
        <p:nvSpPr>
          <p:cNvPr id="4" name="cites:u-slide-5">
            <a:extLst xmlns:a="http://schemas.openxmlformats.org/drawingml/2006/main">
              <a:ext uri="{FF2B5EF4-FFF2-40B4-BE49-F238E27FC236}">
                <a16:creationId xmlns:a16="http://schemas.microsoft.com/office/drawing/2014/main" id="{419DF0C3-8984-44BF-A081-A13C19A06FF5}"/>
              </a:ext>
            </a:extLst>
          </p:cNvPr>
          <p:cNvSpPr>
            <a:spLocks xmlns:a="http://schemas.openxmlformats.org/drawingml/2006/main" noGrp="1"/>
          </p:cNvSpPr>
          <p:nvPr/>
        </p:nvSpPr>
        <p:spPr>
          <a:xfrm xmlns:a="http://schemas.openxmlformats.org/drawingml/2006/main">
            <a:off x="8382000" y="61436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1200" b="0">
                <a:solidFill>
                  <a:srgbClr val="1A2331"/>
                </a:solidFill>
                <a:latin typeface="Arial"/>
                <a:ea typeface="Arial"/>
                <a:cs typeface="Arial"/>
              </a:defRPr>
            </a:pPr>
            <a:r>
              <a:rPr sz="1200" b="0">
                <a:solidFill>
                  <a:srgbClr val="1A2331"/>
                </a:solidFill>
                <a:latin typeface="Arial"/>
                <a:ea typeface="Arial"/>
                <a:cs typeface="Arial"/>
                <a:hlinkClick xmlns:r="http://schemas.openxmlformats.org/officeDocument/2006/relationships" r:id="R88cc3ab9735743e3"/>
              </a:rPr>
              <a:t>[3]</a:t>
            </a:r>
            <a:r>
              <a:rPr sz="1200" b="0">
                <a:solidFill>
                  <a:srgbClr val="1A2331"/>
                </a:solidFill>
                <a:latin typeface="Arial"/>
                <a:ea typeface="Arial"/>
                <a:cs typeface="Arial"/>
              </a:rPr>
              <a:t> </a:t>
            </a:r>
            <a:r>
              <a:rPr sz="1200" b="0">
                <a:solidFill>
                  <a:srgbClr val="1A2331"/>
                </a:solidFill>
                <a:latin typeface="Arial"/>
                <a:ea typeface="Arial"/>
                <a:cs typeface="Arial"/>
                <a:hlinkClick xmlns:r="http://schemas.openxmlformats.org/officeDocument/2006/relationships" r:id="Rb56e29521db84256"/>
              </a:rPr>
              <a:t>[2]</a:t>
            </a:r>
          </a:p>
        </p:txBody>
      </p:sp>
    </p:spTree>
    <p:extLst>
      <p:ext uri="{BB962C8B-B14F-4D97-AF65-F5344CB8AC3E}">
        <p14:creationId xmlns:p14="http://schemas.microsoft.com/office/powerpoint/2010/main" val="1330976326"/>
      </p:ext>
    </p:extLst>
  </p:cSld>
</p:sld>
</file>

<file path=ppt/slides/slide7.xml><?xml version="1.0" encoding="utf-8"?>
<p:sld xmlns:p="http://schemas.openxmlformats.org/presentationml/2006/main">
  <p:cSld name="u-slide-6">
    <p:bg>
      <p:bgPr>
        <a:solidFill xmlns:a="http://schemas.openxmlformats.org/drawingml/2006/main">
          <a:srgbClr val="12305C"/>
        </a:solidFill>
      </p:bgPr>
    </p:bg>
    <p:spTree>
      <p:nvGrpSpPr>
        <p:cNvPr id="1" name=""/>
        <p:cNvGrpSpPr/>
        <p:nvPr/>
      </p:nvGrpSpPr>
      <p:grpSpPr>
        <a:xfrm xmlns:a="http://schemas.openxmlformats.org/drawingml/2006/main"/>
      </p:grpSpPr>
      <p:sp>
        <p:nvSpPr>
          <p:cNvPr id="5" name="copy:slide-6#headline">
            <a:extLst xmlns:a="http://schemas.openxmlformats.org/drawingml/2006/main">
              <a:ext uri="{FF2B5EF4-FFF2-40B4-BE49-F238E27FC236}">
                <a16:creationId xmlns:a16="http://schemas.microsoft.com/office/drawing/2014/main" id="{5DA7AF72-260F-42C7-9411-E50BDA008BF4}"/>
              </a:ext>
            </a:extLst>
          </p:cNvPr>
          <p:cNvSpPr>
            <a:spLocks xmlns:a="http://schemas.openxmlformats.org/drawingml/2006/main" noGrp="1"/>
          </p:cNvSpPr>
          <p:nvPr/>
        </p:nvSpPr>
        <p:spPr>
          <a:xfrm xmlns:a="http://schemas.openxmlformats.org/drawingml/2006/main">
            <a:off x="666750" y="571500"/>
            <a:ext cx="1085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4200" b="1">
                <a:solidFill>
                  <a:srgbClr val="FFFFFF"/>
                </a:solidFill>
                <a:latin typeface="Arial"/>
                <a:ea typeface="Arial"/>
                <a:cs typeface="Arial"/>
              </a:defRPr>
            </a:pPr>
            <a:r>
              <a:rPr sz="4200" b="1">
                <a:solidFill>
                  <a:srgbClr val="FFFFFF"/>
                </a:solidFill>
                <a:latin typeface="Arial"/>
                <a:ea typeface="Arial"/>
                <a:cs typeface="Arial"/>
              </a:rPr>
              <a:t>38 Prozent der Jahresmenge liegen in vier Stunden</a:t>
            </a:r>
          </a:p>
        </p:txBody>
      </p:sp>
      <p:sp>
        <p:nvSpPr>
          <p:cNvPr id="2" name="copy:slide-6#slide_points">
            <a:extLst xmlns:a="http://schemas.openxmlformats.org/drawingml/2006/main">
              <a:ext uri="{FF2B5EF4-FFF2-40B4-BE49-F238E27FC236}">
                <a16:creationId xmlns:a16="http://schemas.microsoft.com/office/drawing/2014/main" id="{DB345329-56E0-44C0-A48E-22F7D2C1833D}"/>
              </a:ext>
            </a:extLst>
          </p:cNvPr>
          <p:cNvSpPr>
            <a:spLocks xmlns:a="http://schemas.openxmlformats.org/drawingml/2006/main" noGrp="1"/>
          </p:cNvSpPr>
          <p:nvPr/>
        </p:nvSpPr>
        <p:spPr>
          <a:xfrm xmlns:a="http://schemas.openxmlformats.org/drawingml/2006/main">
            <a:off x="666750" y="2381250"/>
            <a:ext cx="1085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2100" b="0">
                <a:solidFill>
                  <a:srgbClr val="FFFFFF"/>
                </a:solidFill>
                <a:latin typeface="Arial"/>
                <a:ea typeface="Arial"/>
                <a:cs typeface="Arial"/>
              </a:defRPr>
            </a:pPr>
            <a:r>
              <a:rPr sz="5400" b="1">
                <a:solidFill>
                  <a:srgbClr val="FFFFFF"/>
                </a:solidFill>
                <a:latin typeface="Arial"/>
                <a:ea typeface="Arial"/>
                <a:cs typeface="Arial"/>
              </a:rPr>
              <a:t>38</a:t>
            </a:r>
            <a:r>
              <a:rPr sz="2100" b="0">
                <a:solidFill>
                  <a:srgbClr val="FFFFFF"/>
                </a:solidFill>
                <a:latin typeface="Arial"/>
                <a:ea typeface="Arial"/>
                <a:cs typeface="Arial"/>
              </a:rPr>
              <a:t> Prozent der Jahresmenge in vier Stunden </a:t>
            </a:r>
            <a:r>
              <a:rPr sz="2100" b="0">
                <a:solidFill>
                  <a:srgbClr val="FFFFFF"/>
                </a:solidFill>
                <a:latin typeface="Arial"/>
                <a:ea typeface="Arial"/>
                <a:cs typeface="Arial"/>
                <a:hlinkClick xmlns:r="http://schemas.openxmlformats.org/officeDocument/2006/relationships" r:id="R4cd64f59ebaf4a9a"/>
              </a:rPr>
              <a:t>[2]</a:t>
            </a:r>
          </a:p>
          <a:p xmlns:a="http://schemas.openxmlformats.org/drawingml/2006/main">
            <a:pPr>
              <a:spcAft>
                <a:spcPts val="1500"/>
              </a:spcAft>
              <a:defRPr sz="2100" b="0">
                <a:solidFill>
                  <a:srgbClr val="FFFFFF"/>
                </a:solidFill>
                <a:latin typeface="Arial"/>
                <a:ea typeface="Arial"/>
                <a:cs typeface="Arial"/>
              </a:defRPr>
            </a:pPr>
            <a:r>
              <a:rPr sz="2100" b="0">
                <a:solidFill>
                  <a:srgbClr val="FFFFFF"/>
                </a:solidFill>
                <a:latin typeface="Arial"/>
                <a:ea typeface="Arial"/>
                <a:cs typeface="Arial"/>
              </a:rPr>
              <a:t>412 Stunden mit negativem Preis </a:t>
            </a:r>
            <a:r>
              <a:rPr sz="2100" b="0">
                <a:solidFill>
                  <a:srgbClr val="FFFFFF"/>
                </a:solidFill>
                <a:latin typeface="Arial"/>
                <a:ea typeface="Arial"/>
                <a:cs typeface="Arial"/>
                <a:hlinkClick xmlns:r="http://schemas.openxmlformats.org/officeDocument/2006/relationships" r:id="Rfd7954d5cc02462f"/>
              </a:rPr>
              <a:t>[2]</a:t>
            </a:r>
          </a:p>
          <a:p xmlns:a="http://schemas.openxmlformats.org/drawingml/2006/main">
            <a:pPr>
              <a:spcAft>
                <a:spcPts val="1500"/>
              </a:spcAft>
              <a:defRPr sz="2100" b="0">
                <a:solidFill>
                  <a:srgbClr val="FFFFFF"/>
                </a:solidFill>
                <a:latin typeface="Arial"/>
                <a:ea typeface="Arial"/>
                <a:cs typeface="Arial"/>
              </a:defRPr>
            </a:pPr>
            <a:r>
              <a:rPr sz="2100" b="0">
                <a:solidFill>
                  <a:srgbClr val="FFFFFF"/>
                </a:solidFill>
                <a:latin typeface="Arial"/>
                <a:ea typeface="Arial"/>
                <a:cs typeface="Arial"/>
              </a:rPr>
              <a:t>9,7 Millionen Euro Programmkosten </a:t>
            </a:r>
            <a:r>
              <a:rPr sz="2100" b="0">
                <a:solidFill>
                  <a:srgbClr val="FFFFFF"/>
                </a:solidFill>
                <a:latin typeface="Arial"/>
                <a:ea typeface="Arial"/>
                <a:cs typeface="Arial"/>
                <a:hlinkClick xmlns:r="http://schemas.openxmlformats.org/officeDocument/2006/relationships" r:id="R3914571fd6674868"/>
              </a:rPr>
              <a:t>[3]</a:t>
            </a:r>
          </a:p>
        </p:txBody>
      </p:sp>
      <p:sp>
        <p:nvSpPr>
          <p:cNvPr id="3" name="copy:slide-6#evidence_status">
            <a:extLst xmlns:a="http://schemas.openxmlformats.org/drawingml/2006/main">
              <a:ext uri="{FF2B5EF4-FFF2-40B4-BE49-F238E27FC236}">
                <a16:creationId xmlns:a16="http://schemas.microsoft.com/office/drawing/2014/main" id="{D2C518A1-41A6-46A6-89E0-C6DA3B7A50FB}"/>
              </a:ext>
            </a:extLst>
          </p:cNvPr>
          <p:cNvSpPr>
            <a:spLocks xmlns:a="http://schemas.openxmlformats.org/drawingml/2006/main" noGrp="1"/>
          </p:cNvSpPr>
          <p:nvPr/>
        </p:nvSpPr>
        <p:spPr>
          <a:xfrm xmlns:a="http://schemas.openxmlformats.org/drawingml/2006/main">
            <a:off x="666750" y="60960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1650" b="0">
                <a:solidFill>
                  <a:srgbClr val="FFFFFF"/>
                </a:solidFill>
                <a:latin typeface="Arial"/>
                <a:ea typeface="Arial"/>
                <a:cs typeface="Arial"/>
              </a:defRPr>
            </a:pPr>
            <a:r>
              <a:rPr sz="1650" b="0" cap="all">
                <a:solidFill>
                  <a:srgbClr val="FFFFFF"/>
                </a:solidFill>
                <a:latin typeface="Arial"/>
                <a:ea typeface="Arial"/>
                <a:cs typeface="Arial"/>
              </a:rPr>
              <a:t>proxy</a:t>
            </a:r>
          </a:p>
        </p:txBody>
      </p:sp>
      <p:sp>
        <p:nvSpPr>
          <p:cNvPr id="4" name="cites:u-slide-6">
            <a:extLst xmlns:a="http://schemas.openxmlformats.org/drawingml/2006/main">
              <a:ext uri="{FF2B5EF4-FFF2-40B4-BE49-F238E27FC236}">
                <a16:creationId xmlns:a16="http://schemas.microsoft.com/office/drawing/2014/main" id="{1E4615C8-2656-41AF-B4BB-A81E9068C472}"/>
              </a:ext>
            </a:extLst>
          </p:cNvPr>
          <p:cNvSpPr>
            <a:spLocks xmlns:a="http://schemas.openxmlformats.org/drawingml/2006/main" noGrp="1"/>
          </p:cNvSpPr>
          <p:nvPr/>
        </p:nvSpPr>
        <p:spPr>
          <a:xfrm xmlns:a="http://schemas.openxmlformats.org/drawingml/2006/main">
            <a:off x="8382000" y="61436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1200" b="0">
                <a:solidFill>
                  <a:srgbClr val="FFFFFF"/>
                </a:solidFill>
                <a:latin typeface="Arial"/>
                <a:ea typeface="Arial"/>
                <a:cs typeface="Arial"/>
              </a:defRPr>
            </a:pPr>
            <a:r>
              <a:rPr sz="1200" b="0">
                <a:solidFill>
                  <a:srgbClr val="FFFFFF"/>
                </a:solidFill>
                <a:latin typeface="Arial"/>
                <a:ea typeface="Arial"/>
                <a:cs typeface="Arial"/>
                <a:hlinkClick xmlns:r="http://schemas.openxmlformats.org/officeDocument/2006/relationships" r:id="R4b04fd95236b481c"/>
              </a:rPr>
              <a:t>[2]</a:t>
            </a:r>
            <a:r>
              <a:rPr sz="1200" b="0">
                <a:solidFill>
                  <a:srgbClr val="FFFFFF"/>
                </a:solidFill>
                <a:latin typeface="Arial"/>
                <a:ea typeface="Arial"/>
                <a:cs typeface="Arial"/>
              </a:rPr>
              <a:t> </a:t>
            </a:r>
            <a:r>
              <a:rPr sz="1200" b="0">
                <a:solidFill>
                  <a:srgbClr val="FFFFFF"/>
                </a:solidFill>
                <a:latin typeface="Arial"/>
                <a:ea typeface="Arial"/>
                <a:cs typeface="Arial"/>
                <a:hlinkClick xmlns:r="http://schemas.openxmlformats.org/officeDocument/2006/relationships" r:id="R248cb07428864ecd"/>
              </a:rPr>
              <a:t>[3]</a:t>
            </a:r>
          </a:p>
        </p:txBody>
      </p:sp>
    </p:spTree>
    <p:extLst>
      <p:ext uri="{BB962C8B-B14F-4D97-AF65-F5344CB8AC3E}">
        <p14:creationId xmlns:p14="http://schemas.microsoft.com/office/powerpoint/2010/main" val="2048271198"/>
      </p:ext>
    </p:extLst>
  </p:cSld>
</p:sld>
</file>

<file path=ppt/slides/slide8.xml><?xml version="1.0" encoding="utf-8"?>
<p:sld xmlns:p="http://schemas.openxmlformats.org/presentationml/2006/main">
  <p:cSld name="u-slide-7">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copy:slide-7#headline">
            <a:extLst xmlns:a="http://schemas.openxmlformats.org/drawingml/2006/main">
              <a:ext uri="{FF2B5EF4-FFF2-40B4-BE49-F238E27FC236}">
                <a16:creationId xmlns:a16="http://schemas.microsoft.com/office/drawing/2014/main" id="{98A8C82F-8CA8-486B-A73F-73606F430486}"/>
              </a:ext>
            </a:extLst>
          </p:cNvPr>
          <p:cNvSpPr>
            <a:spLocks xmlns:a="http://schemas.openxmlformats.org/drawingml/2006/main" noGrp="1"/>
          </p:cNvSpPr>
          <p:nvPr/>
        </p:nvSpPr>
        <p:spPr>
          <a:xfrm xmlns:a="http://schemas.openxmlformats.org/drawingml/2006/main">
            <a:off x="666750" y="571500"/>
            <a:ext cx="1085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4200" b="1">
                <a:solidFill>
                  <a:srgbClr val="1A2331"/>
                </a:solidFill>
                <a:latin typeface="Arial"/>
                <a:ea typeface="Arial"/>
                <a:cs typeface="Arial"/>
              </a:defRPr>
            </a:pPr>
            <a:r>
              <a:rPr sz="4200" b="1">
                <a:solidFill>
                  <a:srgbClr val="1A2331"/>
                </a:solidFill>
                <a:latin typeface="Arial"/>
                <a:ea typeface="Arial"/>
                <a:cs typeface="Arial"/>
              </a:rPr>
              <a:t>Die Geschäftsführung entscheidet jetzt und sichert die Prognosehoheit</a:t>
            </a:r>
          </a:p>
        </p:txBody>
      </p:sp>
      <p:sp>
        <p:nvSpPr>
          <p:cNvPr id="2" name="copy:slide-7#slide_points">
            <a:extLst xmlns:a="http://schemas.openxmlformats.org/drawingml/2006/main">
              <a:ext uri="{FF2B5EF4-FFF2-40B4-BE49-F238E27FC236}">
                <a16:creationId xmlns:a16="http://schemas.microsoft.com/office/drawing/2014/main" id="{4C93AE43-336C-48C4-A99D-4629589769C1}"/>
              </a:ext>
            </a:extLst>
          </p:cNvPr>
          <p:cNvSpPr>
            <a:spLocks xmlns:a="http://schemas.openxmlformats.org/drawingml/2006/main" noGrp="1"/>
          </p:cNvSpPr>
          <p:nvPr/>
        </p:nvSpPr>
        <p:spPr>
          <a:xfrm xmlns:a="http://schemas.openxmlformats.org/drawingml/2006/main">
            <a:off x="666750" y="2381250"/>
            <a:ext cx="1085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2100" b="0">
                <a:solidFill>
                  <a:srgbClr val="1A2331"/>
                </a:solidFill>
                <a:latin typeface="Arial"/>
                <a:ea typeface="Arial"/>
                <a:cs typeface="Arial"/>
              </a:defRPr>
            </a:pPr>
            <a:r>
              <a:rPr sz="2100" b="0">
                <a:solidFill>
                  <a:srgbClr val="1A2331"/>
                </a:solidFill>
                <a:latin typeface="Arial"/>
                <a:ea typeface="Arial"/>
                <a:cs typeface="Arial"/>
              </a:rPr>
              <a:t>die Geschäftsführung jetzt entscheidet und die Prognosehoheit sichert</a:t>
            </a:r>
          </a:p>
          <a:p xmlns:a="http://schemas.openxmlformats.org/drawingml/2006/main">
            <a:pPr>
              <a:spcAft>
                <a:spcPts val="1500"/>
              </a:spcAft>
              <a:defRPr sz="2100" b="0">
                <a:solidFill>
                  <a:srgbClr val="1A2331"/>
                </a:solidFill>
                <a:latin typeface="Arial"/>
                <a:ea typeface="Arial"/>
                <a:cs typeface="Arial"/>
              </a:defRPr>
            </a:pPr>
            <a:r>
              <a:rPr sz="2100" b="0">
                <a:solidFill>
                  <a:srgbClr val="1A2331"/>
                </a:solidFill>
                <a:latin typeface="Arial"/>
                <a:ea typeface="Arial"/>
                <a:cs typeface="Arial"/>
              </a:rPr>
              <a:t>Der erste Schritt ist die Vorlage im April</a:t>
            </a:r>
          </a:p>
        </p:txBody>
      </p:sp>
    </p:spTree>
    <p:extLst>
      <p:ext uri="{BB962C8B-B14F-4D97-AF65-F5344CB8AC3E}">
        <p14:creationId xmlns:p14="http://schemas.microsoft.com/office/powerpoint/2010/main" val="1755678394"/>
      </p:ext>
    </p:extLst>
  </p:cSld>
</p:sld>
</file>

<file path=ppt/slides/slide9.xml><?xml version="1.0" encoding="utf-8"?>
<p:sld xmlns:p="http://schemas.openxmlformats.org/presentationml/2006/main">
  <p:cSld name="u-slide-8">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copy:slide-8#headline">
            <a:extLst xmlns:a="http://schemas.openxmlformats.org/drawingml/2006/main">
              <a:ext uri="{FF2B5EF4-FFF2-40B4-BE49-F238E27FC236}">
                <a16:creationId xmlns:a16="http://schemas.microsoft.com/office/drawing/2014/main" id="{0C65DD72-8D12-4491-963B-BB13C11B0102}"/>
              </a:ext>
            </a:extLst>
          </p:cNvPr>
          <p:cNvSpPr>
            <a:spLocks xmlns:a="http://schemas.openxmlformats.org/drawingml/2006/main" noGrp="1"/>
          </p:cNvSpPr>
          <p:nvPr/>
        </p:nvSpPr>
        <p:spPr>
          <a:xfrm xmlns:a="http://schemas.openxmlformats.org/drawingml/2006/main">
            <a:off x="666750" y="571500"/>
            <a:ext cx="1085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3000" b="1">
                <a:solidFill>
                  <a:srgbClr val="1A2331"/>
                </a:solidFill>
                <a:latin typeface="Arial"/>
                <a:ea typeface="Arial"/>
                <a:cs typeface="Arial"/>
              </a:defRPr>
            </a:pPr>
            <a:r>
              <a:rPr sz="3000" b="1">
                <a:solidFill>
                  <a:srgbClr val="1A2331"/>
                </a:solidFill>
                <a:latin typeface="Arial"/>
                <a:ea typeface="Arial"/>
                <a:cs typeface="Arial"/>
              </a:rPr>
              <a:t>Quellen</a:t>
            </a:r>
          </a:p>
        </p:txBody>
      </p:sp>
      <p:sp>
        <p:nvSpPr>
          <p:cNvPr id="2" name="register:u-slide-8">
            <a:extLst xmlns:a="http://schemas.openxmlformats.org/drawingml/2006/main">
              <a:ext uri="{FF2B5EF4-FFF2-40B4-BE49-F238E27FC236}">
                <a16:creationId xmlns:a16="http://schemas.microsoft.com/office/drawing/2014/main" id="{B820354E-6E2E-4FF8-9DB5-620BAED17EEB}"/>
              </a:ext>
            </a:extLst>
          </p:cNvPr>
          <p:cNvSpPr>
            <a:spLocks xmlns:a="http://schemas.openxmlformats.org/drawingml/2006/main" noGrp="1"/>
          </p:cNvSpPr>
          <p:nvPr/>
        </p:nvSpPr>
        <p:spPr>
          <a:xfrm xmlns:a="http://schemas.openxmlformats.org/drawingml/2006/main">
            <a:off x="666750" y="2190750"/>
            <a:ext cx="10858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spcAft>
                <a:spcPts val="1500"/>
              </a:spcAft>
              <a:defRPr sz="1500" b="0">
                <a:solidFill>
                  <a:srgbClr val="1A2331"/>
                </a:solidFill>
                <a:latin typeface="Arial"/>
                <a:ea typeface="Arial"/>
                <a:cs typeface="Arial"/>
              </a:defRPr>
            </a:pPr>
            <a:r>
              <a:rPr sz="1500" b="0">
                <a:solidFill>
                  <a:srgbClr val="1A2331"/>
                </a:solidFill>
                <a:latin typeface="Arial"/>
                <a:ea typeface="Arial"/>
                <a:cs typeface="Arial"/>
                <a:hlinkClick xmlns:r="http://schemas.openxmlformats.org/officeDocument/2006/relationships" r:id="R87ec5cb4e78c4afc"/>
              </a:rPr>
              <a:t>[1]</a:t>
            </a:r>
            <a:r>
              <a:rPr sz="1500" b="0">
                <a:solidFill>
                  <a:srgbClr val="1A2331"/>
                </a:solidFill>
                <a:latin typeface="Arial"/>
                <a:ea typeface="Arial"/>
                <a:cs typeface="Arial"/>
              </a:rPr>
              <a:t> source-01-netzbetreiber.md — Bundesnetzagentur, „Redispatch und Abregelung 2026", 2026, https://www.bundesnetzagentur.de/redispatch-abregelung-2026</a:t>
            </a:r>
          </a:p>
          <a:p xmlns:a="http://schemas.openxmlformats.org/drawingml/2006/main">
            <a:pPr>
              <a:spcAft>
                <a:spcPts val="1500"/>
              </a:spcAft>
              <a:defRPr sz="1500" b="0">
                <a:solidFill>
                  <a:srgbClr val="1A2331"/>
                </a:solidFill>
                <a:latin typeface="Arial"/>
                <a:ea typeface="Arial"/>
                <a:cs typeface="Arial"/>
              </a:defRPr>
            </a:pPr>
            <a:r>
              <a:rPr sz="1500" b="0">
                <a:solidFill>
                  <a:srgbClr val="1A2331"/>
                </a:solidFill>
                <a:latin typeface="Arial"/>
                <a:ea typeface="Arial"/>
                <a:cs typeface="Arial"/>
                <a:hlinkClick xmlns:r="http://schemas.openxmlformats.org/officeDocument/2006/relationships" r:id="Re85f118ab7934c90"/>
              </a:rPr>
              <a:t>[2]</a:t>
            </a:r>
            <a:r>
              <a:rPr sz="1500" b="0">
                <a:solidFill>
                  <a:srgbClr val="1A2331"/>
                </a:solidFill>
                <a:latin typeface="Arial"/>
                <a:ea typeface="Arial"/>
                <a:cs typeface="Arial"/>
              </a:rPr>
              <a:t> source-02-fraunhofer-iee.md — Fraunhofer IEE, „Stundenwerte der Windvermarktung 2026", 2026, https://www.iee.fraunhofer.de/de/publikationen/stundenwerte-windvermarktung-2026.html</a:t>
            </a:r>
          </a:p>
          <a:p xmlns:a="http://schemas.openxmlformats.org/drawingml/2006/main">
            <a:pPr>
              <a:spcAft>
                <a:spcPts val="1500"/>
              </a:spcAft>
              <a:defRPr sz="1500" b="0">
                <a:solidFill>
                  <a:srgbClr val="1A2331"/>
                </a:solidFill>
                <a:latin typeface="Arial"/>
                <a:ea typeface="Arial"/>
                <a:cs typeface="Arial"/>
              </a:defRPr>
            </a:pPr>
            <a:r>
              <a:rPr sz="1500" b="0">
                <a:solidFill>
                  <a:srgbClr val="1A2331"/>
                </a:solidFill>
                <a:latin typeface="Arial"/>
                <a:ea typeface="Arial"/>
                <a:cs typeface="Arial"/>
                <a:hlinkClick xmlns:r="http://schemas.openxmlformats.org/officeDocument/2006/relationships" r:id="Rc9749cfc00064a90"/>
              </a:rPr>
              <a:t>[3]</a:t>
            </a:r>
            <a:r>
              <a:rPr sz="1500" b="0">
                <a:solidFill>
                  <a:srgbClr val="1A2331"/>
                </a:solidFill>
                <a:latin typeface="Arial"/>
                <a:ea typeface="Arial"/>
                <a:cs typeface="Arial"/>
              </a:rPr>
              <a:t> source-03-ausschreibung.md — Bundesnetzagentur, „Ausschreibungen Wind an Land 2028", 2026, https://www.bundesnetzagentur.de/ausschreibungen-wind-an-land-2028</a:t>
            </a:r>
          </a:p>
          <a:p xmlns:a="http://schemas.openxmlformats.org/drawingml/2006/main">
            <a:pPr>
              <a:spcAft>
                <a:spcPts val="1500"/>
              </a:spcAft>
              <a:defRPr sz="1500" b="0">
                <a:solidFill>
                  <a:srgbClr val="1A2331"/>
                </a:solidFill>
                <a:latin typeface="Arial"/>
                <a:ea typeface="Arial"/>
                <a:cs typeface="Arial"/>
              </a:defRPr>
            </a:pPr>
            <a:r>
              <a:rPr sz="1500" b="0">
                <a:solidFill>
                  <a:srgbClr val="1A2331"/>
                </a:solidFill>
                <a:latin typeface="Arial"/>
                <a:ea typeface="Arial"/>
                <a:cs typeface="Arial"/>
                <a:hlinkClick xmlns:r="http://schemas.openxmlformats.org/officeDocument/2006/relationships" r:id="R20335c448d0d4b40"/>
              </a:rPr>
              <a:t>[4]</a:t>
            </a:r>
            <a:r>
              <a:rPr sz="1500" b="0">
                <a:solidFill>
                  <a:srgbClr val="1A2331"/>
                </a:solidFill>
                <a:latin typeface="Arial"/>
                <a:ea typeface="Arial"/>
                <a:cs typeface="Arial"/>
              </a:rPr>
              <a:t> source-04-destatis.md — Destatis, „Speicherkosten 2030", 2026, https://www.destatis.de/DE/Themen/Branchen-Unternehmen/Energie/speicherkosten-2030.html</a:t>
            </a:r>
          </a:p>
          <a:p xmlns:a="http://schemas.openxmlformats.org/drawingml/2006/main">
            <a:pPr>
              <a:spcAft>
                <a:spcPts val="1500"/>
              </a:spcAft>
              <a:defRPr sz="1500" b="0">
                <a:solidFill>
                  <a:srgbClr val="1A2331"/>
                </a:solidFill>
                <a:latin typeface="Arial"/>
                <a:ea typeface="Arial"/>
                <a:cs typeface="Arial"/>
              </a:defRPr>
            </a:pPr>
            <a:r>
              <a:rPr sz="1500" b="0">
                <a:solidFill>
                  <a:srgbClr val="1A2331"/>
                </a:solidFill>
                <a:latin typeface="Arial"/>
                <a:ea typeface="Arial"/>
                <a:cs typeface="Arial"/>
                <a:hlinkClick xmlns:r="http://schemas.openxmlformats.org/officeDocument/2006/relationships" r:id="R93a46b1f32f44348"/>
              </a:rPr>
              <a:t>[5]</a:t>
            </a:r>
            <a:r>
              <a:rPr sz="1500" b="0">
                <a:solidFill>
                  <a:srgbClr val="1A2331"/>
                </a:solidFill>
                <a:latin typeface="Arial"/>
                <a:ea typeface="Arial"/>
                <a:cs typeface="Arial"/>
              </a:rPr>
              <a:t> source-05-handelsblatt.md — Handelsblatt, „Abnehmer, Speicher und Datenvorsprung 2026", 2026, https://www.handelsblatt.com/unternehmen/energie/abnehmer-speicher-datenvorsprung-2026</a:t>
            </a:r>
          </a:p>
        </p:txBody>
      </p:sp>
    </p:spTree>
    <p:extLst>
      <p:ext uri="{BB962C8B-B14F-4D97-AF65-F5344CB8AC3E}">
        <p14:creationId xmlns:p14="http://schemas.microsoft.com/office/powerpoint/2010/main" val="15950081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2026-09-19T09:08:12.8860000Z</dcterms:created>
  <dcterms:modified xsi:type="dcterms:W3CDTF">2026-09-19T09:08:12.8860000Z</dcterms:modified>
</coreProperties>
</file>