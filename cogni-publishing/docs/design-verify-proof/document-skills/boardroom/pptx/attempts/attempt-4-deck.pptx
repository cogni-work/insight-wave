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3.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4.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 Id="rIdNotes6" Type="http://schemas.openxmlformats.org/officeDocument/2006/relationships/hyperlink" Target="https://www.destatis.de/DE/Themen/Branchen-Unternehmen/Energie/speicherkosten-2030.html" TargetMode="External"/><Relationship Id="rIdNotes7" Type="http://schemas.openxmlformats.org/officeDocument/2006/relationships/hyperlink" Target="https://www.handelsblatt.com/unternehmen/energie/abnehmer-speicher-datenvorsprung-2026" TargetMode="External"/></Relationships>
</file>

<file path=ppt/notesSlides/_rels/notesSlide5.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iee.fraunhofer.de/de/publikationen/stundenwerte-windvermarktung-2026.html" TargetMode="External"/><Relationship Id="rIdNotes6" Type="http://schemas.openxmlformats.org/officeDocument/2006/relationships/hyperlink" Target="https://www.handelsblatt.com/unternehmen/energie/abnehmer-speicher-datenvorsprung-2026" TargetMode="External"/></Relationships>
</file>

<file path=ppt/notesSlides/_rels/notesSlide6.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 Id="rIdNotes3" Type="http://schemas.openxmlformats.org/officeDocument/2006/relationships/hyperlink" Target="https://www.bundesnetzagentur.de/ausschreibungen-wind-an-land-2028"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s>
</file>

<file path=ppt/notesSlides/_rels/notesSlide7.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 Id="rIdNotes3" Type="http://schemas.openxmlformats.org/officeDocument/2006/relationships/hyperlink" Target="https://www.iee.fraunhofer.de/de/publikationen/stundenwerte-windvermarktung-2026.html" TargetMode="External"/></Relationships>
</file>

<file path=ppt/notesSlides/_rels/notesSlide8.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r>
              <a:rPr lang="de-DE" sz="1200"/>
              <a:t>Wie sollte ein norddeutscher Windparkbetreiber auf negative Börsenpreise und kurzfristige Abregelung reagieren? Der Windpark Nordlicht speist 38 Prozent seiner Jahresmenge in die vier Stunden ein, in denen der Preis am niedrigsten ist </a:t>
            </a:r>
            <a:r>
              <a:rPr lang="de-DE" sz="1200">
                <a:hlinkClick r:id="rIdNotes3"/>
              </a:rPr>
              <a:t>[2]</a:t>
            </a:r>
            <a:r>
              <a:rPr lang="de-DE" sz="1200"/>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a:hlinkClick r:id="rIdNotes4"/>
              </a:rPr>
              <a:t>[1]</a:t>
            </a:r>
            <a:r>
              <a:rPr lang="de-DE" sz="1200"/>
              <a:t>. Nordlicht sollte die Vermarktung von der reinen Mengenlogik auf eine Fahrplanlogik umstellen, bevor die nächste Ausschreibungsrunde im Januar 2028 die Erlöse für fünfzehn Jahre festschreibt </a:t>
            </a:r>
            <a:r>
              <a:rPr lang="de-DE" sz="1200">
                <a:hlinkClick r:id="rIdNotes5"/>
              </a:rPr>
              <a:t>[3]</a:t>
            </a:r>
            <a:r>
              <a:rPr lang="de-DE" sz="1200"/>
              <a:t>. Die Geschäftsführung entscheidet das im zweiten Quartal 2027, nicht danach. Alles Weitere — der Speicher, der Direktvertrag, die Prognose — folgt aus dieser einen Entscheidung und lässt sich ohne sie nicht sinnvoll dimensionieren.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r>
              <a:rPr lang="de-DE" sz="1200"/>
              <a:t>Nordlicht vermarktet seine Menge, nicht seine Stunden. Der Park liefert 214 Gigawattstunden im Jahr und verkauft sie über einen Direktvermarkter, der nach Monatsmenge abrechnet </a:t>
            </a:r>
            <a:r>
              <a:rPr lang="de-DE" sz="1200">
                <a:hlinkClick r:id="rIdNotes3"/>
              </a:rPr>
              <a:t>[2]</a:t>
            </a:r>
            <a:r>
              <a:rPr lang="de-DE" sz="1200"/>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a:hlinkClick r:id="rIdNotes4"/>
              </a:rPr>
              <a:t>[1]</a:t>
            </a:r>
            <a:r>
              <a:rPr lang="de-DE" sz="1200"/>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a:hlinkClick r:id="rIdNotes5"/>
              </a:rPr>
              <a:t>[3]</a:t>
            </a:r>
            <a:r>
              <a:rPr lang="de-DE" sz="1200"/>
              <a:t>. Mehr braucht die Ausgangslage nicht — alles Strittige gehört in den nächsten Abschnitt.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r>
              <a:rPr lang="de-DE" sz="1200"/>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a:hlinkClick r:id="rIdNotes3"/>
              </a:rPr>
              <a:t>[2]</a:t>
            </a:r>
            <a:r>
              <a:rPr lang="de-DE" sz="1200"/>
              <a:t>. Der deutsche Markt zählte im vergangenen Jahr 412 Stunden mit negativem Preis, und Nordlicht speiste in 94 Prozent davon ein </a:t>
            </a:r>
            <a:r>
              <a:rPr lang="de-DE" sz="1200">
                <a:hlinkClick r:id="rIdNotes4"/>
              </a:rPr>
              <a:t>[2]</a:t>
            </a:r>
            <a:r>
              <a:rPr lang="de-DE" sz="1200"/>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a:hlinkClick r:id="rIdNotes5"/>
              </a:rPr>
              <a:t>[3]</a:t>
            </a:r>
            <a:r>
              <a:rPr lang="de-DE" sz="1200"/>
              <a:t>. Die Kosten für Batteriespeicher sinken bis 2030 um 27 Prozent, was die heutige Wirtschaftlichkeitsrechnung jedes Jahr verändert </a:t>
            </a:r>
            <a:r>
              <a:rPr lang="de-DE" sz="1200">
                <a:hlinkClick r:id="rIdNotes6"/>
              </a:rPr>
              <a:t>[4]</a:t>
            </a:r>
            <a:r>
              <a:rPr lang="de-DE" sz="1200"/>
              <a:t>. Und zwei der drei größten Abnehmer im norddeutschen Raum verhandeln seit 2026 nur noch Verträge mit stündlicher Lieferzusage </a:t>
            </a:r>
            <a:r>
              <a:rPr lang="de-DE" sz="1200">
                <a:hlinkClick r:id="rIdNotes7"/>
              </a:rPr>
              <a:t>[5]</a:t>
            </a:r>
            <a:r>
              <a:rPr lang="de-DE" sz="1200"/>
              <a:t>. Das Fenster schließt sich von beiden Seiten.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r>
              <a:rPr lang="de-DE" sz="1200"/>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a:hlinkClick r:id="rIdNotes3"/>
              </a:rPr>
              <a:t>[2]</a:t>
            </a:r>
            <a:r>
              <a:rPr lang="de-DE" sz="1200"/>
              <a:t>. Zweitens: Betreiber, die 2025 begonnen haben, kennen ihre Abregelung 36 Stunden im Voraus statt 19 Minuten und können die Menge verkaufen, statt sie zu verlieren </a:t>
            </a:r>
            <a:r>
              <a:rPr lang="de-DE" sz="1200">
                <a:hlinkClick r:id="rIdNotes4"/>
              </a:rPr>
              <a:t>[1]</a:t>
            </a:r>
            <a:r>
              <a:rPr lang="de-DE" sz="1200"/>
              <a:t>. Drittens: Marktübliche Vermarktungsprodukte decken den Day-Ahead-Handel ab; in den Intraday-Stunden entstehen jedoch rund 60 Prozent der negativen Preise </a:t>
            </a:r>
            <a:r>
              <a:rPr lang="de-DE" sz="1200">
                <a:hlinkClick r:id="rIdNotes5"/>
              </a:rPr>
              <a:t>[2]</a:t>
            </a:r>
            <a:r>
              <a:rPr lang="de-DE" sz="1200"/>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a:hlinkClick r:id="rIdNotes6"/>
              </a:rPr>
              <a:t>[5]</a:t>
            </a:r>
            <a:r>
              <a:rPr lang="de-DE" sz="1200"/>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r>
              <a:rPr lang="de-DE" sz="1200"/>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a:hlinkClick r:id="rIdNotes3"/>
              </a:rPr>
              <a:t>[3]</a:t>
            </a:r>
            <a:r>
              <a:rPr lang="de-DE" sz="1200"/>
              <a:t>, und die entgangenen Intraday-Erlöse addieren über drei Jahre weitere 4,5 Millionen Euro </a:t>
            </a:r>
            <a:r>
              <a:rPr lang="de-DE" sz="1200">
                <a:hlinkClick r:id="rIdNotes4"/>
              </a:rPr>
              <a:t>[2]</a:t>
            </a:r>
            <a:r>
              <a:rPr lang="de-DE" sz="1200"/>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a:hlinkClick r:id="rIdNotes5"/>
              </a:rPr>
              <a:t>[3]</a:t>
            </a:r>
            <a:r>
              <a:rPr lang="de-DE" sz="1200"/>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r>
              <a:rPr lang="de-DE" sz="1200"/>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a:hlinkClick r:id="rIdNotes3"/>
              </a:rPr>
              <a:t>[2]</a:t>
            </a:r>
            <a:r>
              <a:rPr lang="de-DE" sz="120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r>
              <a:rPr lang="de-DE" sz="1200"/>
              <a:t>Der erste Schritt ist die Vorlage im April. Zweitens gehört die Prognosehoheit in jeden Vertrag: Wer die Einspeisehistorie besitzt, entscheidet über den Wert der Investition — das ist die Entscheidung der Geschäftsführung, nicht des Dienstleisters.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r>
              <a:rPr lang="de-DE" sz="1200"/>
              <a:t>Das Quellenverzeichnis des Foliensatzes, vom Renderer wörtlich aus dem Quellenblock gebaut. Jeder Zitatmarker der vorherigen Folien wird hier aufgelöst.</a:t>
            </a:r>
          </a:p>
          <a:p>
            <a:r>
              <a:rPr lang="de-DE" sz="1200"/>
              <a:t>Texte sind eingefroren — jede Zeile wörtlich übernehmen</a:t>
            </a:r>
          </a:p>
          <a:p>
            <a:r>
              <a:rPr lang="de-DE" sz="1200"/>
              <a:t>Zitate als Fußnoten rendern und die URLs erhalten</a:t>
            </a:r>
          </a:p>
          <a:p>
            <a:r>
              <a:rPr lang="de-DE" sz="1200"/>
              <a:t>die Einheiten und ihre Reihenfolge sind das Ergebnis — vor dem Hinzufügen, Zusammenlegen oder Umsortieren nachfragen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iee.fraunhofer.de/de/publikationen/stundenwerte-windvermarktung-2026.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rgbClr val="FFFFFF"/>
        </a:solidFill>
        <a:effectLst/>
      </p:bgPr>
    </p:bg>
    <p:spTree>
      <p:nvGrpSpPr>
        <p:cNvPr id="1" name=""/>
        <p:cNvGrpSpPr/>
        <p:nvPr/>
      </p:nvGrpSpPr>
      <p:grpSpPr>
        <a:xfrm>
          <a:off x="0" y="0"/>
          <a:ext cx="0" cy="0"/>
          <a:chOff x="0" y="0"/>
          <a:chExt cx="0" cy="0"/>
        </a:xfrm>
      </p:grpSpPr>
      <p:sp>
        <p:nvSpPr>
          <p:cNvPr id="2" name="copy:document#title"/>
          <p:cNvSpPr/>
          <p:nvPr/>
        </p:nvSpPr>
        <p:spPr>
          <a:xfrm>
            <a:off x="685800" y="1143000"/>
            <a:ext cx="10789920" cy="242316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document#subtitle"/>
          <p:cNvSpPr/>
          <p:nvPr/>
        </p:nvSpPr>
        <p:spPr>
          <a:xfrm>
            <a:off x="685800" y="3931920"/>
            <a:ext cx="9875520" cy="1097280"/>
          </a:xfrm>
          <a:prstGeom prst="rect">
            <a:avLst/>
          </a:prstGeom>
          <a:noFill/>
          <a:ln/>
        </p:spPr>
        <p:txBody>
          <a:bodyPr wrap="square" lIns="0" tIns="0" rIns="0" bIns="0"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Wie sollte ein norddeutscher Windparkbetreiber auf negative Börsenpreise und kurzfristige Abregelung reagieren?</a:t>
            </a:r>
            <a:endParaRPr lang="en-US" sz="2200" dirty="0"/>
          </a:p>
        </p:txBody>
      </p:sp>
      <p:sp>
        <p:nvSpPr>
          <p:cNvPr id="4" name="motif:arc"/>
          <p:cNvSpPr/>
          <p:nvPr/>
        </p:nvSpPr>
        <p:spPr>
          <a:xfrm rot="10800000">
            <a:off x="10012680" y="5349240"/>
            <a:ext cx="1143000" cy="914400"/>
          </a:xfrm>
          <a:prstGeom prst="arc">
            <a:avLst/>
          </a:prstGeom>
          <a:solidFill>
            <a:srgbClr val="FFFFFF">
              <a:alpha val="0"/>
            </a:srgbClr>
          </a:solidFill>
          <a:ln w="25400">
            <a:solidFill>
              <a:srgbClr val="8C6D1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rgbClr val="12305C"/>
        </a:solidFill>
        <a:effectLst/>
      </p:bgPr>
    </p:bg>
    <p:spTree>
      <p:nvGrpSpPr>
        <p:cNvPr id="1" name=""/>
        <p:cNvGrpSpPr/>
        <p:nvPr/>
      </p:nvGrpSpPr>
      <p:grpSpPr>
        <a:xfrm>
          <a:off x="0" y="0"/>
          <a:ext cx="0" cy="0"/>
          <a:chOff x="0" y="0"/>
          <a:chExt cx="0" cy="0"/>
        </a:xfrm>
      </p:grpSpPr>
      <p:sp>
        <p:nvSpPr>
          <p:cNvPr id="2" name="copy:slide-1#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slide-1#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54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den billigsten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19 Minuten Vorlauf bis zur Abregelung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Die Geschäftsführung entscheidet im zweiten Quartal 2027</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rgbClr val="FFFFFF"/>
        </a:solidFill>
        <a:effectLst/>
      </p:bgPr>
    </p:bg>
    <p:spTree>
      <p:nvGrpSpPr>
        <p:cNvPr id="1" name=""/>
        <p:cNvGrpSpPr/>
        <p:nvPr/>
      </p:nvGrpSpPr>
      <p:grpSpPr>
        <a:xfrm>
          <a:off x="0" y="0"/>
          <a:ext cx="0" cy="0"/>
          <a:chOff x="0" y="0"/>
          <a:chExt cx="0" cy="0"/>
        </a:xfrm>
      </p:grpSpPr>
      <p:sp>
        <p:nvSpPr>
          <p:cNvPr id="2" name="copy:slide-2#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Nordlicht vermarktet seine Menge, nicht seine Stunden</a:t>
            </a:r>
            <a:endParaRPr lang="en-US" sz="3600" dirty="0"/>
          </a:p>
        </p:txBody>
      </p:sp>
      <p:sp>
        <p:nvSpPr>
          <p:cNvPr id="3" name="copy:slide-2#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214 Gigawattstunden Jahresmenge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500" dirty="0"/>
          </a:p>
        </p:txBody>
      </p:sp>
      <p:sp>
        <p:nvSpPr>
          <p:cNvPr id="4" name="copy:slide-2#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19 Minuten Vorlauf bis zur Abregelung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500" dirty="0"/>
          </a:p>
        </p:txBody>
      </p:sp>
      <p:sp>
        <p:nvSpPr>
          <p:cNvPr id="5" name="copy:slide-2#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drei Systeme ohne gemeinsamen Fahrplan</a:t>
            </a:r>
            <a:endParaRPr lang="en-US" sz="2500" dirty="0"/>
          </a:p>
        </p:txBody>
      </p:sp>
      <p:sp>
        <p:nvSpPr>
          <p:cNvPr id="6" name="copy:slide-2#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Keines dieser Systeme liest das andere</a:t>
            </a:r>
            <a:endParaRPr lang="en-US" sz="2500" dirty="0"/>
          </a:p>
        </p:txBody>
      </p:sp>
      <p:sp>
        <p:nvSpPr>
          <p:cNvPr id="7" name="copy:slide-2#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direct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rgbClr val="FFFFFF"/>
        </a:solidFill>
        <a:effectLst/>
      </p:bgPr>
    </p:bg>
    <p:spTree>
      <p:nvGrpSpPr>
        <p:cNvPr id="1" name=""/>
        <p:cNvGrpSpPr/>
        <p:nvPr/>
      </p:nvGrpSpPr>
      <p:grpSpPr>
        <a:xfrm>
          <a:off x="0" y="0"/>
          <a:ext cx="0" cy="0"/>
          <a:chOff x="0" y="0"/>
          <a:chExt cx="0" cy="0"/>
        </a:xfrm>
      </p:grpSpPr>
      <p:sp>
        <p:nvSpPr>
          <p:cNvPr id="2" name="copy:slide-3#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Der Engpass ist von der Anlage zum Fahrplan gewandert</a:t>
            </a:r>
            <a:endParaRPr lang="en-US" sz="3600" dirty="0"/>
          </a:p>
        </p:txBody>
      </p:sp>
      <p:sp>
        <p:nvSpPr>
          <p:cNvPr id="3" name="copy:slide-3#slide_points#0"/>
          <p:cNvSpPr/>
          <p:nvPr/>
        </p:nvSpPr>
        <p:spPr>
          <a:xfrm>
            <a:off x="6858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6,80 Euro je Megawattstunde Erlösdifferenz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3#slide_points#1"/>
          <p:cNvSpPr/>
          <p:nvPr/>
        </p:nvSpPr>
        <p:spPr>
          <a:xfrm>
            <a:off x="43434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412 Stunden mit negativem Preis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3#slide_points#2"/>
          <p:cNvSpPr/>
          <p:nvPr/>
        </p:nvSpPr>
        <p:spPr>
          <a:xfrm>
            <a:off x="80010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Die Ausschreibung läuft im Januar 2028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cxnSp>
        <p:nvCxnSpPr>
          <p:cNvPr id="6" name="connector:e1:e2"/>
          <p:cNvCxnSpPr>
            <a:stCxn id="3" idx="3"/>
            <a:endCxn id="4" idx="1"/>
          </p:cNvCxnSpPr>
          <p:nvPr/>
        </p:nvCxnSpPr>
        <p:spPr>
          <a:xfrm>
            <a:off x="3703320" y="3520440"/>
            <a:ext cx="640080" cy="0"/>
          </a:xfrm>
          <a:prstGeom prst="line">
            <a:avLst/>
          </a:prstGeom>
          <a:noFill/>
          <a:ln w="19050">
            <a:solidFill>
              <a:srgbClr val="3D5A80"/>
            </a:solidFill>
            <a:prstDash val="solid"/>
            <a:headEnd type="none"/>
            <a:tailEnd type="triangle"/>
          </a:ln>
        </p:spPr>
      </p:cxnSp>
      <p:sp>
        <p:nvSpPr>
          <p:cNvPr id="7" name="kind:e1:e2"/>
          <p:cNvSpPr/>
          <p:nvPr/>
        </p:nvSpPr>
        <p:spPr>
          <a:xfrm>
            <a:off x="34747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cxnSp>
        <p:nvCxnSpPr>
          <p:cNvPr id="8" name="connector:e2:e3"/>
          <p:cNvCxnSpPr>
            <a:stCxn id="4" idx="3"/>
            <a:endCxn id="5" idx="1"/>
          </p:cNvCxnSpPr>
          <p:nvPr/>
        </p:nvCxnSpPr>
        <p:spPr>
          <a:xfrm>
            <a:off x="7360920" y="3520440"/>
            <a:ext cx="640080" cy="0"/>
          </a:xfrm>
          <a:prstGeom prst="line">
            <a:avLst/>
          </a:prstGeom>
          <a:noFill/>
          <a:ln w="19050">
            <a:solidFill>
              <a:srgbClr val="3D5A80"/>
            </a:solidFill>
            <a:prstDash val="solid"/>
            <a:headEnd type="none"/>
            <a:tailEnd type="triangle"/>
          </a:ln>
        </p:spPr>
      </p:cxnSp>
      <p:sp>
        <p:nvSpPr>
          <p:cNvPr id="9" name="kind:e2:e3"/>
          <p:cNvSpPr/>
          <p:nvPr/>
        </p:nvSpPr>
        <p:spPr>
          <a:xfrm>
            <a:off x="71323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sp>
        <p:nvSpPr>
          <p:cNvPr id="10" name="copy:slide-3#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triangulated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rgbClr val="FFFFFF"/>
        </a:solidFill>
        <a:effectLst/>
      </p:bgPr>
    </p:bg>
    <p:spTree>
      <p:nvGrpSpPr>
        <p:cNvPr id="1" name=""/>
        <p:cNvGrpSpPr/>
        <p:nvPr/>
      </p:nvGrpSpPr>
      <p:grpSpPr>
        <a:xfrm>
          <a:off x="0" y="0"/>
          <a:ext cx="0" cy="0"/>
          <a:chOff x="0" y="0"/>
          <a:chExt cx="0" cy="0"/>
        </a:xfrm>
      </p:grpSpPr>
      <p:sp>
        <p:nvSpPr>
          <p:cNvPr id="2" name="copy:slide-4#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Ein gemeinsamer Fahrplan aus Prognose, Preis und Anlage</a:t>
            </a:r>
            <a:endParaRPr lang="en-US" sz="3600" dirty="0"/>
          </a:p>
        </p:txBody>
      </p:sp>
      <p:sp>
        <p:nvSpPr>
          <p:cNvPr id="3" name="copy:slide-4#slide_points#0"/>
          <p:cNvSpPr/>
          <p:nvPr/>
        </p:nvSpPr>
        <p:spPr>
          <a:xfrm>
            <a:off x="4343400" y="214884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4,10 Euro je Megawattstunde Mehrerlös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4#slide_points#1"/>
          <p:cNvSpPr/>
          <p:nvPr/>
        </p:nvSpPr>
        <p:spPr>
          <a:xfrm>
            <a:off x="6858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36 Stunden Vorlauf statt 19 Minuten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p:txBody>
      </p:sp>
      <p:sp>
        <p:nvSpPr>
          <p:cNvPr id="5" name="copy:slide-4#slide_points#2"/>
          <p:cNvSpPr/>
          <p:nvPr/>
        </p:nvSpPr>
        <p:spPr>
          <a:xfrm>
            <a:off x="80010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rund 60 Prozent der negativen Stunden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cxnSp>
        <p:nvCxnSpPr>
          <p:cNvPr id="6" name="connector:e2:e1"/>
          <p:cNvCxnSpPr>
            <a:stCxn id="4" idx="3"/>
            <a:endCxn id="3" idx="1"/>
          </p:cNvCxnSpPr>
          <p:nvPr/>
        </p:nvCxnSpPr>
        <p:spPr>
          <a:xfrm>
            <a:off x="3703320" y="4023360"/>
            <a:ext cx="640080" cy="-502920"/>
          </a:xfrm>
          <a:prstGeom prst="line">
            <a:avLst/>
          </a:prstGeom>
          <a:noFill/>
          <a:ln w="19050">
            <a:solidFill>
              <a:srgbClr val="3D5A80"/>
            </a:solidFill>
            <a:prstDash val="solid"/>
            <a:headEnd type="none"/>
            <a:tailEnd type="triangle"/>
          </a:ln>
        </p:spPr>
      </p:cxnSp>
      <p:sp>
        <p:nvSpPr>
          <p:cNvPr id="7" name="kind:e2:e1"/>
          <p:cNvSpPr/>
          <p:nvPr/>
        </p:nvSpPr>
        <p:spPr>
          <a:xfrm>
            <a:off x="265176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cxnSp>
        <p:nvCxnSpPr>
          <p:cNvPr id="8" name="connector:e3:e1"/>
          <p:cNvCxnSpPr>
            <a:stCxn id="5" idx="1"/>
            <a:endCxn id="3" idx="3"/>
          </p:cNvCxnSpPr>
          <p:nvPr/>
        </p:nvCxnSpPr>
        <p:spPr>
          <a:xfrm>
            <a:off x="7360920" y="4023360"/>
            <a:ext cx="640080" cy="-502920"/>
          </a:xfrm>
          <a:prstGeom prst="line">
            <a:avLst/>
          </a:prstGeom>
          <a:noFill/>
          <a:ln w="19050">
            <a:solidFill>
              <a:srgbClr val="3D5A80"/>
            </a:solidFill>
            <a:prstDash val="solid"/>
            <a:headEnd type="none"/>
            <a:tailEnd type="triangle"/>
          </a:ln>
        </p:spPr>
      </p:cxnSp>
      <p:sp>
        <p:nvSpPr>
          <p:cNvPr id="9" name="kind:e3:e1"/>
          <p:cNvSpPr/>
          <p:nvPr/>
        </p:nvSpPr>
        <p:spPr>
          <a:xfrm>
            <a:off x="740664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sp>
        <p:nvSpPr>
          <p:cNvPr id="10" name="copy:slide-4#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interpretation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rgbClr val="FFFFFF"/>
        </a:solidFill>
        <a:effectLst/>
      </p:bgPr>
    </p:bg>
    <p:spTree>
      <p:nvGrpSpPr>
        <p:cNvPr id="1" name=""/>
        <p:cNvGrpSpPr/>
        <p:nvPr/>
      </p:nvGrpSpPr>
      <p:grpSpPr>
        <a:xfrm>
          <a:off x="0" y="0"/>
          <a:ext cx="0" cy="0"/>
          <a:chOff x="0" y="0"/>
          <a:chExt cx="0" cy="0"/>
        </a:xfrm>
      </p:grpSpPr>
      <p:sp>
        <p:nvSpPr>
          <p:cNvPr id="2" name="copy:slide-5#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Die Geschäftsführung entscheidet im zweiten Quartal 2027</a:t>
            </a:r>
            <a:endParaRPr lang="en-US" sz="3600" dirty="0"/>
          </a:p>
        </p:txBody>
      </p:sp>
      <p:sp>
        <p:nvSpPr>
          <p:cNvPr id="3" name="copy:slide-5#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31 Millionen Euro über die Laufzeit gegenüber 12 Millionen bei geplantem Vorgehen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5#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weitere 4,5 Millionen Euro aus entgangenen Intraday-Erlösen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5#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9,7 Millionen Euro Programmkosten über drei Jahre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6" name="copy:slide-5#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Der erste Schritt ist die Vorlage im April</a:t>
            </a:r>
            <a:endParaRPr lang="en-US" sz="2200" dirty="0"/>
          </a:p>
        </p:txBody>
      </p:sp>
      <p:sp>
        <p:nvSpPr>
          <p:cNvPr id="7" name="copy:slide-5#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mixed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rgbClr val="12305C"/>
        </a:solidFill>
        <a:effectLst/>
      </p:bgPr>
    </p:bg>
    <p:spTree>
      <p:nvGrpSpPr>
        <p:cNvPr id="1" name=""/>
        <p:cNvGrpSpPr/>
        <p:nvPr/>
      </p:nvGrpSpPr>
      <p:grpSpPr>
        <a:xfrm>
          <a:off x="0" y="0"/>
          <a:ext cx="0" cy="0"/>
          <a:chOff x="0" y="0"/>
          <a:chExt cx="0" cy="0"/>
        </a:xfrm>
      </p:grpSpPr>
      <p:sp>
        <p:nvSpPr>
          <p:cNvPr id="2" name="copy:slide-6#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38 Prozent der Jahresmenge liegen in vier Stunden</a:t>
            </a:r>
            <a:endParaRPr lang="en-US" sz="4200" dirty="0"/>
          </a:p>
        </p:txBody>
      </p:sp>
      <p:sp>
        <p:nvSpPr>
          <p:cNvPr id="3" name="copy:slide-6#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66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vier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412 Stunden mit negativem Preis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9,7 Millionen Euro Programmkosten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6#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FFFFFF"/>
                </a:solidFill>
                <a:latin typeface="Calibri" pitchFamily="34" charset="0"/>
                <a:ea typeface="Calibri" pitchFamily="34" charset="-122"/>
                <a:cs typeface="Calibri" pitchFamily="34" charset="-120"/>
              </a:rPr>
              <a:t>proxy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rgbClr val="FFFFFF"/>
        </a:solidFill>
        <a:effectLst/>
      </p:bgPr>
    </p:bg>
    <p:spTree>
      <p:nvGrpSpPr>
        <p:cNvPr id="1" name=""/>
        <p:cNvGrpSpPr/>
        <p:nvPr/>
      </p:nvGrpSpPr>
      <p:grpSpPr>
        <a:xfrm>
          <a:off x="0" y="0"/>
          <a:ext cx="0" cy="0"/>
          <a:chOff x="0" y="0"/>
          <a:chExt cx="0" cy="0"/>
        </a:xfrm>
      </p:grpSpPr>
      <p:sp>
        <p:nvSpPr>
          <p:cNvPr id="2" name="copy:slide-7#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Die Geschäftsführung entscheidet jetzt und sichert die Prognosehoheit</a:t>
            </a:r>
            <a:endParaRPr lang="en-US" sz="4200" dirty="0"/>
          </a:p>
        </p:txBody>
      </p:sp>
      <p:sp>
        <p:nvSpPr>
          <p:cNvPr id="3" name="copy:slide-7#slide_points"/>
          <p:cNvSpPr/>
          <p:nvPr/>
        </p:nvSpPr>
        <p:spPr>
          <a:xfrm>
            <a:off x="685800" y="2148840"/>
            <a:ext cx="10652760" cy="3703320"/>
          </a:xfrm>
          <a:prstGeom prst="rect">
            <a:avLst/>
          </a:prstGeom>
          <a:noFill/>
          <a:ln/>
        </p:spPr>
        <p:txBody>
          <a:bodyPr wrap="square" lIns="0" tIns="0" rIns="0" bIns="0" rtlCol="0" anchor="ctr"/>
          <a:lstStyle/>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die Geschäftsführung jetzt entscheidet und die Prognosehoheit sichert</a:t>
            </a:r>
            <a:endParaRPr lang="en-US" sz="2500" dirty="0"/>
          </a:p>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Der erste Schritt ist die Vorlage im April</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rgbClr val="FFFFFF"/>
        </a:solidFill>
        <a:effectLst/>
      </p:bgPr>
    </p:bg>
    <p:spTree>
      <p:nvGrpSpPr>
        <p:cNvPr id="1" name=""/>
        <p:cNvGrpSpPr/>
        <p:nvPr/>
      </p:nvGrpSpPr>
      <p:grpSpPr>
        <a:xfrm>
          <a:off x="0" y="0"/>
          <a:ext cx="0" cy="0"/>
          <a:chOff x="0" y="0"/>
          <a:chExt cx="0" cy="0"/>
        </a:xfrm>
      </p:grpSpPr>
      <p:sp>
        <p:nvSpPr>
          <p:cNvPr id="2" name="copy:slide-8#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Quellen</a:t>
            </a:r>
            <a:endParaRPr lang="en-US" sz="3600" dirty="0"/>
          </a:p>
        </p:txBody>
      </p:sp>
      <p:sp>
        <p:nvSpPr>
          <p:cNvPr id="3" name="register:u-slide-8"/>
          <p:cNvSpPr/>
          <p:nvPr/>
        </p:nvSpPr>
        <p:spPr>
          <a:xfrm>
            <a:off x="685800" y="2011680"/>
            <a:ext cx="10789920" cy="4251960"/>
          </a:xfrm>
          <a:prstGeom prst="rect">
            <a:avLst/>
          </a:prstGeom>
          <a:noFill/>
          <a:ln/>
        </p:spPr>
        <p:txBody>
          <a:bodyPr wrap="square" lIns="0" tIns="0" rIns="0" bIns="0" rtlCol="0" anchor="t"/>
          <a:lstStyle/>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[1] source-01-netzbetreiber.md — Bundesnetzagentur, „Redispatch und Abregelung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https://www.bundesnetzagentur.de/redispatch-abregelung-2026</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[2] source-02-fraunhofer-iee.md — Fraunhofer IEE, „Stundenwerte der Windvermarktung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https://www.iee.fraunhofer.de/de/publikationen/stundenwerte-windvermarktung-2026.html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[3] source-03-ausschreibung.md — Bundesnetzagentur, „Ausschreibungen Wind an Land 2028",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https://www.bundesnetzagentur.de/ausschreibungen-wind-an-land-2028</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[4] source-04-destatis.md — Destatis, „Speicherkosten 2030",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https://www.destatis.de/DE/Themen/Branchen-Unternehmen/Energie/speicherkosten-2030.html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[5] source-05-handelsblatt.md — Handelsblatt, „Abnehmer, Speicher und Datenvorsprung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https://www.handelsblatt.com/unternehmen/energie/abnehmer-speicher-datenvorsprung-2026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Nordlicht verkauft Strom in Stunden, die es nicht kennt</dc:title>
  <dc:subject>Nordlicht frozen brief — independent PptxGenJS proof</dc:subject>
  <dc:creator>Codex with document-skills:pptx</dc:creator>
  <cp:lastModifiedBy>Codex with document-skills:pptx</cp:lastModifiedBy>
  <cp:revision>1</cp:revision>
  <dcterms:created xsi:type="dcterms:W3CDTF">2026-09-19T08:59:43Z</dcterms:created>
  <dcterms:modified xsi:type="dcterms:W3CDTF">2026-09-19T08:59:43Z</dcterms:modified>
</cp:coreProperties>
</file>