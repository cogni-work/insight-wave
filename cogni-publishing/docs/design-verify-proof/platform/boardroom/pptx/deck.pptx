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lvl1pPr>
      <a:defRPr sz="1800"/>
    </a:lvl1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p:scale>
          <a:sx n="100" d="100"/>
          <a:sy n="100" d="100"/>
        </p:scale>
        <p:origin x="0" y="0"/>
      </p:cViewPr>
      <p:guideLst/>
    </p:cSldViewPr>
  </p:slide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a:xfrm>
            <a:off x="685800" y="1143000"/>
            <a:ext cx="5486400" cy="3086100"/>
          </a:xfrm>
          <a:prstGeom prst="rect">
            <a:avLst/>
          </a:prstGeom>
        </p:spPr>
        <p:txBody>
          <a:bodyPr/>
          <a:lstStyle/>
          <a:p>
            <a:endParaRPr lang="en-US"/>
          </a:p>
        </p:txBody>
      </p:sp>
      <p:sp>
        <p:nvSpPr>
          <p:cNvPr id="3" name="Notes Placeholder 2"/>
          <p:cNvSpPr>
            <a:spLocks noGrp="1"/>
          </p:cNvSpPr>
          <p:nvPr>
            <p:ph type="body" idx="3"/>
          </p:nvPr>
        </p:nvSpPr>
        <p:spPr>
          <a:xfrm>
            <a:off x="685800" y="4400550"/>
            <a:ext cx="5486400" cy="360045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bundesnetzagentur.de/ausschreibungen-wind-an-land-2028" TargetMode="External"/><Relationship Id="rId4" Type="http://schemas.openxmlformats.org/officeDocument/2006/relationships/notesMaster" Target="../notesMasters/notesMaster1.xml"/><Relationship Id="rId5"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bundesnetzagentur.de/ausschreibungen-wind-an-land-2028" TargetMode="External"/><Relationship Id="rId4" Type="http://schemas.openxmlformats.org/officeDocument/2006/relationships/notesMaster" Target="../notesMasters/notesMaster1.xml"/><Relationship Id="rId5"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ausschreibungen-wind-an-land-2028" TargetMode="External"/><Relationship Id="rId3" Type="http://schemas.openxmlformats.org/officeDocument/2006/relationships/hyperlink" Target="https://www.destatis.de/DE/Themen/Branchen-Unternehmen/Energie/speicherkosten-2030.html" TargetMode="External"/><Relationship Id="rId4" Type="http://schemas.openxmlformats.org/officeDocument/2006/relationships/hyperlink" Target="https://www.handelsblatt.com/unternehmen/energie/abnehmer-speicher-datenvorsprung-2026" TargetMode="External"/><Relationship Id="rId5" Type="http://schemas.openxmlformats.org/officeDocument/2006/relationships/notesMaster" Target="../notesMasters/notesMaster1.xml"/><Relationship Id="rId6"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hyperlink" Target="https://www.handelsblatt.com/unternehmen/energie/abnehmer-speicher-datenvorsprung-2026" TargetMode="External"/><Relationship Id="rId4" Type="http://schemas.openxmlformats.org/officeDocument/2006/relationships/notesMaster" Target="../notesMasters/notesMaster1.xml"/><Relationship Id="rId5"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notesMaster" Target="../notesMasters/notesMaster1.xml"/><Relationship Id="rId4"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notesMaster" Target="../notesMasters/notesMaster1.xml"/><Relationship Id="rId3"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1"/>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Wie sollte ein norddeutscher Windparkbetreiber auf negative Börsenpreise und kurzfristige Abregelung reagieren? Der Windpark Nordlicht speist 38 Prozent seiner Jahresmenge in die vier Stunden ein, in denen der Preis am niedrigsten ist </a:t>
            </a:r>
            <a:r>
              <a:rPr lang="de-DE" sz="1200" dirty="0">
                <a:solidFill>
                  <a:schemeClr val="tx1"/>
                </a:solidFill>
                <a:latin typeface="Arial"/>
                <a:ea typeface="Arial"/>
                <a:cs typeface="Arial"/>
                <a:hlinkClick r:id="rId1"/>
              </a:rPr>
              <a:t>[2]</a:t>
            </a:r>
            <a:r>
              <a:rPr lang="de-DE" sz="1200" dirty="0">
                <a:solidFill>
                  <a:schemeClr val="tx1"/>
                </a:solidFill>
                <a:latin typeface="Arial"/>
                <a:ea typeface="Arial"/>
                <a:cs typeface="Arial"/>
              </a:rPr>
              <a:t>. Das ist kein Wetterproblem, sondern ein Fahrplanproblem: Die Anlagen laufen gegen einen Preis, den niemand im Betrieb vorher sieht. Der Netzbetreiber kündigt eine Abregelung im Mittel 19 Minuten vorher an, und in dieser Frist lässt sich weder ein Speicher laden noch ein Direktvertrag bedienen </a:t>
            </a:r>
            <a:r>
              <a:rPr lang="de-DE" sz="1200" dirty="0">
                <a:solidFill>
                  <a:schemeClr val="tx1"/>
                </a:solidFill>
                <a:latin typeface="Arial"/>
                <a:ea typeface="Arial"/>
                <a:cs typeface="Arial"/>
                <a:hlinkClick r:id="rId2"/>
              </a:rPr>
              <a:t>[1]</a:t>
            </a:r>
            <a:r>
              <a:rPr lang="de-DE" sz="1200" dirty="0">
                <a:solidFill>
                  <a:schemeClr val="tx1"/>
                </a:solidFill>
                <a:latin typeface="Arial"/>
                <a:ea typeface="Arial"/>
                <a:cs typeface="Arial"/>
              </a:rPr>
              <a:t>. Nordlicht sollte die Vermarktung von der reinen Mengenlogik auf eine Fahrplanlogik umstellen, bevor die nächste Ausschreibungsrunde im Januar 2028 die Erlöse für fünfzehn Jahre festschreibt </a:t>
            </a:r>
            <a:r>
              <a:rPr lang="de-DE" sz="1200" dirty="0">
                <a:solidFill>
                  <a:schemeClr val="tx1"/>
                </a:solidFill>
                <a:latin typeface="Arial"/>
                <a:ea typeface="Arial"/>
                <a:cs typeface="Arial"/>
                <a:hlinkClick r:id="rId3"/>
              </a:rPr>
              <a:t>[3]</a:t>
            </a:r>
            <a:r>
              <a:rPr lang="de-DE" sz="1200" dirty="0">
                <a:solidFill>
                  <a:schemeClr val="tx1"/>
                </a:solidFill>
                <a:latin typeface="Arial"/>
                <a:ea typeface="Arial"/>
                <a:cs typeface="Arial"/>
              </a:rPr>
              <a:t>. Die Geschäftsführung entscheidet das im zweiten Quartal 2027, nicht danach. Alles Weitere — der Speicher, der Direktvertrag, die Prognose — folgt aus dieser einen Entscheidung und lässt sich ohne sie nicht sinnvoll dimensionieren.</a:t>
            </a:r>
            <a:endParaRPr lang="de-DE" sz="1200"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2"/>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Nordlicht vermarktet seine Menge, nicht seine Stunden. Der Park liefert 214 Gigawattstunden im Jahr und verkauft sie über einen Direktvermarkter, der nach Monatsmenge abrechnet </a:t>
            </a:r>
            <a:r>
              <a:rPr lang="de-DE" sz="1200" dirty="0">
                <a:solidFill>
                  <a:schemeClr val="tx1"/>
                </a:solidFill>
                <a:latin typeface="Arial"/>
                <a:ea typeface="Arial"/>
                <a:cs typeface="Arial"/>
                <a:hlinkClick r:id="rId1"/>
              </a:rPr>
              <a:t>[2]</a:t>
            </a:r>
            <a:r>
              <a:rPr lang="de-DE" sz="1200" dirty="0">
                <a:solidFill>
                  <a:schemeClr val="tx1"/>
                </a:solidFill>
                <a:latin typeface="Arial"/>
                <a:ea typeface="Arial"/>
                <a:cs typeface="Arial"/>
              </a:rPr>
              <a:t>. Die Wetterprognose liegt beim Dienstleister, die Vermarktung beim Händler, die Anlagensteuerung beim Betriebsführer — drei Systeme, von denen keines den Fahrplan des anderen kennt. Der Netzbetreiber meldet eine Abregelung im Mittel 19 Minuten vorher, gelegentlich weniger </a:t>
            </a:r>
            <a:r>
              <a:rPr lang="de-DE" sz="1200" dirty="0">
                <a:solidFill>
                  <a:schemeClr val="tx1"/>
                </a:solidFill>
                <a:latin typeface="Arial"/>
                <a:ea typeface="Arial"/>
                <a:cs typeface="Arial"/>
                <a:hlinkClick r:id="rId2"/>
              </a:rPr>
              <a:t>[1]</a:t>
            </a:r>
            <a:r>
              <a:rPr lang="de-DE" sz="1200" dirty="0">
                <a:solidFill>
                  <a:schemeClr val="tx1"/>
                </a:solidFill>
                <a:latin typeface="Arial"/>
                <a:ea typeface="Arial"/>
                <a:cs typeface="Arial"/>
              </a:rPr>
              <a:t>. In dieser Frist kann der Betriebsführer die Anlage herunterfahren, aber niemand kann die Menge anders verkaufen, weil der Handelstag längst geschlossen ist. Der Betrieb beschäftigt für 48 Anlagen etwa zwölf Personen, und ihr Arbeitstag beginnt mit der Störungsliste des Vortages, nicht mit dem Preisverlauf des kommenden. Diese Zahlen sind unstrittig; sie beschreiben den Zustand, von dem jede Entscheidung ausgeht, und keine Seite bestreitet sie. Unstrittig ist auch der Rahmen: Die nächste Ausschreibungsrunde der Bundesnetzagentur läuft im Januar 2028 und schreibt den Erlöspfad für fünfzehn Jahre fest </a:t>
            </a:r>
            <a:r>
              <a:rPr lang="de-DE" sz="1200" dirty="0">
                <a:solidFill>
                  <a:schemeClr val="tx1"/>
                </a:solidFill>
                <a:latin typeface="Arial"/>
                <a:ea typeface="Arial"/>
                <a:cs typeface="Arial"/>
                <a:hlinkClick r:id="rId3"/>
              </a:rPr>
              <a:t>[3]</a:t>
            </a:r>
            <a:r>
              <a:rPr lang="de-DE" sz="1200" dirty="0">
                <a:solidFill>
                  <a:schemeClr val="tx1"/>
                </a:solidFill>
                <a:latin typeface="Arial"/>
                <a:ea typeface="Arial"/>
                <a:cs typeface="Arial"/>
              </a:rPr>
              <a:t>. Mehr braucht die Ausgangslage nicht — alles Strittige gehört in den nächsten Abschnitt.</a:t>
            </a:r>
            <a:endParaRPr lang="de-DE" sz="1200"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3"/>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Die Ausgangslage hält nicht mehr, und zwar aus einem Grund, den die meisten Betreiber nicht sehen. Sie behandeln Erlös als Mengenfrage: mehr Verfügbarkeit, weniger Stillstand, höhere Jahresproduktion. Die Evidenz zeigt etwas anderes. Zwischen zwei Parks gleicher Größe und gleicher Verfügbarkeit liegt die Erlösdifferenz bei 6,80 Euro je Megawattstunde, und sie erklärt sich vollständig aus der Stunde der Einspeisung, nicht aus der Menge </a:t>
            </a:r>
            <a:r>
              <a:rPr lang="de-DE" sz="1200" dirty="0">
                <a:solidFill>
                  <a:schemeClr val="tx1"/>
                </a:solidFill>
                <a:latin typeface="Arial"/>
                <a:ea typeface="Arial"/>
                <a:cs typeface="Arial"/>
                <a:hlinkClick r:id="rId1"/>
              </a:rPr>
              <a:t>[2]</a:t>
            </a:r>
            <a:r>
              <a:rPr lang="de-DE" sz="1200" dirty="0">
                <a:solidFill>
                  <a:schemeClr val="tx1"/>
                </a:solidFill>
                <a:latin typeface="Arial"/>
                <a:ea typeface="Arial"/>
                <a:cs typeface="Arial"/>
              </a:rPr>
              <a:t>. Der deutsche Markt zählte im vergangenen Jahr 412 Stunden mit negativem Preis, und Nordlicht speiste in 94 Prozent davon ein </a:t>
            </a:r>
            <a:r>
              <a:rPr lang="de-DE" sz="1200" dirty="0">
                <a:solidFill>
                  <a:schemeClr val="tx1"/>
                </a:solidFill>
                <a:latin typeface="Arial"/>
                <a:ea typeface="Arial"/>
                <a:cs typeface="Arial"/>
                <a:hlinkClick r:id="rId1"/>
              </a:rPr>
              <a:t>[2]</a:t>
            </a:r>
            <a:r>
              <a:rPr lang="de-DE" sz="1200" dirty="0">
                <a:solidFill>
                  <a:schemeClr val="tx1"/>
                </a:solidFill>
                <a:latin typeface="Arial"/>
                <a:ea typeface="Arial"/>
                <a:cs typeface="Arial"/>
              </a:rPr>
              <a:t>. Der Engpass ist also von der Anlage zum Fahrplan gewandert: Nicht die Turbine fehlt, sondern der Blick auf die Stunde, in der sie liefert. Drei äußere Kräfte machen daraus eine Frist. Die Ausschreibung läuft im Januar 2028, und der Zuschlag bindet den Erlöspfad für fünfzehn Jahre </a:t>
            </a:r>
            <a:r>
              <a:rPr lang="de-DE" sz="1200" dirty="0">
                <a:solidFill>
                  <a:schemeClr val="tx1"/>
                </a:solidFill>
                <a:latin typeface="Arial"/>
                <a:ea typeface="Arial"/>
                <a:cs typeface="Arial"/>
                <a:hlinkClick r:id="rId2"/>
              </a:rPr>
              <a:t>[3]</a:t>
            </a:r>
            <a:r>
              <a:rPr lang="de-DE" sz="1200" dirty="0">
                <a:solidFill>
                  <a:schemeClr val="tx1"/>
                </a:solidFill>
                <a:latin typeface="Arial"/>
                <a:ea typeface="Arial"/>
                <a:cs typeface="Arial"/>
              </a:rPr>
              <a:t>. Die Kosten für Batteriespeicher sinken bis 2030 um 27 Prozent, was die heutige Wirtschaftlichkeitsrechnung jedes Jahr verändert </a:t>
            </a:r>
            <a:r>
              <a:rPr lang="de-DE" sz="1200" dirty="0">
                <a:solidFill>
                  <a:schemeClr val="tx1"/>
                </a:solidFill>
                <a:latin typeface="Arial"/>
                <a:ea typeface="Arial"/>
                <a:cs typeface="Arial"/>
                <a:hlinkClick r:id="rId3"/>
              </a:rPr>
              <a:t>[4]</a:t>
            </a:r>
            <a:r>
              <a:rPr lang="de-DE" sz="1200" dirty="0">
                <a:solidFill>
                  <a:schemeClr val="tx1"/>
                </a:solidFill>
                <a:latin typeface="Arial"/>
                <a:ea typeface="Arial"/>
                <a:cs typeface="Arial"/>
              </a:rPr>
              <a:t>. Und zwei der drei größten Abnehmer im norddeutschen Raum verhandeln seit 2026 nur noch Verträge mit stündlicher Lieferzusage </a:t>
            </a:r>
            <a:r>
              <a:rPr lang="de-DE" sz="1200" dirty="0">
                <a:solidFill>
                  <a:schemeClr val="tx1"/>
                </a:solidFill>
                <a:latin typeface="Arial"/>
                <a:ea typeface="Arial"/>
                <a:cs typeface="Arial"/>
                <a:hlinkClick r:id="rId4"/>
              </a:rPr>
              <a:t>[5]</a:t>
            </a:r>
            <a:r>
              <a:rPr lang="de-DE" sz="1200" dirty="0">
                <a:solidFill>
                  <a:schemeClr val="tx1"/>
                </a:solidFill>
                <a:latin typeface="Arial"/>
                <a:ea typeface="Arial"/>
                <a:cs typeface="Arial"/>
              </a:rPr>
              <a:t>. Das Fenster schließt sich von beiden Seiten.</a:t>
            </a:r>
            <a:endParaRPr lang="de-DE" sz="1200"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4"/>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Die Antwort lautet: Prognose, Preis und Anlagensteuerung in einen gemeinsamen Fahrplan überführen und die stündliche Lieferzusage von der ersten Anlage an gegen die Ausschreibung dokumentieren. Erstens: Parks, die ihre drei Systeme in einen Fahrplan überführen, erzielen 4,10 Euro je Megawattstunde Mehrerlös gegenüber Parks, die es nicht tun </a:t>
            </a:r>
            <a:r>
              <a:rPr lang="de-DE" sz="1200" dirty="0">
                <a:solidFill>
                  <a:schemeClr val="tx1"/>
                </a:solidFill>
                <a:latin typeface="Arial"/>
                <a:ea typeface="Arial"/>
                <a:cs typeface="Arial"/>
                <a:hlinkClick r:id="rId1"/>
              </a:rPr>
              <a:t>[2]</a:t>
            </a:r>
            <a:r>
              <a:rPr lang="de-DE" sz="1200" dirty="0">
                <a:solidFill>
                  <a:schemeClr val="tx1"/>
                </a:solidFill>
                <a:latin typeface="Arial"/>
                <a:ea typeface="Arial"/>
                <a:cs typeface="Arial"/>
              </a:rPr>
              <a:t>. Zweitens: Betreiber, die 2025 begonnen haben, kennen ihre Abregelung 36 Stunden im Voraus statt 19 Minuten und können die Menge verkaufen, statt sie zu verlieren </a:t>
            </a:r>
            <a:r>
              <a:rPr lang="de-DE" sz="1200" dirty="0">
                <a:solidFill>
                  <a:schemeClr val="tx1"/>
                </a:solidFill>
                <a:latin typeface="Arial"/>
                <a:ea typeface="Arial"/>
                <a:cs typeface="Arial"/>
                <a:hlinkClick r:id="rId2"/>
              </a:rPr>
              <a:t>[1]</a:t>
            </a:r>
            <a:r>
              <a:rPr lang="de-DE" sz="1200" dirty="0">
                <a:solidFill>
                  <a:schemeClr val="tx1"/>
                </a:solidFill>
                <a:latin typeface="Arial"/>
                <a:ea typeface="Arial"/>
                <a:cs typeface="Arial"/>
              </a:rPr>
              <a:t>. Drittens: Marktübliche Vermarktungsprodukte decken den Day-Ahead-Handel ab; in den Intraday-Stunden entstehen jedoch rund 60 Prozent der negativen Preise </a:t>
            </a:r>
            <a:r>
              <a:rPr lang="de-DE" sz="1200" dirty="0">
                <a:solidFill>
                  <a:schemeClr val="tx1"/>
                </a:solidFill>
                <a:latin typeface="Arial"/>
                <a:ea typeface="Arial"/>
                <a:cs typeface="Arial"/>
                <a:hlinkClick r:id="rId1"/>
              </a:rPr>
              <a:t>[2]</a:t>
            </a:r>
            <a:r>
              <a:rPr lang="de-DE" sz="1200" dirty="0">
                <a:solidFill>
                  <a:schemeClr val="tx1"/>
                </a:solidFill>
                <a:latin typeface="Arial"/>
                <a:ea typeface="Arial"/>
                <a:cs typeface="Arial"/>
              </a:rPr>
              <a:t>. Eine Lösung, die nur den Day-Ahead abdeckt, löst das Problem daher nicht, sondern verschiebt es. Die Interpretation, kenntlich gemacht: Drei Jahre stündlich beschriftete Einspeisehistorie sind ein Datenvermögen, das ein Wettbewerber nachträglich nicht kaufen kann </a:t>
            </a:r>
            <a:r>
              <a:rPr lang="de-DE" sz="1200" dirty="0">
                <a:solidFill>
                  <a:schemeClr val="tx1"/>
                </a:solidFill>
                <a:latin typeface="Arial"/>
                <a:ea typeface="Arial"/>
                <a:cs typeface="Arial"/>
                <a:hlinkClick r:id="rId3"/>
              </a:rPr>
              <a:t>[5]</a:t>
            </a:r>
            <a:r>
              <a:rPr lang="de-DE" sz="1200" dirty="0">
                <a:solidFill>
                  <a:schemeClr val="tx1"/>
                </a:solidFill>
                <a:latin typeface="Arial"/>
                <a:ea typeface="Arial"/>
                <a:cs typeface="Arial"/>
              </a:rPr>
              <a:t>. Was die Antwort ausschließt, ist ebenso klar. Mehr Verfügbarkeit beantwortet die Komplikation nicht, weil sie den unbeobachteten Stunden nichts hinzufügt. Die Antwort verlangt deshalb zwei Dinge zugleich, die getrennt einfacher zu haben wären — Tempo bis zur Ausschreibung und Hoheit über die Prognose.</a:t>
            </a:r>
            <a:endParaRPr lang="de-DE" sz="1200"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5"/>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Wenn das die Antwort ist, folgen drei Dinge. Erstens entscheidet die Geschäftsführung im zweiten Quartal 2027, denn ein Start 2028 verfehlt die Ausschreibung: Der nachgeholte Aufbau unter Zeitdruck kostet über die Laufzeit 31 Millionen Euro gegenüber 12 Millionen bei geplantem Vorgehen </a:t>
            </a:r>
            <a:r>
              <a:rPr lang="de-DE" sz="1200" dirty="0">
                <a:solidFill>
                  <a:schemeClr val="tx1"/>
                </a:solidFill>
                <a:latin typeface="Arial"/>
                <a:ea typeface="Arial"/>
                <a:cs typeface="Arial"/>
                <a:hlinkClick r:id="rId1"/>
              </a:rPr>
              <a:t>[3]</a:t>
            </a:r>
            <a:r>
              <a:rPr lang="de-DE" sz="1200" dirty="0">
                <a:solidFill>
                  <a:schemeClr val="tx1"/>
                </a:solidFill>
                <a:latin typeface="Arial"/>
                <a:ea typeface="Arial"/>
                <a:cs typeface="Arial"/>
              </a:rPr>
              <a:t>, und die entgangenen Intraday-Erlöse addieren über drei Jahre weitere 4,5 Millionen Euro </a:t>
            </a:r>
            <a:r>
              <a:rPr lang="de-DE" sz="1200" dirty="0">
                <a:solidFill>
                  <a:schemeClr val="tx1"/>
                </a:solidFill>
                <a:latin typeface="Arial"/>
                <a:ea typeface="Arial"/>
                <a:cs typeface="Arial"/>
                <a:hlinkClick r:id="rId2"/>
              </a:rPr>
              <a:t>[2]</a:t>
            </a:r>
            <a:r>
              <a:rPr lang="de-DE" sz="1200" dirty="0">
                <a:solidFill>
                  <a:schemeClr val="tx1"/>
                </a:solidFill>
                <a:latin typeface="Arial"/>
                <a:ea typeface="Arial"/>
                <a:cs typeface="Arial"/>
              </a:rPr>
              <a:t>. Zweitens gehört die Prognosehoheit in jeden Vertrag: Wer die Einspeisehistorie besitzt, entscheidet über den Wert der Investition — das ist die Entscheidung der Geschäftsführung, nicht des Dienstleisters. Drittens misst die Betriebsführung ab dem ersten Quartal die Intraday-Abdeckung, denn sie ist die Größe, an der die Antwort scheitern kann. Die Gesamtrechnung stützt den Beschluss: Ein Fahrplanprogramm kostet für 48 Anlagen über drei Jahre 9,7 Millionen Euro </a:t>
            </a:r>
            <a:r>
              <a:rPr lang="de-DE" sz="1200" dirty="0">
                <a:solidFill>
                  <a:schemeClr val="tx1"/>
                </a:solidFill>
                <a:latin typeface="Arial"/>
                <a:ea typeface="Arial"/>
                <a:cs typeface="Arial"/>
                <a:hlinkClick r:id="rId1"/>
              </a:rPr>
              <a:t>[3]</a:t>
            </a:r>
            <a:r>
              <a:rPr lang="de-DE" sz="1200" dirty="0">
                <a:solidFill>
                  <a:schemeClr val="tx1"/>
                </a:solidFill>
                <a:latin typeface="Arial"/>
                <a:ea typeface="Arial"/>
                <a:cs typeface="Arial"/>
              </a:rPr>
              <a:t>; Nichthandeln kostet im selben Zeitraum ein Vielfaches davon. Gegeben eine Mengenvermarktung, die in den billigsten Stunden liefert; aber 412 Stunden sind vorher bekannt; deshalb ein gemeinsamer Fahrplan vor Januar 2028; was bedeutet, dass die Geschäftsführung jetzt entscheidet und die Prognosehoheit sichert. Der erste Schritt ist die Vorlage im April.</a:t>
            </a:r>
            <a:endParaRPr lang="de-DE" sz="1200"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6"/>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Gegeben eine Mengenvermarktung, die in den billigsten Stunden liefert; aber 412 Stunden mit negativem Preis sind am Vortag bekannt; deshalb ein gemeinsamer Fahrplan aus Prognose, Preis und Anlage vor Januar 2028; was bedeutet, dass die Geschäftsführung jetzt entscheidet und die Prognosehoheit sichert. Diese eine Zahl trägt den ganzen Foliensatz: 38 Prozent der Jahresmenge liegen in vier Stunden, und diese vier Stunden sind die billigsten des Jahres </a:t>
            </a:r>
            <a:r>
              <a:rPr lang="de-DE" sz="1200" dirty="0">
                <a:solidFill>
                  <a:schemeClr val="tx1"/>
                </a:solidFill>
                <a:latin typeface="Arial"/>
                <a:ea typeface="Arial"/>
                <a:cs typeface="Arial"/>
                <a:hlinkClick r:id="rId1"/>
              </a:rPr>
              <a:t>[2]</a:t>
            </a:r>
            <a:r>
              <a:rPr lang="de-DE" sz="1200" dirty="0">
                <a:solidFill>
                  <a:schemeClr val="tx1"/>
                </a:solidFill>
                <a:latin typeface="Arial"/>
                <a:ea typeface="Arial"/>
                <a:cs typeface="Arial"/>
              </a:rPr>
              <a:t>.</a:t>
            </a:r>
            <a:endParaRPr lang="de-DE" sz="1200"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7"/>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Der erste Schritt ist die Vorlage im April. Zweitens gehört die Prognosehoheit in jeden Vertrag: Wer die Einspeisehistorie besitzt, entscheidet über den Wert der Investition — das ist die Entscheidung der Geschäftsführung, nicht des Dienstleisters.</a:t>
            </a:r>
            <a:endParaRPr lang="de-DE" sz="1200"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u-slide-8"/>
          <p:cNvSpPr>
            <a:spLocks noGrp="1"/>
          </p:cNvSpPr>
          <p:nvPr>
            <p:ph type="body" idx="1"/>
          </p:nvPr>
        </p:nvSpPr>
        <p:spPr/>
        <p:txBody>
          <a:bodyPr/>
          <a:lstStyle/>
          <a:p>
            <a:pPr>
              <a:lnSpc>
                <a:spcPts val="1920"/>
              </a:lnSpc>
              <a:buNone/>
            </a:pPr>
            <a:r>
              <a:rPr lang="de-DE" sz="1200" dirty="0">
                <a:solidFill>
                  <a:schemeClr val="tx1"/>
                </a:solidFill>
                <a:latin typeface="Arial"/>
                <a:ea typeface="Arial"/>
                <a:cs typeface="Arial"/>
              </a:rPr>
              <a:t>Das Quellenverzeichnis des Foliensatzes, vom Renderer wörtlich aus dem Quellenblock gebaut. Jeder Zitatmarker der vorherigen Folien wird hier aufgelöst.</a:t>
            </a:r>
            <a:endParaRPr lang="de-DE" sz="1200" dirty="0"/>
          </a:p>
          <a:p>
            <a:pPr>
              <a:lnSpc>
                <a:spcPts val="1920"/>
              </a:lnSpc>
              <a:buNone/>
            </a:pPr>
            <a:r>
              <a:rPr lang="de-DE" sz="1200" dirty="0">
                <a:solidFill>
                  <a:schemeClr val="tx1"/>
                </a:solidFill>
                <a:latin typeface="Arial"/>
                <a:ea typeface="Arial"/>
                <a:cs typeface="Arial"/>
              </a:rPr>
              <a:t>Texte sind eingefroren — jede Zeile wörtlich übernehmen</a:t>
            </a:r>
            <a:endParaRPr lang="de-DE" sz="1200" dirty="0"/>
          </a:p>
          <a:p>
            <a:pPr>
              <a:lnSpc>
                <a:spcPts val="1920"/>
              </a:lnSpc>
              <a:buNone/>
            </a:pPr>
            <a:r>
              <a:rPr lang="de-DE" sz="1200" dirty="0">
                <a:solidFill>
                  <a:schemeClr val="tx1"/>
                </a:solidFill>
                <a:latin typeface="Arial"/>
                <a:ea typeface="Arial"/>
                <a:cs typeface="Arial"/>
              </a:rPr>
              <a:t>Zitate als Fußnoten rendern und die URLs erhalten</a:t>
            </a:r>
            <a:endParaRPr lang="de-DE" sz="1200" dirty="0"/>
          </a:p>
          <a:p>
            <a:pPr>
              <a:lnSpc>
                <a:spcPts val="1920"/>
              </a:lnSpc>
              <a:buNone/>
            </a:pPr>
            <a:r>
              <a:rPr lang="de-DE" sz="1200" dirty="0">
                <a:solidFill>
                  <a:schemeClr val="tx1"/>
                </a:solidFill>
                <a:latin typeface="Arial"/>
                <a:ea typeface="Arial"/>
                <a:cs typeface="Arial"/>
              </a:rPr>
              <a:t>die Einheiten und ihre Reihenfolge sind das Ergebnis — vor dem Hinzufügen, Zusammenlegen oder Umsortieren nachfragen</a:t>
            </a:r>
            <a:endParaRPr lang="de-DE" sz="1200"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sz="3200"/>
      </a:lvl1pPr>
    </p:titleStyle>
    <p:bodyStyle>
      <a:lvl1pPr>
        <a:defRPr sz="1800"/>
      </a:lvl1pPr>
    </p:bodyStyle>
    <p:otherStyle>
      <a:lvl1pPr>
        <a:defRPr sz="1800"/>
      </a:lvl1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ausschreibungen-wind-an-land-2028" TargetMode="Externa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redispatch-abregelung-2026"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hyperlink" Target="https://www.bundesnetzagentur.de/ausschreibungen-wind-an-land-2028"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hyperlink" Target="https://www.iee.fraunhofer.de/de/publikationen/stundenwerte-windvermarktung-2026.html" TargetMode="External"/><Relationship Id="rId2" Type="http://schemas.openxmlformats.org/officeDocument/2006/relationships/hyperlink" Target="https://www.bundesnetzagentur.de/ausschreibungen-wind-an-land-2028" TargetMode="External"/><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hyperlink" Target="https://www.bundesnetzagentur.de/redispatch-abregelung-2026" TargetMode="External"/><Relationship Id="rId2" Type="http://schemas.openxmlformats.org/officeDocument/2006/relationships/hyperlink" Target="https://www.iee.fraunhofer.de/de/publikationen/stundenwerte-windvermarktung-2026.html" TargetMode="External"/><Relationship Id="rId3" Type="http://schemas.openxmlformats.org/officeDocument/2006/relationships/hyperlink" Target="https://www.bundesnetzagentur.de/ausschreibungen-wind-an-land-2028" TargetMode="External"/><Relationship Id="rId4" Type="http://schemas.openxmlformats.org/officeDocument/2006/relationships/hyperlink" Target="https://www.destatis.de/DE/Themen/Branchen-Unternehmen/Energie/speicherkosten-2030.html" TargetMode="External"/><Relationship Id="rId5" Type="http://schemas.openxmlformats.org/officeDocument/2006/relationships/hyperlink" Target="https://www.handelsblatt.com/unternehmen/energie/abnehmer-speicher-datenvorsprung-2026" TargetMode="External"/><Relationship Id="rId6" Type="http://schemas.openxmlformats.org/officeDocument/2006/relationships/slideLayout" Target="../slideLayouts/slideLayout1.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document">
    <p:bg>
      <p:bgPr>
        <a:solidFill>
          <a:schemeClr val="bg1"/>
        </a:solidFill>
        <a:effectLst/>
      </p:bgPr>
    </p:bg>
    <p:spTree>
      <p:nvGrpSpPr>
        <p:cNvPr id="1" name=""/>
        <p:cNvGrpSpPr/>
        <p:nvPr/>
      </p:nvGrpSpPr>
      <p:grpSpPr>
        <a:xfrm>
          <a:off x="0" y="0"/>
          <a:ext cx="0" cy="0"/>
          <a:chOff x="0" y="0"/>
          <a:chExt cx="0" cy="0"/>
        </a:xfrm>
      </p:grpSpPr>
      <p:sp>
        <p:nvSpPr>
          <p:cNvPr id="2" name="copy:document#title"/>
          <p:cNvSpPr txBox="1"/>
          <p:nvPr/>
        </p:nvSpPr>
        <p:spPr>
          <a:xfrm>
            <a:off x="457200" y="457200"/>
            <a:ext cx="11277600" cy="1173480"/>
          </a:xfrm>
          <a:prstGeom prst="rect">
            <a:avLst/>
          </a:prstGeom>
          <a:noFill/>
          <a:ln>
            <a:noFill/>
          </a:ln>
        </p:spPr>
        <p:txBody>
          <a:bodyPr wrap="square" lIns="0" tIns="0" rIns="0" bIns="0" rtlCol="0" anchor="t">
            <a:noAutofit/>
          </a:bodyPr>
          <a:lstStyle/>
          <a:p>
            <a:pPr>
              <a:lnSpc>
                <a:spcPts val="4620"/>
              </a:lnSpc>
              <a:buNone/>
            </a:pPr>
            <a:r>
              <a:rPr lang="de-DE" sz="4200" dirty="0">
                <a:solidFill>
                  <a:schemeClr val="tx1"/>
                </a:solidFill>
                <a:latin typeface="Arial"/>
                <a:ea typeface="Arial"/>
                <a:cs typeface="Arial"/>
              </a:rPr>
              <a:t>Nordlicht verkauft Strom in Stunden, die es nicht kennt</a:t>
            </a:r>
            <a:endParaRPr lang="de-DE" sz="4200" dirty="0"/>
          </a:p>
        </p:txBody>
      </p:sp>
      <p:sp>
        <p:nvSpPr>
          <p:cNvPr id="3" name="copy:document#subtitle"/>
          <p:cNvSpPr txBox="1"/>
          <p:nvPr/>
        </p:nvSpPr>
        <p:spPr>
          <a:xfrm>
            <a:off x="457200" y="1859280"/>
            <a:ext cx="11277600" cy="544830"/>
          </a:xfrm>
          <a:prstGeom prst="rect">
            <a:avLst/>
          </a:prstGeom>
          <a:noFill/>
          <a:ln>
            <a:noFill/>
          </a:ln>
        </p:spPr>
        <p:txBody>
          <a:bodyPr wrap="square" lIns="0" tIns="0" rIns="0" bIns="0" rtlCol="0" anchor="t">
            <a:noAutofit/>
          </a:bodyPr>
          <a:lstStyle/>
          <a:p>
            <a:pPr>
              <a:lnSpc>
                <a:spcPts val="2145"/>
              </a:lnSpc>
              <a:buNone/>
            </a:pPr>
            <a:r>
              <a:rPr lang="de-DE" sz="1650" dirty="0">
                <a:solidFill>
                  <a:schemeClr val="tx2"/>
                </a:solidFill>
                <a:latin typeface="Arial"/>
                <a:ea typeface="Arial"/>
                <a:cs typeface="Arial"/>
              </a:rPr>
              <a:t>Wie sollte ein norddeutscher Windparkbetreiber auf negative Börsenpreise und kurzfristige Abregelung reagieren?</a:t>
            </a:r>
            <a:endParaRPr lang="de-DE" sz="1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u-slide-1">
    <p:bg>
      <p:bgPr>
        <a:solidFill>
          <a:schemeClr val="bg1"/>
        </a:solidFill>
        <a:effectLst/>
      </p:bgPr>
    </p:bg>
    <p:spTree>
      <p:nvGrpSpPr>
        <p:cNvPr id="1" name=""/>
        <p:cNvGrpSpPr/>
        <p:nvPr/>
      </p:nvGrpSpPr>
      <p:grpSpPr>
        <a:xfrm>
          <a:off x="0" y="0"/>
          <a:ext cx="0" cy="0"/>
          <a:chOff x="0" y="0"/>
          <a:chExt cx="0" cy="0"/>
        </a:xfrm>
      </p:grpSpPr>
      <p:sp>
        <p:nvSpPr>
          <p:cNvPr id="2" name="rule:u-slide-1"/>
          <p:cNvSpPr/>
          <p:nvPr/>
        </p:nvSpPr>
        <p:spPr>
          <a:xfrm>
            <a:off x="266700" y="457200"/>
            <a:ext cx="57150" cy="1173480"/>
          </a:xfrm>
          <a:prstGeom prst="rect">
            <a:avLst/>
          </a:prstGeom>
          <a:solidFill>
            <a:schemeClr val="accent1"/>
          </a:solidFill>
          <a:ln>
            <a:noFill/>
          </a:ln>
        </p:spPr>
      </p:sp>
      <p:sp>
        <p:nvSpPr>
          <p:cNvPr id="3" name="copy:slide-1#headline"/>
          <p:cNvSpPr txBox="1"/>
          <p:nvPr/>
        </p:nvSpPr>
        <p:spPr>
          <a:xfrm>
            <a:off x="457200" y="457200"/>
            <a:ext cx="11277600" cy="1173480"/>
          </a:xfrm>
          <a:prstGeom prst="rect">
            <a:avLst/>
          </a:prstGeom>
          <a:noFill/>
          <a:ln>
            <a:noFill/>
          </a:ln>
        </p:spPr>
        <p:txBody>
          <a:bodyPr wrap="square" lIns="0" tIns="0" rIns="0" bIns="0" rtlCol="0" anchor="t">
            <a:noAutofit/>
          </a:bodyPr>
          <a:lstStyle/>
          <a:p>
            <a:pPr>
              <a:lnSpc>
                <a:spcPts val="4620"/>
              </a:lnSpc>
              <a:buNone/>
            </a:pPr>
            <a:r>
              <a:rPr lang="de-DE" sz="4200" dirty="0">
                <a:solidFill>
                  <a:schemeClr val="tx1"/>
                </a:solidFill>
                <a:latin typeface="Arial"/>
                <a:ea typeface="Arial"/>
                <a:cs typeface="Arial"/>
              </a:rPr>
              <a:t>Nordlicht verkauft Strom in Stunden, die es nicht kennt</a:t>
            </a:r>
            <a:endParaRPr lang="de-DE" sz="4200" dirty="0"/>
          </a:p>
        </p:txBody>
      </p:sp>
      <p:sp>
        <p:nvSpPr>
          <p:cNvPr id="4" name="copy:slide-1#slide_points"/>
          <p:cNvSpPr txBox="1"/>
          <p:nvPr/>
        </p:nvSpPr>
        <p:spPr>
          <a:xfrm>
            <a:off x="457200" y="1859280"/>
            <a:ext cx="11277600" cy="1045845"/>
          </a:xfrm>
          <a:prstGeom prst="rect">
            <a:avLst/>
          </a:prstGeom>
          <a:noFill/>
          <a:ln>
            <a:noFill/>
          </a:ln>
        </p:spPr>
        <p:txBody>
          <a:bodyPr wrap="square" lIns="0" tIns="0" rIns="0" bIns="0" rtlCol="0" anchor="t">
            <a:noAutofit/>
          </a:bodyPr>
          <a:lstStyle/>
          <a:p>
            <a:pPr marL="171450" indent="-171450">
              <a:lnSpc>
                <a:spcPts val="2145"/>
              </a:lnSpc>
              <a:buFont typeface="Arial"/>
              <a:buChar char="•"/>
            </a:pPr>
            <a:r>
              <a:rPr lang="de-DE" sz="1650" dirty="0">
                <a:solidFill>
                  <a:schemeClr val="tx1"/>
                </a:solidFill>
                <a:latin typeface="Arial"/>
                <a:ea typeface="Arial"/>
                <a:cs typeface="Arial"/>
              </a:rPr>
              <a:t>38 Prozent der Jahresmenge in den billigsten Stunden </a:t>
            </a:r>
            <a:r>
              <a:rPr lang="de-DE" sz="1650" dirty="0">
                <a:solidFill>
                  <a:schemeClr val="tx1"/>
                </a:solidFill>
                <a:latin typeface="Arial"/>
                <a:ea typeface="Arial"/>
                <a:cs typeface="Arial"/>
                <a:hlinkClick r:id="rId1"/>
              </a:rPr>
              <a:t>[2]</a:t>
            </a:r>
            <a:endParaRPr lang="de-DE" sz="1650" dirty="0"/>
          </a:p>
          <a:p>
            <a:pPr marL="171450" indent="-171450">
              <a:lnSpc>
                <a:spcPts val="2145"/>
              </a:lnSpc>
              <a:spcBef>
                <a:spcPts val="900"/>
              </a:spcBef>
              <a:buFont typeface="Arial"/>
              <a:buChar char="•"/>
            </a:pPr>
            <a:r>
              <a:rPr lang="de-DE" sz="1650" dirty="0">
                <a:solidFill>
                  <a:schemeClr val="tx1"/>
                </a:solidFill>
                <a:latin typeface="Arial"/>
                <a:ea typeface="Arial"/>
                <a:cs typeface="Arial"/>
              </a:rPr>
              <a:t>19 Minuten Vorlauf bis zur Abregelung </a:t>
            </a:r>
            <a:r>
              <a:rPr lang="de-DE" sz="1650" dirty="0">
                <a:solidFill>
                  <a:schemeClr val="tx1"/>
                </a:solidFill>
                <a:latin typeface="Arial"/>
                <a:ea typeface="Arial"/>
                <a:cs typeface="Arial"/>
                <a:hlinkClick r:id="rId2"/>
              </a:rPr>
              <a:t>[1]</a:t>
            </a:r>
            <a:endParaRPr lang="de-DE" sz="1650" dirty="0"/>
          </a:p>
          <a:p>
            <a:pPr marL="171450" indent="-171450">
              <a:lnSpc>
                <a:spcPts val="2145"/>
              </a:lnSpc>
              <a:spcBef>
                <a:spcPts val="900"/>
              </a:spcBef>
              <a:buFont typeface="Arial"/>
              <a:buChar char="•"/>
            </a:pPr>
            <a:r>
              <a:rPr lang="de-DE" sz="1650" dirty="0">
                <a:solidFill>
                  <a:schemeClr val="tx1"/>
                </a:solidFill>
                <a:latin typeface="Arial"/>
                <a:ea typeface="Arial"/>
                <a:cs typeface="Arial"/>
              </a:rPr>
              <a:t>Die Geschäftsführung entscheidet im zweiten Quartal 2027</a:t>
            </a:r>
            <a:endParaRPr lang="de-DE" sz="1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u-slide-2">
    <p:bg>
      <p:bgPr>
        <a:solidFill>
          <a:schemeClr val="bg1"/>
        </a:solidFill>
        <a:effectLst/>
      </p:bgPr>
    </p:bg>
    <p:spTree>
      <p:nvGrpSpPr>
        <p:cNvPr id="1" name=""/>
        <p:cNvGrpSpPr/>
        <p:nvPr/>
      </p:nvGrpSpPr>
      <p:grpSpPr>
        <a:xfrm>
          <a:off x="0" y="0"/>
          <a:ext cx="0" cy="0"/>
          <a:chOff x="0" y="0"/>
          <a:chExt cx="0" cy="0"/>
        </a:xfrm>
      </p:grpSpPr>
      <p:sp>
        <p:nvSpPr>
          <p:cNvPr id="2" name="copy:slide-2#headline"/>
          <p:cNvSpPr txBox="1"/>
          <p:nvPr/>
        </p:nvSpPr>
        <p:spPr>
          <a:xfrm>
            <a:off x="457200" y="457200"/>
            <a:ext cx="11277600" cy="342900"/>
          </a:xfrm>
          <a:prstGeom prst="rect">
            <a:avLst/>
          </a:prstGeom>
          <a:noFill/>
          <a:ln>
            <a:noFill/>
          </a:ln>
        </p:spPr>
        <p:txBody>
          <a:bodyPr wrap="square" lIns="0" tIns="0" rIns="0" bIns="0" rtlCol="0" anchor="t">
            <a:noAutofit/>
          </a:bodyPr>
          <a:lstStyle/>
          <a:p>
            <a:pPr>
              <a:lnSpc>
                <a:spcPts val="2700"/>
              </a:lnSpc>
              <a:buNone/>
            </a:pPr>
            <a:r>
              <a:rPr lang="de-DE" sz="2250" dirty="0">
                <a:solidFill>
                  <a:schemeClr val="tx1"/>
                </a:solidFill>
                <a:latin typeface="Arial"/>
                <a:ea typeface="Arial"/>
                <a:cs typeface="Arial"/>
              </a:rPr>
              <a:t>Nordlicht vermarktet seine Menge, nicht seine Stunden</a:t>
            </a:r>
            <a:endParaRPr lang="de-DE" sz="2250" dirty="0"/>
          </a:p>
        </p:txBody>
      </p:sp>
      <p:sp>
        <p:nvSpPr>
          <p:cNvPr id="3" name="rule:slide-2#slide_points#0"/>
          <p:cNvSpPr/>
          <p:nvPr/>
        </p:nvSpPr>
        <p:spPr>
          <a:xfrm>
            <a:off x="457200" y="952500"/>
            <a:ext cx="2647950" cy="28575"/>
          </a:xfrm>
          <a:prstGeom prst="rect">
            <a:avLst/>
          </a:prstGeom>
          <a:solidFill>
            <a:schemeClr val="accent1"/>
          </a:solidFill>
          <a:ln>
            <a:noFill/>
          </a:ln>
        </p:spPr>
      </p:sp>
      <p:sp>
        <p:nvSpPr>
          <p:cNvPr id="4" name="copy:slide-2#slide_points#0"/>
          <p:cNvSpPr txBox="1"/>
          <p:nvPr/>
        </p:nvSpPr>
        <p:spPr>
          <a:xfrm>
            <a:off x="457200" y="1028700"/>
            <a:ext cx="2647950" cy="544830"/>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214 Gigawattstunden Jahresmenge </a:t>
            </a:r>
            <a:r>
              <a:rPr lang="de-DE" sz="1650" dirty="0">
                <a:solidFill>
                  <a:schemeClr val="tx1"/>
                </a:solidFill>
                <a:latin typeface="Arial"/>
                <a:ea typeface="Arial"/>
                <a:cs typeface="Arial"/>
                <a:hlinkClick r:id="rId1"/>
              </a:rPr>
              <a:t>[2]</a:t>
            </a:r>
            <a:endParaRPr lang="de-DE" sz="1650" dirty="0"/>
          </a:p>
        </p:txBody>
      </p:sp>
      <p:sp>
        <p:nvSpPr>
          <p:cNvPr id="5" name="rule:slide-2#slide_points#1"/>
          <p:cNvSpPr/>
          <p:nvPr/>
        </p:nvSpPr>
        <p:spPr>
          <a:xfrm>
            <a:off x="3333750" y="952500"/>
            <a:ext cx="2647950" cy="28575"/>
          </a:xfrm>
          <a:prstGeom prst="rect">
            <a:avLst/>
          </a:prstGeom>
          <a:solidFill>
            <a:schemeClr val="accent1"/>
          </a:solidFill>
          <a:ln>
            <a:noFill/>
          </a:ln>
        </p:spPr>
      </p:sp>
      <p:sp>
        <p:nvSpPr>
          <p:cNvPr id="6" name="copy:slide-2#slide_points#1"/>
          <p:cNvSpPr txBox="1"/>
          <p:nvPr/>
        </p:nvSpPr>
        <p:spPr>
          <a:xfrm>
            <a:off x="3333750" y="1028700"/>
            <a:ext cx="2647950" cy="544830"/>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19 Minuten Vorlauf bis zur Abregelung </a:t>
            </a:r>
            <a:r>
              <a:rPr lang="de-DE" sz="1650" dirty="0">
                <a:solidFill>
                  <a:schemeClr val="tx1"/>
                </a:solidFill>
                <a:latin typeface="Arial"/>
                <a:ea typeface="Arial"/>
                <a:cs typeface="Arial"/>
                <a:hlinkClick r:id="rId2"/>
              </a:rPr>
              <a:t>[1]</a:t>
            </a:r>
            <a:endParaRPr lang="de-DE" sz="1650" dirty="0"/>
          </a:p>
        </p:txBody>
      </p:sp>
      <p:sp>
        <p:nvSpPr>
          <p:cNvPr id="7" name="rule:slide-2#slide_points#2"/>
          <p:cNvSpPr/>
          <p:nvPr/>
        </p:nvSpPr>
        <p:spPr>
          <a:xfrm>
            <a:off x="6210300" y="952500"/>
            <a:ext cx="2647950" cy="28575"/>
          </a:xfrm>
          <a:prstGeom prst="rect">
            <a:avLst/>
          </a:prstGeom>
          <a:solidFill>
            <a:schemeClr val="accent1"/>
          </a:solidFill>
          <a:ln>
            <a:noFill/>
          </a:ln>
        </p:spPr>
      </p:sp>
      <p:sp>
        <p:nvSpPr>
          <p:cNvPr id="8" name="copy:slide-2#slide_points#2"/>
          <p:cNvSpPr txBox="1"/>
          <p:nvPr/>
        </p:nvSpPr>
        <p:spPr>
          <a:xfrm>
            <a:off x="6210300" y="1028700"/>
            <a:ext cx="2647950" cy="544830"/>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drei Systeme ohne gemeinsamen Fahrplan</a:t>
            </a:r>
            <a:endParaRPr lang="de-DE" sz="1650" dirty="0"/>
          </a:p>
        </p:txBody>
      </p:sp>
      <p:sp>
        <p:nvSpPr>
          <p:cNvPr id="9" name="rule:slide-2#slide_points#3"/>
          <p:cNvSpPr/>
          <p:nvPr/>
        </p:nvSpPr>
        <p:spPr>
          <a:xfrm>
            <a:off x="9086850" y="952500"/>
            <a:ext cx="2647950" cy="28575"/>
          </a:xfrm>
          <a:prstGeom prst="rect">
            <a:avLst/>
          </a:prstGeom>
          <a:solidFill>
            <a:schemeClr val="accent1"/>
          </a:solidFill>
          <a:ln>
            <a:noFill/>
          </a:ln>
        </p:spPr>
      </p:sp>
      <p:sp>
        <p:nvSpPr>
          <p:cNvPr id="10" name="copy:slide-2#slide_points#3"/>
          <p:cNvSpPr txBox="1"/>
          <p:nvPr/>
        </p:nvSpPr>
        <p:spPr>
          <a:xfrm>
            <a:off x="9086850" y="1028700"/>
            <a:ext cx="2647950" cy="544830"/>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Keines dieser Systeme liest das andere</a:t>
            </a:r>
            <a:endParaRPr lang="de-DE" sz="1650" dirty="0"/>
          </a:p>
        </p:txBody>
      </p:sp>
      <p:sp>
        <p:nvSpPr>
          <p:cNvPr id="11" name="copy:slide-2#evidence_status"/>
          <p:cNvSpPr txBox="1"/>
          <p:nvPr/>
        </p:nvSpPr>
        <p:spPr>
          <a:xfrm>
            <a:off x="457200" y="1802130"/>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2"/>
                </a:solidFill>
                <a:latin typeface="Arial"/>
                <a:ea typeface="Arial"/>
                <a:cs typeface="Arial"/>
              </a:rPr>
              <a:t>direct</a:t>
            </a:r>
            <a:endParaRPr lang="de-DE" sz="1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u-slide-3">
    <p:bg>
      <p:bgPr>
        <a:solidFill>
          <a:schemeClr val="bg1"/>
        </a:solidFill>
        <a:effectLst/>
      </p:bgPr>
    </p:bg>
    <p:spTree>
      <p:nvGrpSpPr>
        <p:cNvPr id="1" name=""/>
        <p:cNvGrpSpPr/>
        <p:nvPr/>
      </p:nvGrpSpPr>
      <p:grpSpPr>
        <a:xfrm>
          <a:off x="0" y="0"/>
          <a:ext cx="0" cy="0"/>
          <a:chOff x="0" y="0"/>
          <a:chExt cx="0" cy="0"/>
        </a:xfrm>
      </p:grpSpPr>
      <p:sp>
        <p:nvSpPr>
          <p:cNvPr id="2" name="copy:slide-3#headline"/>
          <p:cNvSpPr txBox="1"/>
          <p:nvPr/>
        </p:nvSpPr>
        <p:spPr>
          <a:xfrm>
            <a:off x="457200" y="457200"/>
            <a:ext cx="11277600" cy="342900"/>
          </a:xfrm>
          <a:prstGeom prst="rect">
            <a:avLst/>
          </a:prstGeom>
          <a:noFill/>
          <a:ln>
            <a:noFill/>
          </a:ln>
        </p:spPr>
        <p:txBody>
          <a:bodyPr wrap="square" lIns="0" tIns="0" rIns="0" bIns="0" rtlCol="0" anchor="t">
            <a:noAutofit/>
          </a:bodyPr>
          <a:lstStyle/>
          <a:p>
            <a:pPr>
              <a:lnSpc>
                <a:spcPts val="2700"/>
              </a:lnSpc>
              <a:buNone/>
            </a:pPr>
            <a:r>
              <a:rPr lang="de-DE" sz="2250" dirty="0">
                <a:solidFill>
                  <a:schemeClr val="tx1"/>
                </a:solidFill>
                <a:latin typeface="Arial"/>
                <a:ea typeface="Arial"/>
                <a:cs typeface="Arial"/>
              </a:rPr>
              <a:t>Der Engpass ist von der Anlage zum Fahrplan gewandert</a:t>
            </a:r>
            <a:endParaRPr lang="de-DE" sz="2250" dirty="0"/>
          </a:p>
        </p:txBody>
      </p:sp>
      <p:sp>
        <p:nvSpPr>
          <p:cNvPr id="3" name="copy:slide-3#slide_points#0"/>
          <p:cNvSpPr/>
          <p:nvPr/>
        </p:nvSpPr>
        <p:spPr>
          <a:xfrm>
            <a:off x="457200" y="1028700"/>
            <a:ext cx="8801100" cy="577215"/>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145"/>
              </a:lnSpc>
              <a:buNone/>
            </a:pPr>
            <a:r>
              <a:rPr lang="de-DE" sz="1650" dirty="0">
                <a:solidFill>
                  <a:schemeClr val="tx1"/>
                </a:solidFill>
                <a:latin typeface="Arial"/>
                <a:ea typeface="Arial"/>
                <a:cs typeface="Arial"/>
              </a:rPr>
              <a:t>6,80 Euro je Megawattstunde Erlösdifferenz </a:t>
            </a:r>
            <a:r>
              <a:rPr lang="de-DE" sz="1650" dirty="0">
                <a:solidFill>
                  <a:schemeClr val="tx1"/>
                </a:solidFill>
                <a:latin typeface="Arial"/>
                <a:ea typeface="Arial"/>
                <a:cs typeface="Arial"/>
                <a:hlinkClick r:id="rId1"/>
              </a:rPr>
              <a:t>[2]</a:t>
            </a:r>
            <a:endParaRPr lang="de-DE" sz="1650" dirty="0"/>
          </a:p>
        </p:txBody>
      </p:sp>
      <p:sp>
        <p:nvSpPr>
          <p:cNvPr id="4" name="copy:slide-3#slide_points#1"/>
          <p:cNvSpPr/>
          <p:nvPr/>
        </p:nvSpPr>
        <p:spPr>
          <a:xfrm>
            <a:off x="457200" y="1834515"/>
            <a:ext cx="8801100" cy="577215"/>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145"/>
              </a:lnSpc>
              <a:buNone/>
            </a:pPr>
            <a:r>
              <a:rPr lang="de-DE" sz="1650" dirty="0">
                <a:solidFill>
                  <a:schemeClr val="tx1"/>
                </a:solidFill>
                <a:latin typeface="Arial"/>
                <a:ea typeface="Arial"/>
                <a:cs typeface="Arial"/>
              </a:rPr>
              <a:t>412 Stunden mit negativem Preis </a:t>
            </a:r>
            <a:r>
              <a:rPr lang="de-DE" sz="1650" dirty="0">
                <a:solidFill>
                  <a:schemeClr val="tx1"/>
                </a:solidFill>
                <a:latin typeface="Arial"/>
                <a:ea typeface="Arial"/>
                <a:cs typeface="Arial"/>
                <a:hlinkClick r:id="rId1"/>
              </a:rPr>
              <a:t>[2]</a:t>
            </a:r>
            <a:endParaRPr lang="de-DE" sz="1650" dirty="0"/>
          </a:p>
        </p:txBody>
      </p:sp>
      <p:sp>
        <p:nvSpPr>
          <p:cNvPr id="5" name="copy:slide-3#slide_points#2"/>
          <p:cNvSpPr/>
          <p:nvPr/>
        </p:nvSpPr>
        <p:spPr>
          <a:xfrm>
            <a:off x="457200" y="2640330"/>
            <a:ext cx="8801100" cy="577215"/>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145"/>
              </a:lnSpc>
              <a:buNone/>
            </a:pPr>
            <a:r>
              <a:rPr lang="de-DE" sz="1650" dirty="0">
                <a:solidFill>
                  <a:schemeClr val="tx1"/>
                </a:solidFill>
                <a:latin typeface="Arial"/>
                <a:ea typeface="Arial"/>
                <a:cs typeface="Arial"/>
              </a:rPr>
              <a:t>Die Ausschreibung läuft im Januar 2028 </a:t>
            </a:r>
            <a:r>
              <a:rPr lang="de-DE" sz="1650" dirty="0">
                <a:solidFill>
                  <a:schemeClr val="tx1"/>
                </a:solidFill>
                <a:latin typeface="Arial"/>
                <a:ea typeface="Arial"/>
                <a:cs typeface="Arial"/>
                <a:hlinkClick r:id="rId2"/>
              </a:rPr>
              <a:t>[3]</a:t>
            </a:r>
            <a:endParaRPr lang="de-DE" sz="1650" dirty="0"/>
          </a:p>
        </p:txBody>
      </p:sp>
      <p:cxnSp>
        <p:nvCxnSpPr>
          <p:cNvPr id="6" name="edge:e1:e2"/>
          <p:cNvCxnSpPr>
            <a:stCxn id="3" idx="3"/>
            <a:endCxn id="4" idx="3"/>
          </p:cNvCxnSpPr>
          <p:nvPr/>
        </p:nvCxnSpPr>
        <p:spPr>
          <a:xfrm>
            <a:off x="9258300" y="1317308"/>
            <a:ext cx="12700" cy="805815"/>
          </a:xfrm>
          <a:prstGeom prst="bentConnector3">
            <a:avLst>
              <a:gd name="adj1" fmla="val 3000000"/>
            </a:avLst>
          </a:prstGeom>
          <a:ln w="19050">
            <a:solidFill>
              <a:schemeClr val="accent1"/>
            </a:solidFill>
            <a:tailEnd type="triangle"/>
          </a:ln>
        </p:spPr>
      </p:cxnSp>
      <p:sp>
        <p:nvSpPr>
          <p:cNvPr id="7" name="kind:e1:e2"/>
          <p:cNvSpPr txBox="1"/>
          <p:nvPr/>
        </p:nvSpPr>
        <p:spPr>
          <a:xfrm>
            <a:off x="10001250" y="1620203"/>
            <a:ext cx="2114550" cy="200025"/>
          </a:xfrm>
          <a:prstGeom prst="rect">
            <a:avLst/>
          </a:prstGeom>
          <a:noFill/>
          <a:ln>
            <a:noFill/>
          </a:ln>
        </p:spPr>
        <p:txBody>
          <a:bodyPr wrap="none" lIns="0" tIns="0" rIns="0" bIns="0" rtlCol="0" anchor="t">
            <a:noAutofit/>
          </a:bodyPr>
          <a:lstStyle/>
          <a:p>
            <a:pPr>
              <a:lnSpc>
                <a:spcPts val="1575"/>
              </a:lnSpc>
              <a:buNone/>
            </a:pPr>
            <a:r>
              <a:rPr lang="de-DE" sz="1050" dirty="0">
                <a:solidFill>
                  <a:schemeClr val="tx2"/>
                </a:solidFill>
                <a:latin typeface="Arial"/>
                <a:ea typeface="Arial"/>
                <a:cs typeface="Arial"/>
              </a:rPr>
              <a:t>converges-with</a:t>
            </a:r>
            <a:endParaRPr lang="de-DE" sz="1050" dirty="0"/>
          </a:p>
        </p:txBody>
      </p:sp>
      <p:cxnSp>
        <p:nvCxnSpPr>
          <p:cNvPr id="8" name="edge:e2:e3"/>
          <p:cNvCxnSpPr>
            <a:stCxn id="4" idx="3"/>
            <a:endCxn id="5" idx="3"/>
          </p:cNvCxnSpPr>
          <p:nvPr/>
        </p:nvCxnSpPr>
        <p:spPr>
          <a:xfrm>
            <a:off x="9258300" y="2123122"/>
            <a:ext cx="12700" cy="805815"/>
          </a:xfrm>
          <a:prstGeom prst="bentConnector3">
            <a:avLst>
              <a:gd name="adj1" fmla="val 5250000"/>
            </a:avLst>
          </a:prstGeom>
          <a:ln w="19050">
            <a:solidFill>
              <a:schemeClr val="accent1"/>
            </a:solidFill>
            <a:tailEnd type="triangle"/>
          </a:ln>
        </p:spPr>
      </p:cxnSp>
      <p:sp>
        <p:nvSpPr>
          <p:cNvPr id="9" name="kind:e2:e3"/>
          <p:cNvSpPr txBox="1"/>
          <p:nvPr/>
        </p:nvSpPr>
        <p:spPr>
          <a:xfrm>
            <a:off x="10001250" y="2426018"/>
            <a:ext cx="2114550" cy="200025"/>
          </a:xfrm>
          <a:prstGeom prst="rect">
            <a:avLst/>
          </a:prstGeom>
          <a:noFill/>
          <a:ln>
            <a:noFill/>
          </a:ln>
        </p:spPr>
        <p:txBody>
          <a:bodyPr wrap="none" lIns="0" tIns="0" rIns="0" bIns="0" rtlCol="0" anchor="t">
            <a:noAutofit/>
          </a:bodyPr>
          <a:lstStyle/>
          <a:p>
            <a:pPr>
              <a:lnSpc>
                <a:spcPts val="1575"/>
              </a:lnSpc>
              <a:buNone/>
            </a:pPr>
            <a:r>
              <a:rPr lang="de-DE" sz="1050" dirty="0">
                <a:solidFill>
                  <a:schemeClr val="tx2"/>
                </a:solidFill>
                <a:latin typeface="Arial"/>
                <a:ea typeface="Arial"/>
                <a:cs typeface="Arial"/>
              </a:rPr>
              <a:t>converges-with</a:t>
            </a:r>
            <a:endParaRPr lang="de-DE" sz="1050" dirty="0"/>
          </a:p>
        </p:txBody>
      </p:sp>
      <p:sp>
        <p:nvSpPr>
          <p:cNvPr id="10" name="copy:slide-3#evidence_status"/>
          <p:cNvSpPr txBox="1"/>
          <p:nvPr/>
        </p:nvSpPr>
        <p:spPr>
          <a:xfrm>
            <a:off x="457200" y="3446145"/>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2"/>
                </a:solidFill>
                <a:latin typeface="Arial"/>
                <a:ea typeface="Arial"/>
                <a:cs typeface="Arial"/>
              </a:rPr>
              <a:t>triangulated</a:t>
            </a:r>
            <a:endParaRPr lang="de-DE"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u-slide-4">
    <p:bg>
      <p:bgPr>
        <a:solidFill>
          <a:schemeClr val="bg1"/>
        </a:solidFill>
        <a:effectLst/>
      </p:bgPr>
    </p:bg>
    <p:spTree>
      <p:nvGrpSpPr>
        <p:cNvPr id="1" name=""/>
        <p:cNvGrpSpPr/>
        <p:nvPr/>
      </p:nvGrpSpPr>
      <p:grpSpPr>
        <a:xfrm>
          <a:off x="0" y="0"/>
          <a:ext cx="0" cy="0"/>
          <a:chOff x="0" y="0"/>
          <a:chExt cx="0" cy="0"/>
        </a:xfrm>
      </p:grpSpPr>
      <p:sp>
        <p:nvSpPr>
          <p:cNvPr id="2" name="copy:slide-4#headline"/>
          <p:cNvSpPr txBox="1"/>
          <p:nvPr/>
        </p:nvSpPr>
        <p:spPr>
          <a:xfrm>
            <a:off x="457200" y="457200"/>
            <a:ext cx="11277600" cy="342900"/>
          </a:xfrm>
          <a:prstGeom prst="rect">
            <a:avLst/>
          </a:prstGeom>
          <a:noFill/>
          <a:ln>
            <a:noFill/>
          </a:ln>
        </p:spPr>
        <p:txBody>
          <a:bodyPr wrap="square" lIns="0" tIns="0" rIns="0" bIns="0" rtlCol="0" anchor="t">
            <a:noAutofit/>
          </a:bodyPr>
          <a:lstStyle/>
          <a:p>
            <a:pPr>
              <a:lnSpc>
                <a:spcPts val="2700"/>
              </a:lnSpc>
              <a:buNone/>
            </a:pPr>
            <a:r>
              <a:rPr lang="de-DE" sz="2250" dirty="0">
                <a:solidFill>
                  <a:schemeClr val="tx1"/>
                </a:solidFill>
                <a:latin typeface="Arial"/>
                <a:ea typeface="Arial"/>
                <a:cs typeface="Arial"/>
              </a:rPr>
              <a:t>Ein gemeinsamer Fahrplan aus Prognose, Preis und Anlage</a:t>
            </a:r>
            <a:endParaRPr lang="de-DE" sz="2250" dirty="0"/>
          </a:p>
        </p:txBody>
      </p:sp>
      <p:sp>
        <p:nvSpPr>
          <p:cNvPr id="3" name="copy:slide-4#slide_points#0"/>
          <p:cNvSpPr/>
          <p:nvPr/>
        </p:nvSpPr>
        <p:spPr>
          <a:xfrm>
            <a:off x="457200" y="1028700"/>
            <a:ext cx="8801100" cy="577215"/>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145"/>
              </a:lnSpc>
              <a:buNone/>
            </a:pPr>
            <a:r>
              <a:rPr lang="de-DE" sz="1650" dirty="0">
                <a:solidFill>
                  <a:schemeClr val="tx1"/>
                </a:solidFill>
                <a:latin typeface="Arial"/>
                <a:ea typeface="Arial"/>
                <a:cs typeface="Arial"/>
              </a:rPr>
              <a:t>4,10 Euro je Megawattstunde Mehrerlös </a:t>
            </a:r>
            <a:r>
              <a:rPr lang="de-DE" sz="1650" dirty="0">
                <a:solidFill>
                  <a:schemeClr val="tx1"/>
                </a:solidFill>
                <a:latin typeface="Arial"/>
                <a:ea typeface="Arial"/>
                <a:cs typeface="Arial"/>
                <a:hlinkClick r:id="rId1"/>
              </a:rPr>
              <a:t>[2]</a:t>
            </a:r>
            <a:endParaRPr lang="de-DE" sz="1650" dirty="0"/>
          </a:p>
        </p:txBody>
      </p:sp>
      <p:sp>
        <p:nvSpPr>
          <p:cNvPr id="4" name="copy:slide-4#slide_points#1"/>
          <p:cNvSpPr/>
          <p:nvPr/>
        </p:nvSpPr>
        <p:spPr>
          <a:xfrm>
            <a:off x="457200" y="1834515"/>
            <a:ext cx="8801100" cy="577215"/>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145"/>
              </a:lnSpc>
              <a:buNone/>
            </a:pPr>
            <a:r>
              <a:rPr lang="de-DE" sz="1650" dirty="0">
                <a:solidFill>
                  <a:schemeClr val="tx1"/>
                </a:solidFill>
                <a:latin typeface="Arial"/>
                <a:ea typeface="Arial"/>
                <a:cs typeface="Arial"/>
              </a:rPr>
              <a:t>36 Stunden Vorlauf statt 19 Minuten </a:t>
            </a:r>
            <a:r>
              <a:rPr lang="de-DE" sz="1650" dirty="0">
                <a:solidFill>
                  <a:schemeClr val="tx1"/>
                </a:solidFill>
                <a:latin typeface="Arial"/>
                <a:ea typeface="Arial"/>
                <a:cs typeface="Arial"/>
                <a:hlinkClick r:id="rId2"/>
              </a:rPr>
              <a:t>[1]</a:t>
            </a:r>
            <a:endParaRPr lang="de-DE" sz="1650" dirty="0"/>
          </a:p>
        </p:txBody>
      </p:sp>
      <p:sp>
        <p:nvSpPr>
          <p:cNvPr id="5" name="copy:slide-4#slide_points#2"/>
          <p:cNvSpPr/>
          <p:nvPr/>
        </p:nvSpPr>
        <p:spPr>
          <a:xfrm>
            <a:off x="457200" y="2640330"/>
            <a:ext cx="8801100" cy="577215"/>
          </a:xfrm>
          <a:prstGeom prst="roundRect">
            <a:avLst/>
          </a:prstGeom>
          <a:solidFill>
            <a:schemeClr val="bg1"/>
          </a:solidFill>
          <a:ln w="9525">
            <a:solidFill>
              <a:schemeClr val="tx1"/>
            </a:solidFill>
          </a:ln>
        </p:spPr>
        <p:txBody>
          <a:bodyPr wrap="square" lIns="152400" tIns="152400" rIns="152400" bIns="152400" rtlCol="0" anchor="ctr">
            <a:noAutofit/>
          </a:bodyPr>
          <a:lstStyle/>
          <a:p>
            <a:pPr>
              <a:lnSpc>
                <a:spcPts val="2145"/>
              </a:lnSpc>
              <a:buNone/>
            </a:pPr>
            <a:r>
              <a:rPr lang="de-DE" sz="1650" dirty="0">
                <a:solidFill>
                  <a:schemeClr val="tx1"/>
                </a:solidFill>
                <a:latin typeface="Arial"/>
                <a:ea typeface="Arial"/>
                <a:cs typeface="Arial"/>
              </a:rPr>
              <a:t>rund 60 Prozent der negativen Stunden </a:t>
            </a:r>
            <a:r>
              <a:rPr lang="de-DE" sz="1650" dirty="0">
                <a:solidFill>
                  <a:schemeClr val="tx1"/>
                </a:solidFill>
                <a:latin typeface="Arial"/>
                <a:ea typeface="Arial"/>
                <a:cs typeface="Arial"/>
                <a:hlinkClick r:id="rId1"/>
              </a:rPr>
              <a:t>[2]</a:t>
            </a:r>
            <a:endParaRPr lang="de-DE" sz="1650" dirty="0"/>
          </a:p>
        </p:txBody>
      </p:sp>
      <p:cxnSp>
        <p:nvCxnSpPr>
          <p:cNvPr id="6" name="edge:e2:e1"/>
          <p:cNvCxnSpPr>
            <a:stCxn id="4" idx="3"/>
            <a:endCxn id="3" idx="3"/>
          </p:cNvCxnSpPr>
          <p:nvPr/>
        </p:nvCxnSpPr>
        <p:spPr>
          <a:xfrm flipV="1">
            <a:off x="9258300" y="1317308"/>
            <a:ext cx="12700" cy="805815"/>
          </a:xfrm>
          <a:prstGeom prst="bentConnector3">
            <a:avLst>
              <a:gd name="adj1" fmla="val 3000000"/>
            </a:avLst>
          </a:prstGeom>
          <a:ln w="19050">
            <a:solidFill>
              <a:schemeClr val="accent1"/>
            </a:solidFill>
            <a:tailEnd type="triangle"/>
          </a:ln>
        </p:spPr>
      </p:cxnSp>
      <p:sp>
        <p:nvSpPr>
          <p:cNvPr id="7" name="kind:e2:e1"/>
          <p:cNvSpPr txBox="1"/>
          <p:nvPr/>
        </p:nvSpPr>
        <p:spPr>
          <a:xfrm>
            <a:off x="10001250" y="1620203"/>
            <a:ext cx="2114550" cy="200025"/>
          </a:xfrm>
          <a:prstGeom prst="rect">
            <a:avLst/>
          </a:prstGeom>
          <a:noFill/>
          <a:ln>
            <a:noFill/>
          </a:ln>
        </p:spPr>
        <p:txBody>
          <a:bodyPr wrap="none" lIns="0" tIns="0" rIns="0" bIns="0" rtlCol="0" anchor="t">
            <a:noAutofit/>
          </a:bodyPr>
          <a:lstStyle/>
          <a:p>
            <a:pPr>
              <a:lnSpc>
                <a:spcPts val="1575"/>
              </a:lnSpc>
              <a:buNone/>
            </a:pPr>
            <a:r>
              <a:rPr lang="de-DE" sz="1050" dirty="0">
                <a:solidFill>
                  <a:schemeClr val="tx2"/>
                </a:solidFill>
                <a:latin typeface="Arial"/>
                <a:ea typeface="Arial"/>
                <a:cs typeface="Arial"/>
              </a:rPr>
              <a:t>depends-on</a:t>
            </a:r>
            <a:endParaRPr lang="de-DE" sz="1050" dirty="0"/>
          </a:p>
        </p:txBody>
      </p:sp>
      <p:cxnSp>
        <p:nvCxnSpPr>
          <p:cNvPr id="8" name="edge:e3:e1"/>
          <p:cNvCxnSpPr>
            <a:stCxn id="5" idx="3"/>
            <a:endCxn id="3" idx="3"/>
          </p:cNvCxnSpPr>
          <p:nvPr/>
        </p:nvCxnSpPr>
        <p:spPr>
          <a:xfrm flipV="1">
            <a:off x="9258300" y="1317308"/>
            <a:ext cx="12700" cy="1611630"/>
          </a:xfrm>
          <a:prstGeom prst="bentConnector3">
            <a:avLst>
              <a:gd name="adj1" fmla="val 5250000"/>
            </a:avLst>
          </a:prstGeom>
          <a:ln w="19050">
            <a:solidFill>
              <a:schemeClr val="accent1"/>
            </a:solidFill>
            <a:tailEnd type="triangle"/>
          </a:ln>
        </p:spPr>
      </p:cxnSp>
      <p:sp>
        <p:nvSpPr>
          <p:cNvPr id="9" name="kind:e3:e1"/>
          <p:cNvSpPr txBox="1"/>
          <p:nvPr/>
        </p:nvSpPr>
        <p:spPr>
          <a:xfrm>
            <a:off x="10001250" y="2023110"/>
            <a:ext cx="2114550" cy="200025"/>
          </a:xfrm>
          <a:prstGeom prst="rect">
            <a:avLst/>
          </a:prstGeom>
          <a:noFill/>
          <a:ln>
            <a:noFill/>
          </a:ln>
        </p:spPr>
        <p:txBody>
          <a:bodyPr wrap="none" lIns="0" tIns="0" rIns="0" bIns="0" rtlCol="0" anchor="t">
            <a:noAutofit/>
          </a:bodyPr>
          <a:lstStyle/>
          <a:p>
            <a:pPr>
              <a:lnSpc>
                <a:spcPts val="1575"/>
              </a:lnSpc>
              <a:buNone/>
            </a:pPr>
            <a:r>
              <a:rPr lang="de-DE" sz="1050" dirty="0">
                <a:solidFill>
                  <a:schemeClr val="tx2"/>
                </a:solidFill>
                <a:latin typeface="Arial"/>
                <a:ea typeface="Arial"/>
                <a:cs typeface="Arial"/>
              </a:rPr>
              <a:t>depends-on</a:t>
            </a:r>
            <a:endParaRPr lang="de-DE" sz="1050" dirty="0"/>
          </a:p>
        </p:txBody>
      </p:sp>
      <p:sp>
        <p:nvSpPr>
          <p:cNvPr id="10" name="copy:slide-4#evidence_status"/>
          <p:cNvSpPr txBox="1"/>
          <p:nvPr/>
        </p:nvSpPr>
        <p:spPr>
          <a:xfrm>
            <a:off x="457200" y="3446145"/>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2"/>
                </a:solidFill>
                <a:latin typeface="Arial"/>
                <a:ea typeface="Arial"/>
                <a:cs typeface="Arial"/>
              </a:rPr>
              <a:t>interpretation</a:t>
            </a:r>
            <a:endParaRPr lang="de-DE"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u-slide-5">
    <p:bg>
      <p:bgPr>
        <a:solidFill>
          <a:schemeClr val="bg1"/>
        </a:solidFill>
        <a:effectLst/>
      </p:bgPr>
    </p:bg>
    <p:spTree>
      <p:nvGrpSpPr>
        <p:cNvPr id="1" name=""/>
        <p:cNvGrpSpPr/>
        <p:nvPr/>
      </p:nvGrpSpPr>
      <p:grpSpPr>
        <a:xfrm>
          <a:off x="0" y="0"/>
          <a:ext cx="0" cy="0"/>
          <a:chOff x="0" y="0"/>
          <a:chExt cx="0" cy="0"/>
        </a:xfrm>
      </p:grpSpPr>
      <p:sp>
        <p:nvSpPr>
          <p:cNvPr id="2" name="copy:slide-5#headline"/>
          <p:cNvSpPr txBox="1"/>
          <p:nvPr/>
        </p:nvSpPr>
        <p:spPr>
          <a:xfrm>
            <a:off x="457200" y="457200"/>
            <a:ext cx="11277600" cy="342900"/>
          </a:xfrm>
          <a:prstGeom prst="rect">
            <a:avLst/>
          </a:prstGeom>
          <a:noFill/>
          <a:ln>
            <a:noFill/>
          </a:ln>
        </p:spPr>
        <p:txBody>
          <a:bodyPr wrap="square" lIns="0" tIns="0" rIns="0" bIns="0" rtlCol="0" anchor="t">
            <a:noAutofit/>
          </a:bodyPr>
          <a:lstStyle/>
          <a:p>
            <a:pPr>
              <a:lnSpc>
                <a:spcPts val="2700"/>
              </a:lnSpc>
              <a:buNone/>
            </a:pPr>
            <a:r>
              <a:rPr lang="de-DE" sz="2250" dirty="0">
                <a:solidFill>
                  <a:schemeClr val="tx1"/>
                </a:solidFill>
                <a:latin typeface="Arial"/>
                <a:ea typeface="Arial"/>
                <a:cs typeface="Arial"/>
              </a:rPr>
              <a:t>Die Geschäftsführung entscheidet im zweiten Quartal 2027</a:t>
            </a:r>
            <a:endParaRPr lang="de-DE" sz="2250" dirty="0"/>
          </a:p>
        </p:txBody>
      </p:sp>
      <p:sp>
        <p:nvSpPr>
          <p:cNvPr id="3" name="rule:slide-5#slide_points#0"/>
          <p:cNvSpPr/>
          <p:nvPr/>
        </p:nvSpPr>
        <p:spPr>
          <a:xfrm>
            <a:off x="342900" y="1028700"/>
            <a:ext cx="28575" cy="272415"/>
          </a:xfrm>
          <a:prstGeom prst="rect">
            <a:avLst/>
          </a:prstGeom>
          <a:solidFill>
            <a:schemeClr val="accent1"/>
          </a:solidFill>
          <a:ln>
            <a:noFill/>
          </a:ln>
        </p:spPr>
      </p:sp>
      <p:sp>
        <p:nvSpPr>
          <p:cNvPr id="4" name="copy:slide-5#slide_points#0"/>
          <p:cNvSpPr txBox="1"/>
          <p:nvPr/>
        </p:nvSpPr>
        <p:spPr>
          <a:xfrm>
            <a:off x="457200" y="1028700"/>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31 Millionen Euro über die Laufzeit gegenüber 12 Millionen bei geplantem Vorgehen </a:t>
            </a:r>
            <a:r>
              <a:rPr lang="de-DE" sz="1650" dirty="0">
                <a:solidFill>
                  <a:schemeClr val="tx1"/>
                </a:solidFill>
                <a:latin typeface="Arial"/>
                <a:ea typeface="Arial"/>
                <a:cs typeface="Arial"/>
                <a:hlinkClick r:id="rId1"/>
              </a:rPr>
              <a:t>[3]</a:t>
            </a:r>
            <a:endParaRPr lang="de-DE" sz="1650" dirty="0"/>
          </a:p>
        </p:txBody>
      </p:sp>
      <p:sp>
        <p:nvSpPr>
          <p:cNvPr id="5" name="rule:slide-5#slide_points#1"/>
          <p:cNvSpPr/>
          <p:nvPr/>
        </p:nvSpPr>
        <p:spPr>
          <a:xfrm>
            <a:off x="342900" y="1415415"/>
            <a:ext cx="28575" cy="272415"/>
          </a:xfrm>
          <a:prstGeom prst="rect">
            <a:avLst/>
          </a:prstGeom>
          <a:solidFill>
            <a:schemeClr val="accent1"/>
          </a:solidFill>
          <a:ln>
            <a:noFill/>
          </a:ln>
        </p:spPr>
      </p:sp>
      <p:sp>
        <p:nvSpPr>
          <p:cNvPr id="6" name="copy:slide-5#slide_points#1"/>
          <p:cNvSpPr txBox="1"/>
          <p:nvPr/>
        </p:nvSpPr>
        <p:spPr>
          <a:xfrm>
            <a:off x="457200" y="1415415"/>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weitere 4,5 Millionen Euro aus entgangenen Intraday-Erlösen </a:t>
            </a:r>
            <a:r>
              <a:rPr lang="de-DE" sz="1650" dirty="0">
                <a:solidFill>
                  <a:schemeClr val="tx1"/>
                </a:solidFill>
                <a:latin typeface="Arial"/>
                <a:ea typeface="Arial"/>
                <a:cs typeface="Arial"/>
                <a:hlinkClick r:id="rId2"/>
              </a:rPr>
              <a:t>[2]</a:t>
            </a:r>
            <a:endParaRPr lang="de-DE" sz="1650" dirty="0"/>
          </a:p>
        </p:txBody>
      </p:sp>
      <p:sp>
        <p:nvSpPr>
          <p:cNvPr id="7" name="rule:slide-5#slide_points#2"/>
          <p:cNvSpPr/>
          <p:nvPr/>
        </p:nvSpPr>
        <p:spPr>
          <a:xfrm>
            <a:off x="342900" y="1802130"/>
            <a:ext cx="28575" cy="272415"/>
          </a:xfrm>
          <a:prstGeom prst="rect">
            <a:avLst/>
          </a:prstGeom>
          <a:solidFill>
            <a:schemeClr val="accent1"/>
          </a:solidFill>
          <a:ln>
            <a:noFill/>
          </a:ln>
        </p:spPr>
      </p:sp>
      <p:sp>
        <p:nvSpPr>
          <p:cNvPr id="8" name="copy:slide-5#slide_points#2"/>
          <p:cNvSpPr txBox="1"/>
          <p:nvPr/>
        </p:nvSpPr>
        <p:spPr>
          <a:xfrm>
            <a:off x="457200" y="1802130"/>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9,7 Millionen Euro Programmkosten über drei Jahre </a:t>
            </a:r>
            <a:r>
              <a:rPr lang="de-DE" sz="1650" dirty="0">
                <a:solidFill>
                  <a:schemeClr val="tx1"/>
                </a:solidFill>
                <a:latin typeface="Arial"/>
                <a:ea typeface="Arial"/>
                <a:cs typeface="Arial"/>
                <a:hlinkClick r:id="rId1"/>
              </a:rPr>
              <a:t>[3]</a:t>
            </a:r>
            <a:endParaRPr lang="de-DE" sz="1650" dirty="0"/>
          </a:p>
        </p:txBody>
      </p:sp>
      <p:sp>
        <p:nvSpPr>
          <p:cNvPr id="9" name="rule:slide-5#slide_points#3"/>
          <p:cNvSpPr/>
          <p:nvPr/>
        </p:nvSpPr>
        <p:spPr>
          <a:xfrm>
            <a:off x="342900" y="2188845"/>
            <a:ext cx="28575" cy="272415"/>
          </a:xfrm>
          <a:prstGeom prst="rect">
            <a:avLst/>
          </a:prstGeom>
          <a:solidFill>
            <a:schemeClr val="accent1"/>
          </a:solidFill>
          <a:ln>
            <a:noFill/>
          </a:ln>
        </p:spPr>
      </p:sp>
      <p:sp>
        <p:nvSpPr>
          <p:cNvPr id="10" name="copy:slide-5#slide_points#3"/>
          <p:cNvSpPr txBox="1"/>
          <p:nvPr/>
        </p:nvSpPr>
        <p:spPr>
          <a:xfrm>
            <a:off x="457200" y="2188845"/>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1"/>
                </a:solidFill>
                <a:latin typeface="Arial"/>
                <a:ea typeface="Arial"/>
                <a:cs typeface="Arial"/>
              </a:rPr>
              <a:t>Der erste Schritt ist die Vorlage im April</a:t>
            </a:r>
            <a:endParaRPr lang="de-DE" sz="1650" dirty="0"/>
          </a:p>
        </p:txBody>
      </p:sp>
      <p:sp>
        <p:nvSpPr>
          <p:cNvPr id="11" name="copy:slide-5#evidence_status"/>
          <p:cNvSpPr txBox="1"/>
          <p:nvPr/>
        </p:nvSpPr>
        <p:spPr>
          <a:xfrm>
            <a:off x="457200" y="2689860"/>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2"/>
                </a:solidFill>
                <a:latin typeface="Arial"/>
                <a:ea typeface="Arial"/>
                <a:cs typeface="Arial"/>
              </a:rPr>
              <a:t>mixed</a:t>
            </a:r>
            <a:endParaRPr lang="de-DE"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u-slide-6">
    <p:bg>
      <p:bgPr>
        <a:solidFill>
          <a:schemeClr val="bg1"/>
        </a:solidFill>
        <a:effectLst/>
      </p:bgPr>
    </p:bg>
    <p:spTree>
      <p:nvGrpSpPr>
        <p:cNvPr id="1" name=""/>
        <p:cNvGrpSpPr/>
        <p:nvPr/>
      </p:nvGrpSpPr>
      <p:grpSpPr>
        <a:xfrm>
          <a:off x="0" y="0"/>
          <a:ext cx="0" cy="0"/>
          <a:chOff x="0" y="0"/>
          <a:chExt cx="0" cy="0"/>
        </a:xfrm>
      </p:grpSpPr>
      <p:sp>
        <p:nvSpPr>
          <p:cNvPr id="2" name="rule:u-slide-6"/>
          <p:cNvSpPr/>
          <p:nvPr/>
        </p:nvSpPr>
        <p:spPr>
          <a:xfrm>
            <a:off x="266700" y="457200"/>
            <a:ext cx="57150" cy="1173480"/>
          </a:xfrm>
          <a:prstGeom prst="rect">
            <a:avLst/>
          </a:prstGeom>
          <a:solidFill>
            <a:schemeClr val="accent1"/>
          </a:solidFill>
          <a:ln>
            <a:noFill/>
          </a:ln>
        </p:spPr>
      </p:sp>
      <p:sp>
        <p:nvSpPr>
          <p:cNvPr id="3" name="copy:slide-6#headline"/>
          <p:cNvSpPr txBox="1"/>
          <p:nvPr/>
        </p:nvSpPr>
        <p:spPr>
          <a:xfrm>
            <a:off x="457200" y="457200"/>
            <a:ext cx="11277600" cy="1173480"/>
          </a:xfrm>
          <a:prstGeom prst="rect">
            <a:avLst/>
          </a:prstGeom>
          <a:noFill/>
          <a:ln>
            <a:noFill/>
          </a:ln>
        </p:spPr>
        <p:txBody>
          <a:bodyPr wrap="square" lIns="0" tIns="0" rIns="0" bIns="0" rtlCol="0" anchor="t">
            <a:noAutofit/>
          </a:bodyPr>
          <a:lstStyle/>
          <a:p>
            <a:pPr>
              <a:lnSpc>
                <a:spcPts val="4620"/>
              </a:lnSpc>
              <a:buNone/>
            </a:pPr>
            <a:r>
              <a:rPr lang="de-DE" sz="4200" dirty="0">
                <a:solidFill>
                  <a:schemeClr val="tx1"/>
                </a:solidFill>
                <a:latin typeface="Arial"/>
                <a:ea typeface="Arial"/>
                <a:cs typeface="Arial"/>
              </a:rPr>
              <a:t>38 Prozent der Jahresmenge liegen in vier Stunden</a:t>
            </a:r>
            <a:endParaRPr lang="de-DE" sz="4200" dirty="0"/>
          </a:p>
        </p:txBody>
      </p:sp>
      <p:sp>
        <p:nvSpPr>
          <p:cNvPr id="4" name="copy:slide-6#slide_points"/>
          <p:cNvSpPr txBox="1"/>
          <p:nvPr/>
        </p:nvSpPr>
        <p:spPr>
          <a:xfrm>
            <a:off x="457200" y="1859280"/>
            <a:ext cx="11277600" cy="1045845"/>
          </a:xfrm>
          <a:prstGeom prst="rect">
            <a:avLst/>
          </a:prstGeom>
          <a:noFill/>
          <a:ln>
            <a:noFill/>
          </a:ln>
        </p:spPr>
        <p:txBody>
          <a:bodyPr wrap="square" lIns="0" tIns="0" rIns="0" bIns="0" rtlCol="0" anchor="t">
            <a:noAutofit/>
          </a:bodyPr>
          <a:lstStyle/>
          <a:p>
            <a:pPr marL="171450" indent="-171450">
              <a:lnSpc>
                <a:spcPts val="2145"/>
              </a:lnSpc>
              <a:buFont typeface="Arial"/>
              <a:buChar char="•"/>
            </a:pPr>
            <a:r>
              <a:rPr lang="de-DE" sz="1650" dirty="0">
                <a:solidFill>
                  <a:schemeClr val="tx1"/>
                </a:solidFill>
                <a:latin typeface="Arial"/>
                <a:ea typeface="Arial"/>
                <a:cs typeface="Arial"/>
              </a:rPr>
              <a:t>38 Prozent der Jahresmenge in vier Stunden </a:t>
            </a:r>
            <a:r>
              <a:rPr lang="de-DE" sz="1650" dirty="0">
                <a:solidFill>
                  <a:schemeClr val="tx1"/>
                </a:solidFill>
                <a:latin typeface="Arial"/>
                <a:ea typeface="Arial"/>
                <a:cs typeface="Arial"/>
                <a:hlinkClick r:id="rId1"/>
              </a:rPr>
              <a:t>[2]</a:t>
            </a:r>
            <a:endParaRPr lang="de-DE" sz="1650" dirty="0"/>
          </a:p>
          <a:p>
            <a:pPr marL="171450" indent="-171450">
              <a:lnSpc>
                <a:spcPts val="2145"/>
              </a:lnSpc>
              <a:spcBef>
                <a:spcPts val="900"/>
              </a:spcBef>
              <a:buFont typeface="Arial"/>
              <a:buChar char="•"/>
            </a:pPr>
            <a:r>
              <a:rPr lang="de-DE" sz="1650" dirty="0">
                <a:solidFill>
                  <a:schemeClr val="tx1"/>
                </a:solidFill>
                <a:latin typeface="Arial"/>
                <a:ea typeface="Arial"/>
                <a:cs typeface="Arial"/>
              </a:rPr>
              <a:t>412 Stunden mit negativem Preis </a:t>
            </a:r>
            <a:r>
              <a:rPr lang="de-DE" sz="1650" dirty="0">
                <a:solidFill>
                  <a:schemeClr val="tx1"/>
                </a:solidFill>
                <a:latin typeface="Arial"/>
                <a:ea typeface="Arial"/>
                <a:cs typeface="Arial"/>
                <a:hlinkClick r:id="rId1"/>
              </a:rPr>
              <a:t>[2]</a:t>
            </a:r>
            <a:endParaRPr lang="de-DE" sz="1650" dirty="0"/>
          </a:p>
          <a:p>
            <a:pPr marL="171450" indent="-171450">
              <a:lnSpc>
                <a:spcPts val="2145"/>
              </a:lnSpc>
              <a:spcBef>
                <a:spcPts val="900"/>
              </a:spcBef>
              <a:buFont typeface="Arial"/>
              <a:buChar char="•"/>
            </a:pPr>
            <a:r>
              <a:rPr lang="de-DE" sz="1650" dirty="0">
                <a:solidFill>
                  <a:schemeClr val="tx1"/>
                </a:solidFill>
                <a:latin typeface="Arial"/>
                <a:ea typeface="Arial"/>
                <a:cs typeface="Arial"/>
              </a:rPr>
              <a:t>9,7 Millionen Euro Programmkosten </a:t>
            </a:r>
            <a:r>
              <a:rPr lang="de-DE" sz="1650" dirty="0">
                <a:solidFill>
                  <a:schemeClr val="tx1"/>
                </a:solidFill>
                <a:latin typeface="Arial"/>
                <a:ea typeface="Arial"/>
                <a:cs typeface="Arial"/>
                <a:hlinkClick r:id="rId2"/>
              </a:rPr>
              <a:t>[3]</a:t>
            </a:r>
            <a:endParaRPr lang="de-DE" sz="1650" dirty="0"/>
          </a:p>
        </p:txBody>
      </p:sp>
      <p:sp>
        <p:nvSpPr>
          <p:cNvPr id="5" name="copy:slide-6#evidence_status"/>
          <p:cNvSpPr txBox="1"/>
          <p:nvPr/>
        </p:nvSpPr>
        <p:spPr>
          <a:xfrm>
            <a:off x="457200" y="3133725"/>
            <a:ext cx="11277600" cy="272415"/>
          </a:xfrm>
          <a:prstGeom prst="rect">
            <a:avLst/>
          </a:prstGeom>
          <a:noFill/>
          <a:ln>
            <a:noFill/>
          </a:ln>
        </p:spPr>
        <p:txBody>
          <a:bodyPr wrap="square" lIns="0" tIns="0" rIns="0" bIns="0" rtlCol="0" anchor="t">
            <a:noAutofit/>
          </a:bodyPr>
          <a:lstStyle/>
          <a:p>
            <a:pPr>
              <a:lnSpc>
                <a:spcPts val="2145"/>
              </a:lnSpc>
              <a:buNone/>
            </a:pPr>
            <a:r>
              <a:rPr lang="de-DE" sz="1650" dirty="0">
                <a:solidFill>
                  <a:schemeClr val="tx2"/>
                </a:solidFill>
                <a:latin typeface="Arial"/>
                <a:ea typeface="Arial"/>
                <a:cs typeface="Arial"/>
              </a:rPr>
              <a:t>proxy</a:t>
            </a:r>
            <a:endParaRPr lang="de-DE"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u-slide-7">
    <p:bg>
      <p:bgPr>
        <a:solidFill>
          <a:schemeClr val="bg1"/>
        </a:solidFill>
        <a:effectLst/>
      </p:bgPr>
    </p:bg>
    <p:spTree>
      <p:nvGrpSpPr>
        <p:cNvPr id="1" name=""/>
        <p:cNvGrpSpPr/>
        <p:nvPr/>
      </p:nvGrpSpPr>
      <p:grpSpPr>
        <a:xfrm>
          <a:off x="0" y="0"/>
          <a:ext cx="0" cy="0"/>
          <a:chOff x="0" y="0"/>
          <a:chExt cx="0" cy="0"/>
        </a:xfrm>
      </p:grpSpPr>
      <p:sp>
        <p:nvSpPr>
          <p:cNvPr id="2" name="rule:u-slide-7"/>
          <p:cNvSpPr/>
          <p:nvPr/>
        </p:nvSpPr>
        <p:spPr>
          <a:xfrm>
            <a:off x="266700" y="457200"/>
            <a:ext cx="57150" cy="1173480"/>
          </a:xfrm>
          <a:prstGeom prst="rect">
            <a:avLst/>
          </a:prstGeom>
          <a:solidFill>
            <a:schemeClr val="accent1"/>
          </a:solidFill>
          <a:ln>
            <a:noFill/>
          </a:ln>
        </p:spPr>
      </p:sp>
      <p:sp>
        <p:nvSpPr>
          <p:cNvPr id="3" name="copy:slide-7#headline"/>
          <p:cNvSpPr txBox="1"/>
          <p:nvPr/>
        </p:nvSpPr>
        <p:spPr>
          <a:xfrm>
            <a:off x="457200" y="457200"/>
            <a:ext cx="11277600" cy="1173480"/>
          </a:xfrm>
          <a:prstGeom prst="rect">
            <a:avLst/>
          </a:prstGeom>
          <a:noFill/>
          <a:ln>
            <a:noFill/>
          </a:ln>
        </p:spPr>
        <p:txBody>
          <a:bodyPr wrap="square" lIns="0" tIns="0" rIns="0" bIns="0" rtlCol="0" anchor="t">
            <a:noAutofit/>
          </a:bodyPr>
          <a:lstStyle/>
          <a:p>
            <a:pPr>
              <a:lnSpc>
                <a:spcPts val="4620"/>
              </a:lnSpc>
              <a:buNone/>
            </a:pPr>
            <a:r>
              <a:rPr lang="de-DE" sz="4200" dirty="0">
                <a:solidFill>
                  <a:schemeClr val="tx1"/>
                </a:solidFill>
                <a:latin typeface="Arial"/>
                <a:ea typeface="Arial"/>
                <a:cs typeface="Arial"/>
              </a:rPr>
              <a:t>Die Geschäftsführung entscheidet jetzt und sichert die Prognosehoheit</a:t>
            </a:r>
            <a:endParaRPr lang="de-DE" sz="4200" dirty="0"/>
          </a:p>
        </p:txBody>
      </p:sp>
      <p:sp>
        <p:nvSpPr>
          <p:cNvPr id="4" name="copy:slide-7#slide_points"/>
          <p:cNvSpPr txBox="1"/>
          <p:nvPr/>
        </p:nvSpPr>
        <p:spPr>
          <a:xfrm>
            <a:off x="457200" y="1859280"/>
            <a:ext cx="11277600" cy="659130"/>
          </a:xfrm>
          <a:prstGeom prst="rect">
            <a:avLst/>
          </a:prstGeom>
          <a:noFill/>
          <a:ln>
            <a:noFill/>
          </a:ln>
        </p:spPr>
        <p:txBody>
          <a:bodyPr wrap="square" lIns="0" tIns="0" rIns="0" bIns="0" rtlCol="0" anchor="t">
            <a:noAutofit/>
          </a:bodyPr>
          <a:lstStyle/>
          <a:p>
            <a:pPr marL="171450" indent="-171450">
              <a:lnSpc>
                <a:spcPts val="2145"/>
              </a:lnSpc>
              <a:buFont typeface="Arial"/>
              <a:buChar char="•"/>
            </a:pPr>
            <a:r>
              <a:rPr lang="de-DE" sz="1650" dirty="0">
                <a:solidFill>
                  <a:schemeClr val="tx1"/>
                </a:solidFill>
                <a:latin typeface="Arial"/>
                <a:ea typeface="Arial"/>
                <a:cs typeface="Arial"/>
              </a:rPr>
              <a:t>die Geschäftsführung jetzt entscheidet und die Prognosehoheit sichert</a:t>
            </a:r>
            <a:endParaRPr lang="de-DE" sz="1650" dirty="0"/>
          </a:p>
          <a:p>
            <a:pPr marL="171450" indent="-171450">
              <a:lnSpc>
                <a:spcPts val="2145"/>
              </a:lnSpc>
              <a:spcBef>
                <a:spcPts val="900"/>
              </a:spcBef>
              <a:buFont typeface="Arial"/>
              <a:buChar char="•"/>
            </a:pPr>
            <a:r>
              <a:rPr lang="de-DE" sz="1650" dirty="0">
                <a:solidFill>
                  <a:schemeClr val="tx1"/>
                </a:solidFill>
                <a:latin typeface="Arial"/>
                <a:ea typeface="Arial"/>
                <a:cs typeface="Arial"/>
              </a:rPr>
              <a:t>Der erste Schritt ist die Vorlage im April</a:t>
            </a:r>
            <a:endParaRPr lang="de-DE" sz="16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u-slide-8">
    <p:bg>
      <p:bgPr>
        <a:solidFill>
          <a:schemeClr val="bg1"/>
        </a:solidFill>
        <a:effectLst/>
      </p:bgPr>
    </p:bg>
    <p:spTree>
      <p:nvGrpSpPr>
        <p:cNvPr id="1" name=""/>
        <p:cNvGrpSpPr/>
        <p:nvPr/>
      </p:nvGrpSpPr>
      <p:grpSpPr>
        <a:xfrm>
          <a:off x="0" y="0"/>
          <a:ext cx="0" cy="0"/>
          <a:chOff x="0" y="0"/>
          <a:chExt cx="0" cy="0"/>
        </a:xfrm>
      </p:grpSpPr>
      <p:sp>
        <p:nvSpPr>
          <p:cNvPr id="2" name="copy:slide-8#headline"/>
          <p:cNvSpPr txBox="1"/>
          <p:nvPr/>
        </p:nvSpPr>
        <p:spPr>
          <a:xfrm>
            <a:off x="457200" y="457200"/>
            <a:ext cx="11277600" cy="342900"/>
          </a:xfrm>
          <a:prstGeom prst="rect">
            <a:avLst/>
          </a:prstGeom>
          <a:noFill/>
          <a:ln>
            <a:noFill/>
          </a:ln>
        </p:spPr>
        <p:txBody>
          <a:bodyPr wrap="square" lIns="0" tIns="0" rIns="0" bIns="0" rtlCol="0" anchor="t">
            <a:noAutofit/>
          </a:bodyPr>
          <a:lstStyle/>
          <a:p>
            <a:pPr>
              <a:lnSpc>
                <a:spcPts val="2700"/>
              </a:lnSpc>
              <a:buNone/>
            </a:pPr>
            <a:r>
              <a:rPr lang="de-DE" sz="2250" dirty="0">
                <a:solidFill>
                  <a:schemeClr val="tx1"/>
                </a:solidFill>
                <a:latin typeface="Arial"/>
                <a:ea typeface="Arial"/>
                <a:cs typeface="Arial"/>
              </a:rPr>
              <a:t>Quellen</a:t>
            </a:r>
            <a:endParaRPr lang="de-DE" sz="2250" dirty="0"/>
          </a:p>
        </p:txBody>
      </p:sp>
      <p:sp>
        <p:nvSpPr>
          <p:cNvPr id="3" name="register:u-slide-8"/>
          <p:cNvSpPr txBox="1"/>
          <p:nvPr/>
        </p:nvSpPr>
        <p:spPr>
          <a:xfrm>
            <a:off x="457200" y="1028700"/>
            <a:ext cx="11277600" cy="1857375"/>
          </a:xfrm>
          <a:prstGeom prst="rect">
            <a:avLst/>
          </a:prstGeom>
          <a:noFill/>
          <a:ln>
            <a:noFill/>
          </a:ln>
        </p:spPr>
        <p:txBody>
          <a:bodyPr wrap="square" lIns="0" tIns="0" rIns="0" bIns="0" rtlCol="0" anchor="t">
            <a:noAutofit/>
          </a:bodyPr>
          <a:lstStyle/>
          <a:p>
            <a:pPr>
              <a:lnSpc>
                <a:spcPts val="1575"/>
              </a:lnSpc>
              <a:buNone/>
            </a:pPr>
            <a:r>
              <a:rPr lang="de-DE" sz="1050" dirty="0">
                <a:solidFill>
                  <a:schemeClr val="tx1"/>
                </a:solidFill>
                <a:latin typeface="Arial"/>
                <a:ea typeface="Arial"/>
                <a:cs typeface="Arial"/>
              </a:rPr>
              <a:t>[1] source-01-netzbetreiber.md — Bundesnetzagentur, „Redispatch und Abregelung 2026", 2026, </a:t>
            </a:r>
            <a:r>
              <a:rPr lang="de-DE" sz="1050" dirty="0">
                <a:solidFill>
                  <a:schemeClr val="tx1"/>
                </a:solidFill>
                <a:latin typeface="Arial"/>
                <a:ea typeface="Arial"/>
                <a:cs typeface="Arial"/>
                <a:hlinkClick r:id="rId1"/>
              </a:rPr>
              <a:t>https://www.bundesnetzagentur.de/redispatch-abregelung-2026</a:t>
            </a:r>
            <a:endParaRPr lang="de-DE" sz="1050" dirty="0"/>
          </a:p>
          <a:p>
            <a:pPr>
              <a:lnSpc>
                <a:spcPts val="1575"/>
              </a:lnSpc>
              <a:spcBef>
                <a:spcPts val="900"/>
              </a:spcBef>
              <a:buNone/>
            </a:pPr>
            <a:r>
              <a:rPr lang="de-DE" sz="1050" dirty="0">
                <a:solidFill>
                  <a:schemeClr val="tx1"/>
                </a:solidFill>
                <a:latin typeface="Arial"/>
                <a:ea typeface="Arial"/>
                <a:cs typeface="Arial"/>
              </a:rPr>
              <a:t>[2] source-02-fraunhofer-iee.md — Fraunhofer IEE, „Stundenwerte der Windvermarktung 2026", 2026, </a:t>
            </a:r>
            <a:r>
              <a:rPr lang="de-DE" sz="1050" dirty="0">
                <a:solidFill>
                  <a:schemeClr val="tx1"/>
                </a:solidFill>
                <a:latin typeface="Arial"/>
                <a:ea typeface="Arial"/>
                <a:cs typeface="Arial"/>
                <a:hlinkClick r:id="rId2"/>
              </a:rPr>
              <a:t>https://www.iee.fraunhofer.de/de/publikationen/stundenwerte-windvermarktung-2026.html</a:t>
            </a:r>
            <a:endParaRPr lang="de-DE" sz="1050" dirty="0"/>
          </a:p>
          <a:p>
            <a:pPr>
              <a:lnSpc>
                <a:spcPts val="1575"/>
              </a:lnSpc>
              <a:spcBef>
                <a:spcPts val="900"/>
              </a:spcBef>
              <a:buNone/>
            </a:pPr>
            <a:r>
              <a:rPr lang="de-DE" sz="1050" dirty="0">
                <a:solidFill>
                  <a:schemeClr val="tx1"/>
                </a:solidFill>
                <a:latin typeface="Arial"/>
                <a:ea typeface="Arial"/>
                <a:cs typeface="Arial"/>
              </a:rPr>
              <a:t>[3] source-03-ausschreibung.md — Bundesnetzagentur, „Ausschreibungen Wind an Land 2028", 2026, </a:t>
            </a:r>
            <a:r>
              <a:rPr lang="de-DE" sz="1050" dirty="0">
                <a:solidFill>
                  <a:schemeClr val="tx1"/>
                </a:solidFill>
                <a:latin typeface="Arial"/>
                <a:ea typeface="Arial"/>
                <a:cs typeface="Arial"/>
                <a:hlinkClick r:id="rId3"/>
              </a:rPr>
              <a:t>https://www.bundesnetzagentur.de/ausschreibungen-wind-an-land-2028</a:t>
            </a:r>
            <a:endParaRPr lang="de-DE" sz="1050" dirty="0"/>
          </a:p>
          <a:p>
            <a:pPr>
              <a:lnSpc>
                <a:spcPts val="1575"/>
              </a:lnSpc>
              <a:spcBef>
                <a:spcPts val="900"/>
              </a:spcBef>
              <a:buNone/>
            </a:pPr>
            <a:r>
              <a:rPr lang="de-DE" sz="1050" dirty="0">
                <a:solidFill>
                  <a:schemeClr val="tx1"/>
                </a:solidFill>
                <a:latin typeface="Arial"/>
                <a:ea typeface="Arial"/>
                <a:cs typeface="Arial"/>
              </a:rPr>
              <a:t>[4] source-04-destatis.md — Destatis, „Speicherkosten 2030", 2026, </a:t>
            </a:r>
            <a:r>
              <a:rPr lang="de-DE" sz="1050" dirty="0">
                <a:solidFill>
                  <a:schemeClr val="tx1"/>
                </a:solidFill>
                <a:latin typeface="Arial"/>
                <a:ea typeface="Arial"/>
                <a:cs typeface="Arial"/>
                <a:hlinkClick r:id="rId4"/>
              </a:rPr>
              <a:t>https://www.destatis.de/DE/Themen/Branchen-Unternehmen/Energie/speicherkosten-2030.html</a:t>
            </a:r>
            <a:endParaRPr lang="de-DE" sz="1050" dirty="0"/>
          </a:p>
          <a:p>
            <a:pPr>
              <a:lnSpc>
                <a:spcPts val="1575"/>
              </a:lnSpc>
              <a:spcBef>
                <a:spcPts val="900"/>
              </a:spcBef>
              <a:buNone/>
            </a:pPr>
            <a:r>
              <a:rPr lang="de-DE" sz="1050" dirty="0">
                <a:solidFill>
                  <a:schemeClr val="tx1"/>
                </a:solidFill>
                <a:latin typeface="Arial"/>
                <a:ea typeface="Arial"/>
                <a:cs typeface="Arial"/>
              </a:rPr>
              <a:t>[5] source-05-handelsblatt.md — Handelsblatt, „Abnehmer, Speicher und Datenvorsprung 2026", 2026, </a:t>
            </a:r>
            <a:r>
              <a:rPr lang="de-DE" sz="1050" dirty="0">
                <a:solidFill>
                  <a:schemeClr val="tx1"/>
                </a:solidFill>
                <a:latin typeface="Arial"/>
                <a:ea typeface="Arial"/>
                <a:cs typeface="Arial"/>
                <a:hlinkClick r:id="rId5"/>
              </a:rPr>
              <a:t>https://www.handelsblatt.com/unternehmen/energie/abnehmer-speicher-datenvorsprung-2026</a:t>
            </a:r>
            <a:endParaRPr lang="de-DE" sz="1050" dirty="0"/>
          </a:p>
        </p:txBody>
      </p:sp>
    </p:spTree>
  </p:cSld>
  <p:clrMapOvr>
    <a:masterClrMapping/>
  </p:clrMapOvr>
</p:sld>
</file>

<file path=ppt/theme/theme1.xml><?xml version="1.0" encoding="utf-8"?>
<a:theme xmlns:a="http://schemas.openxmlformats.org/drawingml/2006/main" name="boardroom">
  <a:themeElements>
    <a:clrScheme name="boardroom">
      <a:dk1>
        <a:srgbClr val="1A2331"/>
      </a:dk1>
      <a:lt1>
        <a:srgbClr val="FFFFFF"/>
      </a:lt1>
      <a:dk2>
        <a:srgbClr val="55617A"/>
      </a:dk2>
      <a:lt2>
        <a:srgbClr val="F4F6F9"/>
      </a:lt2>
      <a:accent1>
        <a:srgbClr val="8C6D1F"/>
      </a:accent1>
      <a:accent2>
        <a:srgbClr val="828B9E"/>
      </a:accent2>
      <a:accent3>
        <a:srgbClr val="55617A"/>
      </a:accent3>
      <a:accent4>
        <a:srgbClr val="1A2331"/>
      </a:accent4>
      <a:accent5>
        <a:srgbClr val="F4F6F9"/>
      </a:accent5>
      <a:accent6>
        <a:srgbClr val="8C6D1F"/>
      </a:accent6>
      <a:hlink>
        <a:srgbClr val="1A2331"/>
      </a:hlink>
      <a:folHlink>
        <a:srgbClr val="55617A"/>
      </a:folHlink>
    </a:clrScheme>
    <a:fontScheme name="boardroom">
      <a:majorFont>
        <a:latin typeface="Arial"/>
        <a:ea typeface=""/>
        <a:cs typeface=""/>
      </a:majorFont>
      <a:minorFont>
        <a:latin typeface="Arial"/>
        <a:ea typeface=""/>
        <a:cs typeface=""/>
      </a:minorFont>
    </a:fontScheme>
    <a:fmtScheme name="boardroom">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ppt/theme/theme2.xml><?xml version="1.0" encoding="utf-8"?>
<a:theme xmlns:a="http://schemas.openxmlformats.org/drawingml/2006/main" name="boardroom-notes">
  <a:themeElements>
    <a:clrScheme name="boardroom-notes">
      <a:dk1>
        <a:srgbClr val="1A2331"/>
      </a:dk1>
      <a:lt1>
        <a:srgbClr val="FFFFFF"/>
      </a:lt1>
      <a:dk2>
        <a:srgbClr val="55617A"/>
      </a:dk2>
      <a:lt2>
        <a:srgbClr val="F4F6F9"/>
      </a:lt2>
      <a:accent1>
        <a:srgbClr val="8C6D1F"/>
      </a:accent1>
      <a:accent2>
        <a:srgbClr val="828B9E"/>
      </a:accent2>
      <a:accent3>
        <a:srgbClr val="55617A"/>
      </a:accent3>
      <a:accent4>
        <a:srgbClr val="1A2331"/>
      </a:accent4>
      <a:accent5>
        <a:srgbClr val="F4F6F9"/>
      </a:accent5>
      <a:accent6>
        <a:srgbClr val="8C6D1F"/>
      </a:accent6>
      <a:hlink>
        <a:srgbClr val="1A2331"/>
      </a:hlink>
      <a:folHlink>
        <a:srgbClr val="55617A"/>
      </a:folHlink>
    </a:clrScheme>
    <a:fontScheme name="boardroom-notes">
      <a:majorFont>
        <a:latin typeface="Arial"/>
        <a:ea typeface=""/>
        <a:cs typeface=""/>
      </a:majorFont>
      <a:minorFont>
        <a:latin typeface="Arial"/>
        <a:ea typeface=""/>
        <a:cs typeface=""/>
      </a:minorFont>
    </a:fontScheme>
    <a:fmtScheme name="boardroom-notes">
      <a:fillStyleLst>
        <a:solidFill>
          <a:schemeClr val="phClr"/>
        </a:solidFill>
        <a:solidFill>
          <a:schemeClr val="phClr"/>
        </a:solidFill>
        <a:solidFill>
          <a:schemeClr val="phClr"/>
        </a:solidFill>
      </a:fillStyleLst>
      <a:lnStyleLst>
        <a:ln w="9525">
          <a:solidFill>
            <a:schemeClr val="phClr"/>
          </a:solidFill>
        </a:ln>
        <a:ln w="9525">
          <a:solidFill>
            <a:schemeClr val="phClr"/>
          </a:solidFill>
        </a:ln>
        <a:ln w="9525">
          <a:solidFill>
            <a:schemeClr val="phClr"/>
          </a:solidFill>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cogni-publishing/design-render</Application>
  <PresentationFormat>Widescreen</PresentationFormat>
  <Slides>9</Slides>
  <Notes>8</Notes>
</Properties>
</file>

<file path=docProps/core.xml><?xml version="1.0" encoding="utf-8"?>
<cp:coreProperties xmlns:cp="http://schemas.openxmlformats.org/package/2006/metadata/core-properties" xmlns:dc="http://purl.org/dc/elements/1.1/">
  <dc:title>Nordlicht verkauft Strom in Stunden, die es nicht kennt</dc:title>
  <cp:revision>1</cp:revision>
</cp:coreProperties>
</file>