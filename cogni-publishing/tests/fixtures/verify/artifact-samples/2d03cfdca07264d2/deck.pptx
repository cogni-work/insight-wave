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lvl1pPr>
      <a:defRPr sz="1800"/>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a:xfrm>
            <a:off x="685800" y="1143000"/>
            <a:ext cx="5486400" cy="3086100"/>
          </a:xfrm>
          <a:prstGeom prst="rect">
            <a:avLst/>
          </a:prstGeom>
        </p:spPr>
        <p:txBody>
          <a:bodyPr/>
          <a:lstStyle/>
          <a:p>
            <a:endParaRPr lang="en-US"/>
          </a:p>
        </p:txBody>
      </p:sp>
      <p:sp>
        <p:nvSpPr>
          <p:cNvPr id="3" name="Notes Placeholder 2"/>
          <p:cNvSpPr>
            <a:spLocks noGrp="1"/>
          </p:cNvSpPr>
          <p:nvPr>
            <p:ph type="body" idx="3"/>
          </p:nvPr>
        </p:nvSpPr>
        <p:spPr>
          <a:xfrm>
            <a:off x="685800" y="4400550"/>
            <a:ext cx="5486400" cy="360045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hyperlink" Target="https://www.ipa.fraunhofer.de/de/publikationen/instandhaltung-2025.html" TargetMode="External"/><Relationship Id="rId2" Type="http://schemas.openxmlformats.org/officeDocument/2006/relationships/notesMaster" Target="../notesMasters/notesMaster1.xml"/><Relationship Id="rId3"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hyperlink" Target="https://www.ipa.fraunhofer.de/de/publikationen/instandhaltung-2025.html" TargetMode="External"/><Relationship Id="rId2" Type="http://schemas.openxmlformats.org/officeDocument/2006/relationships/hyperlink" Target="https://www.vdma.org/condition-monitoring-studie-2025" TargetMode="External"/><Relationship Id="rId3" Type="http://schemas.openxmlformats.org/officeDocument/2006/relationships/hyperlink" Target="https://www.handelsblatt.com/unternehmen/industrie/" TargetMode="External"/><Relationship Id="rId4" Type="http://schemas.openxmlformats.org/officeDocument/2006/relationships/notesMaster" Target="../notesMasters/notesMaster1.xml"/><Relationship Id="rId5"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hyperlink" Target="https://www.vdma.org/condition-monitoring-studie-2025" TargetMode="External"/><Relationship Id="rId2" Type="http://schemas.openxmlformats.org/officeDocument/2006/relationships/hyperlink" Target="https://www.destatis.de/DE/Themen/Arbeit/Arbeitsmarkt/Erwerbstaetigkeit/instandhaltung-2030.html" TargetMode="External"/><Relationship Id="rId3" Type="http://schemas.openxmlformats.org/officeDocument/2006/relationships/hyperlink" Target="https://www.handelsblatt.com/unternehmen/industrie/" TargetMode="External"/><Relationship Id="rId4" Type="http://schemas.openxmlformats.org/officeDocument/2006/relationships/notesMaster" Target="../notesMasters/notesMaster1.xml"/><Relationship Id="rId5"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hyperlink" Target="https://www.ipa.fraunhofer.de/de/publikationen/instandhaltung-2025.html" TargetMode="External"/><Relationship Id="rId2" Type="http://schemas.openxmlformats.org/officeDocument/2006/relationships/hyperlink" Target="https://www.vdma.org/condition-monitoring-studie-2025" TargetMode="External"/><Relationship Id="rId3" Type="http://schemas.openxmlformats.org/officeDocument/2006/relationships/notesMaster" Target="../notesMasters/notesMaster1.xml"/><Relationship Id="rId4"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hyperlink" Target="https://www.ipa.fraunhofer.de/de/publikationen/instandhaltung-2025.html" TargetMode="External"/><Relationship Id="rId2" Type="http://schemas.openxmlformats.org/officeDocument/2006/relationships/hyperlink" Target="https://www.destatis.de/DE/Themen/Arbeit/Arbeitsmarkt/Erwerbstaetigkeit/instandhaltung-2030.html" TargetMode="External"/><Relationship Id="rId3" Type="http://schemas.openxmlformats.org/officeDocument/2006/relationships/hyperlink" Target="https://www.handelsblatt.com/unternehmen/industrie/" TargetMode="External"/><Relationship Id="rId4" Type="http://schemas.openxmlformats.org/officeDocument/2006/relationships/hyperlink" Target="https://www.vdma.org/condition-monitoring-studie-2025" TargetMode="External"/><Relationship Id="rId5" Type="http://schemas.openxmlformats.org/officeDocument/2006/relationships/notesMaster" Target="../notesMasters/notesMaster1.xml"/><Relationship Id="rId6"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hyperlink" Target="https://www.vdma.org/condition-monitoring-studie-2025" TargetMode="External"/><Relationship Id="rId2" Type="http://schemas.openxmlformats.org/officeDocument/2006/relationships/notesMaster" Target="../notesMasters/notesMaster1.xml"/><Relationship Id="rId3"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1"/>
          <p:cNvSpPr>
            <a:spLocks noGrp="1"/>
          </p:cNvSpPr>
          <p:nvPr>
            <p:ph type="body" idx="1"/>
          </p:nvPr>
        </p:nvSpPr>
        <p:spPr/>
        <p:txBody>
          <a:bodyPr/>
          <a:lstStyle/>
          <a:p>
            <a:pPr>
              <a:lnSpc>
                <a:spcPts val="1800"/>
              </a:lnSpc>
              <a:buNone/>
            </a:pPr>
            <a:r>
              <a:rPr lang="en-US" sz="1125" dirty="0">
                <a:solidFill>
                  <a:schemeClr val="tx1"/>
                </a:solidFill>
                <a:latin typeface="Arial"/>
                <a:ea typeface="Arial"/>
                <a:cs typeface="Arial"/>
              </a:rPr>
              <a:t>How should European industrial operators respond to the shift from scheduled to condition-based maintenance? Scheduled maintenance is buying downtime: the operators that spend most on it lose 11 percent more production hours than those that spend least </a:t>
            </a:r>
            <a:r>
              <a:rPr lang="en-US" sz="1125" dirty="0">
                <a:solidFill>
                  <a:schemeClr val="tx1"/>
                </a:solidFill>
                <a:latin typeface="Arial"/>
                <a:ea typeface="Arial"/>
                <a:cs typeface="Arial"/>
                <a:hlinkClick r:id="rId1"/>
              </a:rPr>
              <a:t>[1]</a:t>
            </a:r>
            <a:r>
              <a:rPr lang="en-US" sz="1125" dirty="0">
                <a:solidFill>
                  <a:schemeClr val="tx1"/>
                </a:solidFill>
                <a:latin typeface="Arial"/>
                <a:ea typeface="Arial"/>
                <a:cs typeface="Arial"/>
              </a:rPr>
              <a:t>. The reason is that 71 percent of the failures had a readable sensor precursor nobody read </a:t>
            </a:r>
            <a:r>
              <a:rPr lang="en-US" sz="1125" dirty="0">
                <a:solidFill>
                  <a:schemeClr val="tx1"/>
                </a:solidFill>
                <a:latin typeface="Arial"/>
                <a:ea typeface="Arial"/>
                <a:cs typeface="Arial"/>
                <a:hlinkClick r:id="rId1"/>
              </a:rPr>
              <a:t>[1]</a:t>
            </a:r>
            <a:r>
              <a:rPr lang="en-US" sz="1125" dirty="0">
                <a:solidFill>
                  <a:schemeClr val="tx1"/>
                </a:solidFill>
                <a:latin typeface="Arial"/>
                <a:ea typeface="Arial"/>
                <a:cs typeface="Arial"/>
              </a:rPr>
              <a:t>, so the constraint is signal, not labour. Operators should redirect the scheduled budget into one asset-health view and a compliance-by-design monitoring process before the January 2027 regulation lands. Over three years that costs roughly a quarter of what inaction costs.</a:t>
            </a:r>
            <a:endParaRPr lang="en-US" sz="1125"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2"/>
          <p:cNvSpPr>
            <a:spLocks noGrp="1"/>
          </p:cNvSpPr>
          <p:nvPr>
            <p:ph type="body" idx="1"/>
          </p:nvPr>
        </p:nvSpPr>
        <p:spPr/>
        <p:txBody>
          <a:bodyPr/>
          <a:lstStyle/>
          <a:p>
            <a:pPr>
              <a:lnSpc>
                <a:spcPts val="1800"/>
              </a:lnSpc>
              <a:buNone/>
            </a:pPr>
            <a:r>
              <a:rPr lang="en-US" sz="1125" dirty="0">
                <a:solidFill>
                  <a:schemeClr val="tx1"/>
                </a:solidFill>
                <a:latin typeface="Arial"/>
                <a:ea typeface="Arial"/>
                <a:cs typeface="Arial"/>
              </a:rPr>
              <a:t>Most operators think reliability is a spending problem: more inspections, shorter intervals, larger spare inventories. The evidence shows it is an information problem. The operators that spend most on scheduled maintenance lose 11 percent more production hours than those that spend least </a:t>
            </a:r>
            <a:r>
              <a:rPr lang="en-US" sz="1125" dirty="0">
                <a:solidFill>
                  <a:schemeClr val="tx1"/>
                </a:solidFill>
                <a:latin typeface="Arial"/>
                <a:ea typeface="Arial"/>
                <a:cs typeface="Arial"/>
                <a:hlinkClick r:id="rId1"/>
              </a:rPr>
              <a:t>[1]</a:t>
            </a:r>
            <a:r>
              <a:rPr lang="en-US" sz="1125" dirty="0">
                <a:solidFill>
                  <a:schemeClr val="tx1"/>
                </a:solidFill>
                <a:latin typeface="Arial"/>
                <a:ea typeface="Arial"/>
                <a:cs typeface="Arial"/>
              </a:rPr>
              <a:t>. In the same sample, 62 percent of unplanned stops had a measurable precursor in sensor data at least 48 hours before failure, and in 71 percent of those cases the data existed but was not read </a:t>
            </a:r>
            <a:r>
              <a:rPr lang="en-US" sz="1125" dirty="0">
                <a:solidFill>
                  <a:schemeClr val="tx1"/>
                </a:solidFill>
                <a:latin typeface="Arial"/>
                <a:ea typeface="Arial"/>
                <a:cs typeface="Arial"/>
                <a:hlinkClick r:id="rId1"/>
              </a:rPr>
              <a:t>[1]</a:t>
            </a:r>
            <a:r>
              <a:rPr lang="en-US" sz="1125" dirty="0">
                <a:solidFill>
                  <a:schemeClr val="tx1"/>
                </a:solidFill>
                <a:latin typeface="Arial"/>
                <a:ea typeface="Arial"/>
                <a:cs typeface="Arial"/>
              </a:rPr>
              <a:t>. Scheduled work replaces parts on a calendar rather than on evidence of wear, so budget flows to components that were not failing while the components that were failing go unmonitored </a:t>
            </a:r>
            <a:r>
              <a:rPr lang="en-US" sz="1125" dirty="0">
                <a:solidFill>
                  <a:schemeClr val="tx1"/>
                </a:solidFill>
                <a:latin typeface="Arial"/>
                <a:ea typeface="Arial"/>
                <a:cs typeface="Arial"/>
                <a:hlinkClick r:id="rId2"/>
              </a:rPr>
              <a:t>[2]</a:t>
            </a:r>
            <a:r>
              <a:rPr lang="en-US" sz="1125" dirty="0">
                <a:solidFill>
                  <a:schemeClr val="tx1"/>
                </a:solidFill>
                <a:latin typeface="Arial"/>
                <a:ea typeface="Arial"/>
                <a:cs typeface="Arial"/>
              </a:rPr>
              <a:t>. The unconsidered reality is that the constraint has moved from labour to signal. Operators already generate an average of 47 sensor formats per plant across drives, bearings, pumps and control systems </a:t>
            </a:r>
            <a:r>
              <a:rPr lang="en-US" sz="1125" dirty="0">
                <a:solidFill>
                  <a:schemeClr val="tx1"/>
                </a:solidFill>
                <a:latin typeface="Arial"/>
                <a:ea typeface="Arial"/>
                <a:cs typeface="Arial"/>
                <a:hlinkClick r:id="rId2"/>
              </a:rPr>
              <a:t>[2]</a:t>
            </a:r>
            <a:r>
              <a:rPr lang="en-US" sz="1125" dirty="0">
                <a:solidFill>
                  <a:schemeClr val="tx1"/>
                </a:solidFill>
                <a:latin typeface="Arial"/>
                <a:ea typeface="Arial"/>
                <a:cs typeface="Arial"/>
              </a:rPr>
              <a:t>, and the plants that convert those signals into a single asset-health view report 34 percent fewer unplanned stops than those that do not </a:t>
            </a:r>
            <a:r>
              <a:rPr lang="en-US" sz="1125" dirty="0">
                <a:solidFill>
                  <a:schemeClr val="tx1"/>
                </a:solidFill>
                <a:latin typeface="Arial"/>
                <a:ea typeface="Arial"/>
                <a:cs typeface="Arial"/>
                <a:hlinkClick r:id="rId1"/>
              </a:rPr>
              <a:t>[1]</a:t>
            </a:r>
            <a:r>
              <a:rPr lang="en-US" sz="1125" dirty="0">
                <a:solidFill>
                  <a:schemeClr val="tx1"/>
                </a:solidFill>
                <a:latin typeface="Arial"/>
                <a:ea typeface="Arial"/>
                <a:cs typeface="Arial"/>
              </a:rPr>
              <a:t>. Early recognizers gain twice. They redirect the scheduled-maintenance budget that was buying downtime, and they build an operational data asset competitors cannot buy retroactively — three years of labelled failure history is worth more than any platform licence </a:t>
            </a:r>
            <a:r>
              <a:rPr lang="en-US" sz="1125" dirty="0">
                <a:solidFill>
                  <a:schemeClr val="tx1"/>
                </a:solidFill>
                <a:latin typeface="Arial"/>
                <a:ea typeface="Arial"/>
                <a:cs typeface="Arial"/>
                <a:hlinkClick r:id="rId3"/>
              </a:rPr>
              <a:t>[3]</a:t>
            </a:r>
            <a:r>
              <a:rPr lang="en-US" sz="1125" dirty="0">
                <a:solidFill>
                  <a:schemeClr val="tx1"/>
                </a:solidFill>
                <a:latin typeface="Arial"/>
                <a:ea typeface="Arial"/>
                <a:cs typeface="Arial"/>
              </a:rPr>
              <a:t>.</a:t>
            </a:r>
            <a:endParaRPr lang="en-US" sz="1125"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3"/>
          <p:cNvSpPr>
            <a:spLocks noGrp="1"/>
          </p:cNvSpPr>
          <p:nvPr>
            <p:ph type="body" idx="1"/>
          </p:nvPr>
        </p:nvSpPr>
        <p:spPr/>
        <p:txBody>
          <a:bodyPr/>
          <a:lstStyle/>
          <a:p>
            <a:pPr>
              <a:lnSpc>
                <a:spcPts val="1800"/>
              </a:lnSpc>
              <a:buNone/>
            </a:pPr>
            <a:r>
              <a:rPr lang="en-US" sz="1125" dirty="0">
                <a:solidFill>
                  <a:schemeClr val="tx1"/>
                </a:solidFill>
                <a:latin typeface="Arial"/>
                <a:ea typeface="Arial"/>
                <a:cs typeface="Arial"/>
              </a:rPr>
              <a:t>Three converging forces make action urgent. First, the EU Machinery Regulation applies in full from January 2027 and requires operators of connected industrial equipment to demonstrate a documented condition-monitoring process for safety-relevant assets; the VDMA estimates the average compliance gap at 14 months of implementation work </a:t>
            </a:r>
            <a:r>
              <a:rPr lang="en-US" sz="1125" dirty="0">
                <a:solidFill>
                  <a:schemeClr val="tx1"/>
                </a:solidFill>
                <a:latin typeface="Arial"/>
                <a:ea typeface="Arial"/>
                <a:cs typeface="Arial"/>
                <a:hlinkClick r:id="rId1"/>
              </a:rPr>
              <a:t>[2]</a:t>
            </a:r>
            <a:r>
              <a:rPr lang="en-US" sz="1125" dirty="0">
                <a:solidFill>
                  <a:schemeClr val="tx1"/>
                </a:solidFill>
                <a:latin typeface="Arial"/>
                <a:ea typeface="Arial"/>
                <a:cs typeface="Arial"/>
              </a:rPr>
              <a:t>. An operator that starts in 2026 meets the deadline. One that starts in 2027 does not, and pays the retrofit premium described below. Second, the maintenance workforce is leaving faster than it is replaced. Destatis projects a 23 percent decline in qualified industrial maintenance technicians in Germany between 2025 and 2030 </a:t>
            </a:r>
            <a:r>
              <a:rPr lang="en-US" sz="1125" dirty="0">
                <a:solidFill>
                  <a:schemeClr val="tx1"/>
                </a:solidFill>
                <a:latin typeface="Arial"/>
                <a:ea typeface="Arial"/>
                <a:cs typeface="Arial"/>
                <a:hlinkClick r:id="rId2"/>
              </a:rPr>
              <a:t>[4]</a:t>
            </a:r>
            <a:r>
              <a:rPr lang="en-US" sz="1125" dirty="0">
                <a:solidFill>
                  <a:schemeClr val="tx1"/>
                </a:solidFill>
                <a:latin typeface="Arial"/>
                <a:ea typeface="Arial"/>
                <a:cs typeface="Arial"/>
              </a:rPr>
              <a:t>, and the wage premium for those who remain has already risen 18 percent in two years </a:t>
            </a:r>
            <a:r>
              <a:rPr lang="en-US" sz="1125" dirty="0">
                <a:solidFill>
                  <a:schemeClr val="tx1"/>
                </a:solidFill>
                <a:latin typeface="Arial"/>
                <a:ea typeface="Arial"/>
                <a:cs typeface="Arial"/>
                <a:hlinkClick r:id="rId3"/>
              </a:rPr>
              <a:t>[3]</a:t>
            </a:r>
            <a:r>
              <a:rPr lang="en-US" sz="1125" dirty="0">
                <a:solidFill>
                  <a:schemeClr val="tx1"/>
                </a:solidFill>
                <a:latin typeface="Arial"/>
                <a:ea typeface="Arial"/>
                <a:cs typeface="Arial"/>
              </a:rPr>
              <a:t>. Third, the insurance market has started pricing the difference. Two of the three largest industrial insurers in the DACH region introduced condition-monitoring discounts of 8 to 12 percent on business-interruption cover in 2025 and have announced surcharges for unmonitored critical assets from 2027 </a:t>
            </a:r>
            <a:r>
              <a:rPr lang="en-US" sz="1125" dirty="0">
                <a:solidFill>
                  <a:schemeClr val="tx1"/>
                </a:solidFill>
                <a:latin typeface="Arial"/>
                <a:ea typeface="Arial"/>
                <a:cs typeface="Arial"/>
                <a:hlinkClick r:id="rId3"/>
              </a:rPr>
              <a:t>[3]</a:t>
            </a:r>
            <a:r>
              <a:rPr lang="en-US" sz="1125" dirty="0">
                <a:solidFill>
                  <a:schemeClr val="tx1"/>
                </a:solidFill>
                <a:latin typeface="Arial"/>
                <a:ea typeface="Arial"/>
                <a:cs typeface="Arial"/>
              </a:rPr>
              <a:t>. The window is closing from both sides: early movers lock in the discount while late starters absorb the surcharge on top of the compliance scramble.</a:t>
            </a:r>
            <a:endParaRPr lang="en-US" sz="1125"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4"/>
          <p:cNvSpPr>
            <a:spLocks noGrp="1"/>
          </p:cNvSpPr>
          <p:nvPr>
            <p:ph type="body" idx="1"/>
          </p:nvPr>
        </p:nvSpPr>
        <p:spPr/>
        <p:txBody>
          <a:bodyPr/>
          <a:lstStyle/>
          <a:p>
            <a:pPr>
              <a:lnSpc>
                <a:spcPts val="1800"/>
              </a:lnSpc>
              <a:buNone/>
            </a:pPr>
            <a:r>
              <a:rPr lang="en-US" sz="1125" dirty="0">
                <a:solidFill>
                  <a:schemeClr val="tx1"/>
                </a:solidFill>
                <a:latin typeface="Arial"/>
                <a:ea typeface="Arial"/>
                <a:cs typeface="Arial"/>
              </a:rPr>
              <a:t>Organizations that thrive do not just react to these forces — they build capabilities. Three Power Positions follow from the evidence. Asset-Health Data Integration is a single asset-health model that ingests every sensor format a plant already produces, built on the plant's own failure history rather than a vendor's generic library. You detect degradation patterns 48 to 72 hours before failure and schedule the intervention in the next planned shift window instead of the next emergency </a:t>
            </a:r>
            <a:r>
              <a:rPr lang="en-US" sz="1125" dirty="0">
                <a:solidFill>
                  <a:schemeClr val="tx1"/>
                </a:solidFill>
                <a:latin typeface="Arial"/>
                <a:ea typeface="Arial"/>
                <a:cs typeface="Arial"/>
                <a:hlinkClick r:id="rId1"/>
              </a:rPr>
              <a:t>[1]</a:t>
            </a:r>
            <a:r>
              <a:rPr lang="en-US" sz="1125" dirty="0">
                <a:solidFill>
                  <a:schemeClr val="tx1"/>
                </a:solidFill>
                <a:latin typeface="Arial"/>
                <a:ea typeface="Arial"/>
                <a:cs typeface="Arial"/>
              </a:rPr>
              <a:t>. Competitors struggle to copy it because the 47-format ingestion layer and the labelled failure history take 18 to 24 months to accumulate, and monitoring products that read 8 to 12 formats miss the long tail where 60 percent of failure signals originate </a:t>
            </a:r>
            <a:r>
              <a:rPr lang="en-US" sz="1125" dirty="0">
                <a:solidFill>
                  <a:schemeClr val="tx1"/>
                </a:solidFill>
                <a:latin typeface="Arial"/>
                <a:ea typeface="Arial"/>
                <a:cs typeface="Arial"/>
                <a:hlinkClick r:id="rId2"/>
              </a:rPr>
              <a:t>[2]</a:t>
            </a:r>
            <a:r>
              <a:rPr lang="en-US" sz="1125" dirty="0">
                <a:solidFill>
                  <a:schemeClr val="tx1"/>
                </a:solidFill>
                <a:latin typeface="Arial"/>
                <a:ea typeface="Arial"/>
                <a:cs typeface="Arial"/>
              </a:rPr>
              <a:t>. Compliance-by-Design Monitoring is a condition-monitoring process documented against the 2027 regulation from the first asset onward, rather than retrofitted before an audit. You clear the regulatory requirement as a by-product of the reliability programme, and your audit evidence is the same data your planners already use </a:t>
            </a:r>
            <a:r>
              <a:rPr lang="en-US" sz="1125" dirty="0">
                <a:solidFill>
                  <a:schemeClr val="tx1"/>
                </a:solidFill>
                <a:latin typeface="Arial"/>
                <a:ea typeface="Arial"/>
                <a:cs typeface="Arial"/>
                <a:hlinkClick r:id="rId2"/>
              </a:rPr>
              <a:t>[2]</a:t>
            </a:r>
            <a:r>
              <a:rPr lang="en-US" sz="1125" dirty="0">
                <a:solidFill>
                  <a:schemeClr val="tx1"/>
                </a:solidFill>
                <a:latin typeface="Arial"/>
                <a:ea typeface="Arial"/>
                <a:cs typeface="Arial"/>
              </a:rPr>
              <a:t>. Technician Leverage is a maintenance operating model in which scarce technicians act on ranked asset-health alerts rather than on interval lists. You cut unnecessary interventions by roughly a third and redirect that capacity to the failures that matter </a:t>
            </a:r>
            <a:r>
              <a:rPr lang="en-US" sz="1125" dirty="0">
                <a:solidFill>
                  <a:schemeClr val="tx1"/>
                </a:solidFill>
                <a:latin typeface="Arial"/>
                <a:ea typeface="Arial"/>
                <a:cs typeface="Arial"/>
                <a:hlinkClick r:id="rId1"/>
              </a:rPr>
              <a:t>[1]</a:t>
            </a:r>
            <a:r>
              <a:rPr lang="en-US" sz="1125" dirty="0">
                <a:solidFill>
                  <a:schemeClr val="tx1"/>
                </a:solidFill>
                <a:latin typeface="Arial"/>
                <a:ea typeface="Arial"/>
                <a:cs typeface="Arial"/>
              </a:rPr>
              <a:t>.</a:t>
            </a:r>
            <a:endParaRPr lang="en-US" sz="1125"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5"/>
          <p:cNvSpPr>
            <a:spLocks noGrp="1"/>
          </p:cNvSpPr>
          <p:nvPr>
            <p:ph type="body" idx="1"/>
          </p:nvPr>
        </p:nvSpPr>
        <p:spPr/>
        <p:txBody>
          <a:bodyPr/>
          <a:lstStyle/>
          <a:p>
            <a:pPr>
              <a:lnSpc>
                <a:spcPts val="1800"/>
              </a:lnSpc>
              <a:buNone/>
            </a:pPr>
            <a:r>
              <a:rPr lang="en-US" sz="1125" dirty="0">
                <a:solidFill>
                  <a:schemeClr val="tx1"/>
                </a:solidFill>
                <a:latin typeface="Arial"/>
                <a:ea typeface="Arial"/>
                <a:cs typeface="Arial"/>
              </a:rPr>
              <a:t>The cost of delay compounds. Over a three-year horizon a mid-sized operator with 40 critical assets faces four stacked costs of inaction, each on the same horizon so they can be added. Unplanned downtime at the sample average of 180,000 euros per lost production hour and 24 hours per year adds up to 13.0 million euros </a:t>
            </a:r>
            <a:r>
              <a:rPr lang="en-US" sz="1125" dirty="0">
                <a:solidFill>
                  <a:schemeClr val="tx1"/>
                </a:solidFill>
                <a:latin typeface="Arial"/>
                <a:ea typeface="Arial"/>
                <a:cs typeface="Arial"/>
                <a:hlinkClick r:id="rId1"/>
              </a:rPr>
              <a:t>[1]</a:t>
            </a:r>
            <a:r>
              <a:rPr lang="en-US" sz="1125" dirty="0">
                <a:solidFill>
                  <a:schemeClr val="tx1"/>
                </a:solidFill>
                <a:latin typeface="Arial"/>
                <a:ea typeface="Arial"/>
                <a:cs typeface="Arial"/>
              </a:rPr>
              <a:t>. The technician wage premium on a 60-person maintenance team adds 2.1 million euros </a:t>
            </a:r>
            <a:r>
              <a:rPr lang="en-US" sz="1125" dirty="0">
                <a:solidFill>
                  <a:schemeClr val="tx1"/>
                </a:solidFill>
                <a:latin typeface="Arial"/>
                <a:ea typeface="Arial"/>
                <a:cs typeface="Arial"/>
                <a:hlinkClick r:id="rId2"/>
              </a:rPr>
              <a:t>[4]</a:t>
            </a:r>
            <a:r>
              <a:rPr lang="en-US" sz="1125" dirty="0">
                <a:solidFill>
                  <a:schemeClr val="tx1"/>
                </a:solidFill>
                <a:latin typeface="Arial"/>
                <a:ea typeface="Arial"/>
                <a:cs typeface="Arial"/>
              </a:rPr>
              <a:t>. Insurance surcharges on unmonitored critical assets from 2027 add 0.9 million euros </a:t>
            </a:r>
            <a:r>
              <a:rPr lang="en-US" sz="1125" dirty="0">
                <a:solidFill>
                  <a:schemeClr val="tx1"/>
                </a:solidFill>
                <a:latin typeface="Arial"/>
                <a:ea typeface="Arial"/>
                <a:cs typeface="Arial"/>
                <a:hlinkClick r:id="rId3"/>
              </a:rPr>
              <a:t>[3]</a:t>
            </a:r>
            <a:r>
              <a:rPr lang="en-US" sz="1125" dirty="0">
                <a:solidFill>
                  <a:schemeClr val="tx1"/>
                </a:solidFill>
                <a:latin typeface="Arial"/>
                <a:ea typeface="Arial"/>
                <a:cs typeface="Arial"/>
              </a:rPr>
              <a:t>. A compliance retrofit under deadline pressure adds 1.4 million euros against 0.6 million for a planned programme </a:t>
            </a:r>
            <a:r>
              <a:rPr lang="en-US" sz="1125" dirty="0">
                <a:solidFill>
                  <a:schemeClr val="tx1"/>
                </a:solidFill>
                <a:latin typeface="Arial"/>
                <a:ea typeface="Arial"/>
                <a:cs typeface="Arial"/>
                <a:hlinkClick r:id="rId4"/>
              </a:rPr>
              <a:t>[2]</a:t>
            </a:r>
            <a:r>
              <a:rPr lang="en-US" sz="1125" dirty="0">
                <a:solidFill>
                  <a:schemeClr val="tx1"/>
                </a:solidFill>
                <a:latin typeface="Arial"/>
                <a:ea typeface="Arial"/>
                <a:cs typeface="Arial"/>
              </a:rPr>
              <a:t>. The compound cost of inaction is 17.4 million euros. A condition-based programme built on the three positions above costs 4.2 million euros over the same three years, including integration, documentation and the operating-model change </a:t>
            </a:r>
            <a:r>
              <a:rPr lang="en-US" sz="1125" dirty="0">
                <a:solidFill>
                  <a:schemeClr val="tx1"/>
                </a:solidFill>
                <a:latin typeface="Arial"/>
                <a:ea typeface="Arial"/>
                <a:cs typeface="Arial"/>
                <a:hlinkClick r:id="rId4"/>
              </a:rPr>
              <a:t>[2]</a:t>
            </a:r>
            <a:r>
              <a:rPr lang="en-US" sz="1125" dirty="0">
                <a:solidFill>
                  <a:schemeClr val="tx1"/>
                </a:solidFill>
                <a:latin typeface="Arial"/>
                <a:ea typeface="Arial"/>
                <a:cs typeface="Arial"/>
              </a:rPr>
              <a:t>. Set against 17.4 million, the comparison needs no explanation. Action costs less than inaction by roughly 4x.</a:t>
            </a:r>
            <a:endParaRPr lang="en-US" sz="1125"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6"/>
          <p:cNvSpPr>
            <a:spLocks noGrp="1"/>
          </p:cNvSpPr>
          <p:nvPr>
            <p:ph type="body" idx="1"/>
          </p:nvPr>
        </p:nvSpPr>
        <p:spPr/>
        <p:txBody>
          <a:bodyPr/>
          <a:lstStyle/>
          <a:p>
            <a:pPr>
              <a:lnSpc>
                <a:spcPts val="1800"/>
              </a:lnSpc>
              <a:buNone/>
            </a:pPr>
            <a:r>
              <a:rPr lang="en-US" sz="1125" dirty="0">
                <a:solidFill>
                  <a:schemeClr val="tx1"/>
                </a:solidFill>
                <a:latin typeface="Arial"/>
                <a:ea typeface="Arial"/>
                <a:cs typeface="Arial"/>
              </a:rPr>
              <a:t>A condition-based programme built on the three positions above costs 4.2 million euros over the same three years, including integration, documentation and the operating-model change </a:t>
            </a:r>
            <a:r>
              <a:rPr lang="en-US" sz="1125" dirty="0">
                <a:solidFill>
                  <a:schemeClr val="tx1"/>
                </a:solidFill>
                <a:latin typeface="Arial"/>
                <a:ea typeface="Arial"/>
                <a:cs typeface="Arial"/>
                <a:hlinkClick r:id="rId1"/>
              </a:rPr>
              <a:t>[2]</a:t>
            </a:r>
            <a:r>
              <a:rPr lang="en-US" sz="1125" dirty="0">
                <a:solidFill>
                  <a:schemeClr val="tx1"/>
                </a:solidFill>
                <a:latin typeface="Arial"/>
                <a:ea typeface="Arial"/>
                <a:cs typeface="Arial"/>
              </a:rPr>
              <a:t>. Set against 17.4 million, the comparison needs no explanation.</a:t>
            </a:r>
            <a:endParaRPr lang="en-US" sz="1125"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7"/>
          <p:cNvSpPr>
            <a:spLocks noGrp="1"/>
          </p:cNvSpPr>
          <p:nvPr>
            <p:ph type="body" idx="1"/>
          </p:nvPr>
        </p:nvSpPr>
        <p:spPr/>
        <p:txBody>
          <a:bodyPr/>
          <a:lstStyle/>
          <a:p>
            <a:pPr>
              <a:lnSpc>
                <a:spcPts val="1800"/>
              </a:lnSpc>
              <a:buNone/>
            </a:pPr>
            <a:r>
              <a:rPr lang="en-US" sz="1125" dirty="0">
                <a:solidFill>
                  <a:schemeClr val="tx1"/>
                </a:solidFill>
                <a:latin typeface="Arial"/>
                <a:ea typeface="Arial"/>
                <a:cs typeface="Arial"/>
              </a:rPr>
              <a:t>Operators should redirect the scheduled budget into one asset-health view and a compliance-by-design monitoring process before the January 2027 regulation lands. Over three years that costs roughly a quarter of what inaction costs.</a:t>
            </a:r>
            <a:endParaRPr lang="en-US" sz="1125"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8"/>
          <p:cNvSpPr>
            <a:spLocks noGrp="1"/>
          </p:cNvSpPr>
          <p:nvPr>
            <p:ph type="body" idx="1"/>
          </p:nvPr>
        </p:nvSpPr>
        <p:spPr/>
        <p:txBody>
          <a:bodyPr/>
          <a:lstStyle/>
          <a:p>
            <a:pPr>
              <a:lnSpc>
                <a:spcPts val="1800"/>
              </a:lnSpc>
              <a:buNone/>
            </a:pPr>
            <a:r>
              <a:rPr lang="en-US" sz="1125" dirty="0">
                <a:solidFill>
                  <a:schemeClr val="tx1"/>
                </a:solidFill>
                <a:latin typeface="Arial"/>
                <a:ea typeface="Arial"/>
                <a:cs typeface="Arial"/>
              </a:rPr>
              <a:t>The deck's source register, built by the renderer from the trailing Sources block verbatim. Every citation marker on the preceding slides resolves here.</a:t>
            </a:r>
            <a:endParaRPr lang="en-US" sz="1125" dirty="0"/>
          </a:p>
          <a:p>
            <a:pPr>
              <a:lnSpc>
                <a:spcPts val="1800"/>
              </a:lnSpc>
              <a:buNone/>
            </a:pPr>
            <a:r>
              <a:rPr lang="en-US" sz="1125" dirty="0">
                <a:solidFill>
                  <a:schemeClr val="tx1"/>
                </a:solidFill>
                <a:latin typeface="Arial"/>
                <a:ea typeface="Arial"/>
                <a:cs typeface="Arial"/>
              </a:rPr>
              <a:t>copy is frozen — reproduce every line verbatim</a:t>
            </a:r>
            <a:endParaRPr lang="en-US" sz="1125" dirty="0"/>
          </a:p>
          <a:p>
            <a:pPr>
              <a:lnSpc>
                <a:spcPts val="1800"/>
              </a:lnSpc>
              <a:buNone/>
            </a:pPr>
            <a:r>
              <a:rPr lang="en-US" sz="1125" dirty="0">
                <a:solidFill>
                  <a:schemeClr val="tx1"/>
                </a:solidFill>
                <a:latin typeface="Arial"/>
                <a:ea typeface="Arial"/>
                <a:cs typeface="Arial"/>
              </a:rPr>
              <a:t>render citations as footnotes and keep the URLs</a:t>
            </a:r>
            <a:endParaRPr lang="en-US" sz="1125" dirty="0"/>
          </a:p>
          <a:p>
            <a:pPr>
              <a:lnSpc>
                <a:spcPts val="1800"/>
              </a:lnSpc>
              <a:buNone/>
            </a:pPr>
            <a:r>
              <a:rPr lang="en-US" sz="1125" dirty="0">
                <a:solidFill>
                  <a:schemeClr val="tx1"/>
                </a:solidFill>
                <a:latin typeface="Arial"/>
                <a:ea typeface="Arial"/>
                <a:cs typeface="Arial"/>
              </a:rPr>
              <a:t>attach theme.md only when no organization design system is configured</a:t>
            </a:r>
            <a:endParaRPr lang="en-US" sz="1125" dirty="0"/>
          </a:p>
          <a:p>
            <a:pPr>
              <a:lnSpc>
                <a:spcPts val="1800"/>
              </a:lnSpc>
              <a:buNone/>
            </a:pPr>
            <a:r>
              <a:rPr lang="en-US" sz="1125" dirty="0">
                <a:solidFill>
                  <a:schemeClr val="tx1"/>
                </a:solidFill>
                <a:latin typeface="Arial"/>
                <a:ea typeface="Arial"/>
                <a:cs typeface="Arial"/>
              </a:rPr>
              <a:t>the units and their order are the deliverable — ask before adding, merging or reordering</a:t>
            </a:r>
            <a:endParaRPr lang="en-US" sz="1125"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lvl1pPr>
    </p:titleStyle>
    <p:bodyStyle>
      <a:lvl1pPr>
        <a:defRPr sz="1800"/>
      </a:lvl1pPr>
    </p:bodyStyle>
    <p:otherStyle>
      <a:lvl1pPr>
        <a:defRPr sz="1800"/>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hyperlink" Target="https://www.ipa.fraunhofer.de/de/publikationen/instandhaltung-2025.html"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hyperlink" Target="https://www.ipa.fraunhofer.de/de/publikationen/instandhaltung-2025.html" TargetMode="External"/><Relationship Id="rId2" Type="http://schemas.openxmlformats.org/officeDocument/2006/relationships/hyperlink" Target="https://www.vdma.org/condition-monitoring-studie-2025"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hyperlink" Target="https://www.vdma.org/condition-monitoring-studie-2025" TargetMode="External"/><Relationship Id="rId2" Type="http://schemas.openxmlformats.org/officeDocument/2006/relationships/hyperlink" Target="https://www.destatis.de/DE/Themen/Arbeit/Arbeitsmarkt/Erwerbstaetigkeit/instandhaltung-2030.html" TargetMode="External"/><Relationship Id="rId3" Type="http://schemas.openxmlformats.org/officeDocument/2006/relationships/hyperlink" Target="https://www.handelsblatt.com/unternehmen/industrie/"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hyperlink" Target="https://www.ipa.fraunhofer.de/de/publikationen/instandhaltung-2025.html" TargetMode="External"/><Relationship Id="rId2" Type="http://schemas.openxmlformats.org/officeDocument/2006/relationships/hyperlink" Target="https://www.destatis.de/DE/Themen/Arbeit/Arbeitsmarkt/Erwerbstaetigkeit/instandhaltung-2030.html" TargetMode="External"/><Relationship Id="rId3" Type="http://schemas.openxmlformats.org/officeDocument/2006/relationships/hyperlink" Target="https://www.handelsblatt.com/unternehmen/industrie/" TargetMode="External"/><Relationship Id="rId4" Type="http://schemas.openxmlformats.org/officeDocument/2006/relationships/hyperlink" Target="https://www.vdma.org/condition-monitoring-studie-2025" TargetMode="Externa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hyperlink" Target="https://www.vdma.org/condition-monitoring-studie-2025"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hyperlink" Target="https://www.ipa.fraunhofer.de/de/publikationen/instandhaltung-2025.html" TargetMode="External"/><Relationship Id="rId2" Type="http://schemas.openxmlformats.org/officeDocument/2006/relationships/hyperlink" Target="https://www.vdma.org/condition-monitoring-studie-2025" TargetMode="External"/><Relationship Id="rId3" Type="http://schemas.openxmlformats.org/officeDocument/2006/relationships/hyperlink" Target="https://www.handelsblatt.com/unternehmen/industrie/" TargetMode="External"/><Relationship Id="rId4" Type="http://schemas.openxmlformats.org/officeDocument/2006/relationships/hyperlink" Target="https://www.destatis.de/DE/Themen/Arbeit/Arbeitsmarkt/Erwerbstaetigkeit/instandhaltung-2030.html" TargetMode="Externa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document">
    <p:bg>
      <p:bgPr>
        <a:solidFill>
          <a:schemeClr val="bg1"/>
        </a:solidFill>
        <a:effectLst/>
      </p:bgPr>
    </p:bg>
    <p:spTree>
      <p:nvGrpSpPr>
        <p:cNvPr id="1" name=""/>
        <p:cNvGrpSpPr/>
        <p:nvPr/>
      </p:nvGrpSpPr>
      <p:grpSpPr>
        <a:xfrm>
          <a:off x="0" y="0"/>
          <a:ext cx="0" cy="0"/>
          <a:chOff x="0" y="0"/>
          <a:chExt cx="0" cy="0"/>
        </a:xfrm>
      </p:grpSpPr>
      <p:sp>
        <p:nvSpPr>
          <p:cNvPr id="2" name="copy:document#title"/>
          <p:cNvSpPr txBox="1"/>
          <p:nvPr/>
        </p:nvSpPr>
        <p:spPr>
          <a:xfrm>
            <a:off x="457200" y="457200"/>
            <a:ext cx="11277600" cy="1120140"/>
          </a:xfrm>
          <a:prstGeom prst="rect">
            <a:avLst/>
          </a:prstGeom>
          <a:noFill/>
          <a:ln>
            <a:noFill/>
          </a:ln>
        </p:spPr>
        <p:txBody>
          <a:bodyPr wrap="square" lIns="0" tIns="0" rIns="0" bIns="0" rtlCol="0" anchor="t">
            <a:noAutofit/>
          </a:bodyPr>
          <a:lstStyle/>
          <a:p>
            <a:pPr>
              <a:lnSpc>
                <a:spcPts val="4410"/>
              </a:lnSpc>
              <a:buNone/>
            </a:pPr>
            <a:r>
              <a:rPr lang="en-US" sz="4200" dirty="0">
                <a:solidFill>
                  <a:schemeClr val="tx1"/>
                </a:solidFill>
                <a:latin typeface="Arial"/>
                <a:ea typeface="Arial"/>
                <a:cs typeface="Arial"/>
              </a:rPr>
              <a:t>The Maintenance Budget That Buys Downtime</a:t>
            </a:r>
            <a:endParaRPr lang="en-US" sz="4200" dirty="0"/>
          </a:p>
        </p:txBody>
      </p:sp>
      <p:sp>
        <p:nvSpPr>
          <p:cNvPr id="3" name="copy:document#subtitle"/>
          <p:cNvSpPr txBox="1"/>
          <p:nvPr/>
        </p:nvSpPr>
        <p:spPr>
          <a:xfrm>
            <a:off x="457200" y="1805940"/>
            <a:ext cx="11277600" cy="571500"/>
          </a:xfrm>
          <a:prstGeom prst="rect">
            <a:avLst/>
          </a:prstGeom>
          <a:noFill/>
          <a:ln>
            <a:noFill/>
          </a:ln>
        </p:spPr>
        <p:txBody>
          <a:bodyPr wrap="square" lIns="0" tIns="0" rIns="0" bIns="0" rtlCol="0" anchor="t">
            <a:noAutofit/>
          </a:bodyPr>
          <a:lstStyle/>
          <a:p>
            <a:pPr>
              <a:lnSpc>
                <a:spcPts val="2250"/>
              </a:lnSpc>
              <a:buNone/>
            </a:pPr>
            <a:r>
              <a:rPr lang="en-US" sz="1800" dirty="0">
                <a:solidFill>
                  <a:schemeClr val="tx2"/>
                </a:solidFill>
                <a:latin typeface="Arial"/>
                <a:ea typeface="Arial"/>
                <a:cs typeface="Arial"/>
              </a:rPr>
              <a:t>How should European industrial operators respond to the shift from scheduled to condition-based maintenance?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u-slide-1">
    <p:bg>
      <p:bgPr>
        <a:solidFill>
          <a:schemeClr val="bg1"/>
        </a:solidFill>
        <a:effectLst/>
      </p:bgPr>
    </p:bg>
    <p:spTree>
      <p:nvGrpSpPr>
        <p:cNvPr id="1" name=""/>
        <p:cNvGrpSpPr/>
        <p:nvPr/>
      </p:nvGrpSpPr>
      <p:grpSpPr>
        <a:xfrm>
          <a:off x="0" y="0"/>
          <a:ext cx="0" cy="0"/>
          <a:chOff x="0" y="0"/>
          <a:chExt cx="0" cy="0"/>
        </a:xfrm>
      </p:grpSpPr>
      <p:sp>
        <p:nvSpPr>
          <p:cNvPr id="2" name="rule:u-slide-1"/>
          <p:cNvSpPr/>
          <p:nvPr/>
        </p:nvSpPr>
        <p:spPr>
          <a:xfrm>
            <a:off x="266700" y="457200"/>
            <a:ext cx="57150" cy="1120140"/>
          </a:xfrm>
          <a:prstGeom prst="rect">
            <a:avLst/>
          </a:prstGeom>
          <a:solidFill>
            <a:schemeClr val="accent1"/>
          </a:solidFill>
          <a:ln>
            <a:noFill/>
          </a:ln>
        </p:spPr>
      </p:sp>
      <p:sp>
        <p:nvSpPr>
          <p:cNvPr id="3" name="copy:slide-1#headline"/>
          <p:cNvSpPr txBox="1"/>
          <p:nvPr/>
        </p:nvSpPr>
        <p:spPr>
          <a:xfrm>
            <a:off x="457200" y="457200"/>
            <a:ext cx="11277600" cy="1120140"/>
          </a:xfrm>
          <a:prstGeom prst="rect">
            <a:avLst/>
          </a:prstGeom>
          <a:noFill/>
          <a:ln>
            <a:noFill/>
          </a:ln>
        </p:spPr>
        <p:txBody>
          <a:bodyPr wrap="square" lIns="0" tIns="0" rIns="0" bIns="0" rtlCol="0" anchor="t">
            <a:noAutofit/>
          </a:bodyPr>
          <a:lstStyle/>
          <a:p>
            <a:pPr>
              <a:lnSpc>
                <a:spcPts val="4410"/>
              </a:lnSpc>
              <a:buNone/>
            </a:pPr>
            <a:r>
              <a:rPr lang="en-US" sz="4200" dirty="0">
                <a:solidFill>
                  <a:schemeClr val="tx1"/>
                </a:solidFill>
                <a:latin typeface="Arial"/>
                <a:ea typeface="Arial"/>
                <a:cs typeface="Arial"/>
              </a:rPr>
              <a:t>The Maintenance Budget That Buys Downtime</a:t>
            </a:r>
            <a:endParaRPr lang="en-US" sz="4200" dirty="0"/>
          </a:p>
        </p:txBody>
      </p:sp>
      <p:sp>
        <p:nvSpPr>
          <p:cNvPr id="4" name="copy:slide-1#slide_points"/>
          <p:cNvSpPr txBox="1"/>
          <p:nvPr/>
        </p:nvSpPr>
        <p:spPr>
          <a:xfrm>
            <a:off x="457200" y="1805940"/>
            <a:ext cx="11277600" cy="1485900"/>
          </a:xfrm>
          <a:prstGeom prst="rect">
            <a:avLst/>
          </a:prstGeom>
          <a:noFill/>
          <a:ln>
            <a:noFill/>
          </a:ln>
        </p:spPr>
        <p:txBody>
          <a:bodyPr wrap="square" lIns="0" tIns="0" rIns="0" bIns="0" rtlCol="0" anchor="t">
            <a:noAutofit/>
          </a:bodyPr>
          <a:lstStyle/>
          <a:p>
            <a:pPr marL="171450" indent="-171450">
              <a:lnSpc>
                <a:spcPts val="2250"/>
              </a:lnSpc>
              <a:buFont typeface="Arial"/>
              <a:buChar char="•"/>
            </a:pPr>
            <a:r>
              <a:rPr lang="en-US" sz="1800" dirty="0">
                <a:solidFill>
                  <a:schemeClr val="tx1"/>
                </a:solidFill>
                <a:latin typeface="Arial"/>
                <a:ea typeface="Arial"/>
                <a:cs typeface="Arial"/>
              </a:rPr>
              <a:t>lose 11 percent more production hours </a:t>
            </a:r>
            <a:r>
              <a:rPr lang="en-US" sz="1800" dirty="0">
                <a:solidFill>
                  <a:schemeClr val="tx1"/>
                </a:solidFill>
                <a:latin typeface="Arial"/>
                <a:ea typeface="Arial"/>
                <a:cs typeface="Arial"/>
                <a:hlinkClick r:id="rId1"/>
              </a:rPr>
              <a:t>[1]</a:t>
            </a:r>
            <a:endParaRPr lang="en-US" sz="1800" dirty="0"/>
          </a:p>
          <a:p>
            <a:pPr marL="171450" indent="-171450">
              <a:lnSpc>
                <a:spcPts val="2250"/>
              </a:lnSpc>
              <a:spcBef>
                <a:spcPts val="900"/>
              </a:spcBef>
              <a:buFont typeface="Arial"/>
              <a:buChar char="•"/>
            </a:pPr>
            <a:r>
              <a:rPr lang="en-US" sz="1800" dirty="0">
                <a:solidFill>
                  <a:schemeClr val="tx1"/>
                </a:solidFill>
                <a:latin typeface="Arial"/>
                <a:ea typeface="Arial"/>
                <a:cs typeface="Arial"/>
              </a:rPr>
              <a:t>71 percent of the failures had a readable sensor precursor </a:t>
            </a:r>
            <a:r>
              <a:rPr lang="en-US" sz="1800" dirty="0">
                <a:solidFill>
                  <a:schemeClr val="tx1"/>
                </a:solidFill>
                <a:latin typeface="Arial"/>
                <a:ea typeface="Arial"/>
                <a:cs typeface="Arial"/>
                <a:hlinkClick r:id="rId1"/>
              </a:rPr>
              <a:t>[1]</a:t>
            </a:r>
            <a:endParaRPr lang="en-US" sz="1800" dirty="0"/>
          </a:p>
          <a:p>
            <a:pPr marL="171450" indent="-171450">
              <a:lnSpc>
                <a:spcPts val="2250"/>
              </a:lnSpc>
              <a:spcBef>
                <a:spcPts val="900"/>
              </a:spcBef>
              <a:buFont typeface="Arial"/>
              <a:buChar char="•"/>
            </a:pPr>
            <a:r>
              <a:rPr lang="en-US" sz="1800" dirty="0">
                <a:solidFill>
                  <a:schemeClr val="tx1"/>
                </a:solidFill>
                <a:latin typeface="Arial"/>
                <a:ea typeface="Arial"/>
                <a:cs typeface="Arial"/>
              </a:rPr>
              <a:t>The constraint is signal, not labour</a:t>
            </a:r>
            <a:endParaRPr lang="en-US" sz="1800" dirty="0"/>
          </a:p>
          <a:p>
            <a:pPr marL="171450" indent="-171450">
              <a:lnSpc>
                <a:spcPts val="2250"/>
              </a:lnSpc>
              <a:spcBef>
                <a:spcPts val="900"/>
              </a:spcBef>
              <a:buFont typeface="Arial"/>
              <a:buChar char="•"/>
            </a:pPr>
            <a:r>
              <a:rPr lang="en-US" sz="1800" dirty="0">
                <a:solidFill>
                  <a:schemeClr val="tx1"/>
                </a:solidFill>
                <a:latin typeface="Arial"/>
                <a:ea typeface="Arial"/>
                <a:cs typeface="Arial"/>
              </a:rPr>
              <a:t>costs roughly a quarter of what inaction costs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u-slide-2">
    <p:bg>
      <p:bgPr>
        <a:solidFill>
          <a:schemeClr val="bg1"/>
        </a:solidFill>
        <a:effectLst/>
      </p:bgPr>
    </p:bg>
    <p:spTree>
      <p:nvGrpSpPr>
        <p:cNvPr id="1" name=""/>
        <p:cNvGrpSpPr/>
        <p:nvPr/>
      </p:nvGrpSpPr>
      <p:grpSpPr>
        <a:xfrm>
          <a:off x="0" y="0"/>
          <a:ext cx="0" cy="0"/>
          <a:chOff x="0" y="0"/>
          <a:chExt cx="0" cy="0"/>
        </a:xfrm>
      </p:grpSpPr>
      <p:sp>
        <p:nvSpPr>
          <p:cNvPr id="2" name="copy:slide-2#headline"/>
          <p:cNvSpPr txBox="1"/>
          <p:nvPr/>
        </p:nvSpPr>
        <p:spPr>
          <a:xfrm>
            <a:off x="457200" y="457200"/>
            <a:ext cx="11277600" cy="350520"/>
          </a:xfrm>
          <a:prstGeom prst="rect">
            <a:avLst/>
          </a:prstGeom>
          <a:noFill/>
          <a:ln>
            <a:noFill/>
          </a:ln>
        </p:spPr>
        <p:txBody>
          <a:bodyPr wrap="square" lIns="0" tIns="0" rIns="0" bIns="0" rtlCol="0" anchor="t">
            <a:noAutofit/>
          </a:bodyPr>
          <a:lstStyle/>
          <a:p>
            <a:pPr>
              <a:lnSpc>
                <a:spcPts val="2760"/>
              </a:lnSpc>
              <a:buNone/>
            </a:pPr>
            <a:r>
              <a:rPr lang="en-US" sz="2400" dirty="0">
                <a:solidFill>
                  <a:schemeClr val="tx1"/>
                </a:solidFill>
                <a:latin typeface="Arial"/>
                <a:ea typeface="Arial"/>
                <a:cs typeface="Arial"/>
              </a:rPr>
              <a:t>Reliability is an information problem, not a spending problem</a:t>
            </a:r>
            <a:endParaRPr lang="en-US" sz="2400" dirty="0"/>
          </a:p>
        </p:txBody>
      </p:sp>
      <p:sp>
        <p:nvSpPr>
          <p:cNvPr id="3" name="rule:slide-2#slide_points#0"/>
          <p:cNvSpPr/>
          <p:nvPr/>
        </p:nvSpPr>
        <p:spPr>
          <a:xfrm>
            <a:off x="457200" y="960120"/>
            <a:ext cx="2647950" cy="28575"/>
          </a:xfrm>
          <a:prstGeom prst="rect">
            <a:avLst/>
          </a:prstGeom>
          <a:solidFill>
            <a:schemeClr val="accent1"/>
          </a:solidFill>
          <a:ln>
            <a:noFill/>
          </a:ln>
        </p:spPr>
      </p:sp>
      <p:sp>
        <p:nvSpPr>
          <p:cNvPr id="4" name="copy:slide-2#slide_points#0"/>
          <p:cNvSpPr txBox="1"/>
          <p:nvPr/>
        </p:nvSpPr>
        <p:spPr>
          <a:xfrm>
            <a:off x="457200" y="1036320"/>
            <a:ext cx="2647950" cy="857250"/>
          </a:xfrm>
          <a:prstGeom prst="rect">
            <a:avLst/>
          </a:prstGeom>
          <a:noFill/>
          <a:ln>
            <a:noFill/>
          </a:ln>
        </p:spPr>
        <p:txBody>
          <a:bodyPr wrap="square" lIns="0" tIns="0" rIns="0" bIns="0" rtlCol="0" anchor="t">
            <a:noAutofit/>
          </a:bodyPr>
          <a:lstStyle/>
          <a:p>
            <a:pPr>
              <a:lnSpc>
                <a:spcPts val="2250"/>
              </a:lnSpc>
              <a:buNone/>
            </a:pPr>
            <a:r>
              <a:rPr lang="en-US" sz="1800" dirty="0">
                <a:solidFill>
                  <a:schemeClr val="tx1"/>
                </a:solidFill>
                <a:latin typeface="Arial"/>
                <a:ea typeface="Arial"/>
                <a:cs typeface="Arial"/>
              </a:rPr>
              <a:t>Spend buys interventions that land on the wrong asset </a:t>
            </a:r>
            <a:r>
              <a:rPr lang="en-US" sz="1800" dirty="0">
                <a:solidFill>
                  <a:schemeClr val="tx1"/>
                </a:solidFill>
                <a:latin typeface="Arial"/>
                <a:ea typeface="Arial"/>
                <a:cs typeface="Arial"/>
                <a:hlinkClick r:id="rId1"/>
              </a:rPr>
              <a:t>[1]</a:t>
            </a:r>
            <a:endParaRPr lang="en-US" sz="1800" dirty="0"/>
          </a:p>
        </p:txBody>
      </p:sp>
      <p:sp>
        <p:nvSpPr>
          <p:cNvPr id="5" name="rule:slide-2#slide_points#1"/>
          <p:cNvSpPr/>
          <p:nvPr/>
        </p:nvSpPr>
        <p:spPr>
          <a:xfrm>
            <a:off x="3333750" y="960120"/>
            <a:ext cx="2647950" cy="28575"/>
          </a:xfrm>
          <a:prstGeom prst="rect">
            <a:avLst/>
          </a:prstGeom>
          <a:solidFill>
            <a:schemeClr val="accent1"/>
          </a:solidFill>
          <a:ln>
            <a:noFill/>
          </a:ln>
        </p:spPr>
      </p:sp>
      <p:sp>
        <p:nvSpPr>
          <p:cNvPr id="6" name="copy:slide-2#slide_points#1"/>
          <p:cNvSpPr txBox="1"/>
          <p:nvPr/>
        </p:nvSpPr>
        <p:spPr>
          <a:xfrm>
            <a:off x="3333750" y="1036320"/>
            <a:ext cx="2647950" cy="857250"/>
          </a:xfrm>
          <a:prstGeom prst="rect">
            <a:avLst/>
          </a:prstGeom>
          <a:noFill/>
          <a:ln>
            <a:noFill/>
          </a:ln>
        </p:spPr>
        <p:txBody>
          <a:bodyPr wrap="square" lIns="0" tIns="0" rIns="0" bIns="0" rtlCol="0" anchor="t">
            <a:noAutofit/>
          </a:bodyPr>
          <a:lstStyle/>
          <a:p>
            <a:pPr>
              <a:lnSpc>
                <a:spcPts val="2250"/>
              </a:lnSpc>
              <a:buNone/>
            </a:pPr>
            <a:r>
              <a:rPr lang="en-US" sz="1800" dirty="0">
                <a:solidFill>
                  <a:schemeClr val="tx1"/>
                </a:solidFill>
                <a:latin typeface="Arial"/>
                <a:ea typeface="Arial"/>
                <a:cs typeface="Arial"/>
              </a:rPr>
              <a:t>62 percent of unplanned stops had a measurable precursor </a:t>
            </a:r>
            <a:r>
              <a:rPr lang="en-US" sz="1800" dirty="0">
                <a:solidFill>
                  <a:schemeClr val="tx1"/>
                </a:solidFill>
                <a:latin typeface="Arial"/>
                <a:ea typeface="Arial"/>
                <a:cs typeface="Arial"/>
                <a:hlinkClick r:id="rId1"/>
              </a:rPr>
              <a:t>[1]</a:t>
            </a:r>
            <a:endParaRPr lang="en-US" sz="1800" dirty="0"/>
          </a:p>
        </p:txBody>
      </p:sp>
      <p:sp>
        <p:nvSpPr>
          <p:cNvPr id="7" name="rule:slide-2#slide_points#2"/>
          <p:cNvSpPr/>
          <p:nvPr/>
        </p:nvSpPr>
        <p:spPr>
          <a:xfrm>
            <a:off x="6210300" y="960120"/>
            <a:ext cx="2647950" cy="28575"/>
          </a:xfrm>
          <a:prstGeom prst="rect">
            <a:avLst/>
          </a:prstGeom>
          <a:solidFill>
            <a:schemeClr val="accent1"/>
          </a:solidFill>
          <a:ln>
            <a:noFill/>
          </a:ln>
        </p:spPr>
      </p:sp>
      <p:sp>
        <p:nvSpPr>
          <p:cNvPr id="8" name="copy:slide-2#slide_points#2"/>
          <p:cNvSpPr txBox="1"/>
          <p:nvPr/>
        </p:nvSpPr>
        <p:spPr>
          <a:xfrm>
            <a:off x="6210300" y="1036320"/>
            <a:ext cx="2647950" cy="857250"/>
          </a:xfrm>
          <a:prstGeom prst="rect">
            <a:avLst/>
          </a:prstGeom>
          <a:noFill/>
          <a:ln>
            <a:noFill/>
          </a:ln>
        </p:spPr>
        <p:txBody>
          <a:bodyPr wrap="square" lIns="0" tIns="0" rIns="0" bIns="0" rtlCol="0" anchor="t">
            <a:noAutofit/>
          </a:bodyPr>
          <a:lstStyle/>
          <a:p>
            <a:pPr>
              <a:lnSpc>
                <a:spcPts val="2250"/>
              </a:lnSpc>
              <a:buNone/>
            </a:pPr>
            <a:r>
              <a:rPr lang="en-US" sz="1800" dirty="0">
                <a:solidFill>
                  <a:schemeClr val="tx1"/>
                </a:solidFill>
                <a:latin typeface="Arial"/>
                <a:ea typeface="Arial"/>
                <a:cs typeface="Arial"/>
              </a:rPr>
              <a:t>47 sensor formats per plant already exist </a:t>
            </a:r>
            <a:r>
              <a:rPr lang="en-US" sz="1800" dirty="0">
                <a:solidFill>
                  <a:schemeClr val="tx1"/>
                </a:solidFill>
                <a:latin typeface="Arial"/>
                <a:ea typeface="Arial"/>
                <a:cs typeface="Arial"/>
                <a:hlinkClick r:id="rId2"/>
              </a:rPr>
              <a:t>[2]</a:t>
            </a:r>
            <a:endParaRPr lang="en-US" sz="1800" dirty="0"/>
          </a:p>
        </p:txBody>
      </p:sp>
      <p:sp>
        <p:nvSpPr>
          <p:cNvPr id="9" name="rule:slide-2#slide_points#3"/>
          <p:cNvSpPr/>
          <p:nvPr/>
        </p:nvSpPr>
        <p:spPr>
          <a:xfrm>
            <a:off x="9086850" y="960120"/>
            <a:ext cx="2647950" cy="28575"/>
          </a:xfrm>
          <a:prstGeom prst="rect">
            <a:avLst/>
          </a:prstGeom>
          <a:solidFill>
            <a:schemeClr val="accent1"/>
          </a:solidFill>
          <a:ln>
            <a:noFill/>
          </a:ln>
        </p:spPr>
      </p:sp>
      <p:sp>
        <p:nvSpPr>
          <p:cNvPr id="10" name="copy:slide-2#slide_points#3"/>
          <p:cNvSpPr txBox="1"/>
          <p:nvPr/>
        </p:nvSpPr>
        <p:spPr>
          <a:xfrm>
            <a:off x="9086850" y="1036320"/>
            <a:ext cx="2647950" cy="857250"/>
          </a:xfrm>
          <a:prstGeom prst="rect">
            <a:avLst/>
          </a:prstGeom>
          <a:noFill/>
          <a:ln>
            <a:noFill/>
          </a:ln>
        </p:spPr>
        <p:txBody>
          <a:bodyPr wrap="square" lIns="0" tIns="0" rIns="0" bIns="0" rtlCol="0" anchor="t">
            <a:noAutofit/>
          </a:bodyPr>
          <a:lstStyle/>
          <a:p>
            <a:pPr>
              <a:lnSpc>
                <a:spcPts val="2250"/>
              </a:lnSpc>
              <a:buNone/>
            </a:pPr>
            <a:r>
              <a:rPr lang="en-US" sz="1800" dirty="0">
                <a:solidFill>
                  <a:schemeClr val="tx1"/>
                </a:solidFill>
                <a:latin typeface="Arial"/>
                <a:ea typeface="Arial"/>
                <a:cs typeface="Arial"/>
              </a:rPr>
              <a:t>34 percent fewer unplanned stops </a:t>
            </a:r>
            <a:r>
              <a:rPr lang="en-US" sz="1800" dirty="0">
                <a:solidFill>
                  <a:schemeClr val="tx1"/>
                </a:solidFill>
                <a:latin typeface="Arial"/>
                <a:ea typeface="Arial"/>
                <a:cs typeface="Arial"/>
                <a:hlinkClick r:id="rId1"/>
              </a:rPr>
              <a:t>[1]</a:t>
            </a:r>
            <a:endParaRPr lang="en-US" sz="1800" dirty="0"/>
          </a:p>
        </p:txBody>
      </p:sp>
      <p:sp>
        <p:nvSpPr>
          <p:cNvPr id="11" name="copy:slide-2#evidence_status"/>
          <p:cNvSpPr txBox="1"/>
          <p:nvPr/>
        </p:nvSpPr>
        <p:spPr>
          <a:xfrm>
            <a:off x="457200" y="2122170"/>
            <a:ext cx="11277600" cy="285750"/>
          </a:xfrm>
          <a:prstGeom prst="rect">
            <a:avLst/>
          </a:prstGeom>
          <a:noFill/>
          <a:ln>
            <a:noFill/>
          </a:ln>
        </p:spPr>
        <p:txBody>
          <a:bodyPr wrap="square" lIns="0" tIns="0" rIns="0" bIns="0" rtlCol="0" anchor="t">
            <a:noAutofit/>
          </a:bodyPr>
          <a:lstStyle/>
          <a:p>
            <a:pPr>
              <a:lnSpc>
                <a:spcPts val="2250"/>
              </a:lnSpc>
              <a:buNone/>
            </a:pPr>
            <a:r>
              <a:rPr lang="en-US" sz="1800" dirty="0">
                <a:solidFill>
                  <a:schemeClr val="tx2"/>
                </a:solidFill>
                <a:latin typeface="Arial"/>
                <a:ea typeface="Arial"/>
                <a:cs typeface="Arial"/>
              </a:rPr>
              <a:t>direct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u-slide-3">
    <p:bg>
      <p:bgPr>
        <a:solidFill>
          <a:schemeClr val="bg1"/>
        </a:solidFill>
        <a:effectLst/>
      </p:bgPr>
    </p:bg>
    <p:spTree>
      <p:nvGrpSpPr>
        <p:cNvPr id="1" name=""/>
        <p:cNvGrpSpPr/>
        <p:nvPr/>
      </p:nvGrpSpPr>
      <p:grpSpPr>
        <a:xfrm>
          <a:off x="0" y="0"/>
          <a:ext cx="0" cy="0"/>
          <a:chOff x="0" y="0"/>
          <a:chExt cx="0" cy="0"/>
        </a:xfrm>
      </p:grpSpPr>
      <p:sp>
        <p:nvSpPr>
          <p:cNvPr id="2" name="copy:slide-3#headline"/>
          <p:cNvSpPr txBox="1"/>
          <p:nvPr/>
        </p:nvSpPr>
        <p:spPr>
          <a:xfrm>
            <a:off x="457200" y="457200"/>
            <a:ext cx="11277600" cy="350520"/>
          </a:xfrm>
          <a:prstGeom prst="rect">
            <a:avLst/>
          </a:prstGeom>
          <a:noFill/>
          <a:ln>
            <a:noFill/>
          </a:ln>
        </p:spPr>
        <p:txBody>
          <a:bodyPr wrap="square" lIns="0" tIns="0" rIns="0" bIns="0" rtlCol="0" anchor="t">
            <a:noAutofit/>
          </a:bodyPr>
          <a:lstStyle/>
          <a:p>
            <a:pPr>
              <a:lnSpc>
                <a:spcPts val="2760"/>
              </a:lnSpc>
              <a:buNone/>
            </a:pPr>
            <a:r>
              <a:rPr lang="en-US" sz="2400" dirty="0">
                <a:solidFill>
                  <a:schemeClr val="tx1"/>
                </a:solidFill>
                <a:latin typeface="Arial"/>
                <a:ea typeface="Arial"/>
                <a:cs typeface="Arial"/>
              </a:rPr>
              <a:t>Three converging forces make action urgent</a:t>
            </a:r>
            <a:endParaRPr lang="en-US" sz="2400" dirty="0"/>
          </a:p>
        </p:txBody>
      </p:sp>
      <p:sp>
        <p:nvSpPr>
          <p:cNvPr id="3" name="copy:slide-3#slide_points#0"/>
          <p:cNvSpPr/>
          <p:nvPr/>
        </p:nvSpPr>
        <p:spPr>
          <a:xfrm>
            <a:off x="457200" y="1036320"/>
            <a:ext cx="8801100" cy="590550"/>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250"/>
              </a:lnSpc>
              <a:buNone/>
            </a:pPr>
            <a:r>
              <a:rPr lang="en-US" sz="1800" dirty="0">
                <a:solidFill>
                  <a:schemeClr val="tx1"/>
                </a:solidFill>
                <a:latin typeface="Arial"/>
                <a:ea typeface="Arial"/>
                <a:cs typeface="Arial"/>
              </a:rPr>
              <a:t>EU Machinery Regulation applies in full from January 2027 </a:t>
            </a:r>
            <a:r>
              <a:rPr lang="en-US" sz="1800" dirty="0">
                <a:solidFill>
                  <a:schemeClr val="tx1"/>
                </a:solidFill>
                <a:latin typeface="Arial"/>
                <a:ea typeface="Arial"/>
                <a:cs typeface="Arial"/>
                <a:hlinkClick r:id="rId1"/>
              </a:rPr>
              <a:t>[2]</a:t>
            </a:r>
            <a:endParaRPr lang="en-US" sz="1800" dirty="0"/>
          </a:p>
        </p:txBody>
      </p:sp>
      <p:sp>
        <p:nvSpPr>
          <p:cNvPr id="4" name="copy:slide-3#slide_points#1"/>
          <p:cNvSpPr/>
          <p:nvPr/>
        </p:nvSpPr>
        <p:spPr>
          <a:xfrm>
            <a:off x="457200" y="1855470"/>
            <a:ext cx="8801100" cy="590550"/>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250"/>
              </a:lnSpc>
              <a:buNone/>
            </a:pPr>
            <a:r>
              <a:rPr lang="en-US" sz="1800" dirty="0">
                <a:solidFill>
                  <a:schemeClr val="tx1"/>
                </a:solidFill>
                <a:latin typeface="Arial"/>
                <a:ea typeface="Arial"/>
                <a:cs typeface="Arial"/>
              </a:rPr>
              <a:t>23 percent decline in qualified maintenance technicians by 2030 </a:t>
            </a:r>
            <a:r>
              <a:rPr lang="en-US" sz="1800" dirty="0">
                <a:solidFill>
                  <a:schemeClr val="tx1"/>
                </a:solidFill>
                <a:latin typeface="Arial"/>
                <a:ea typeface="Arial"/>
                <a:cs typeface="Arial"/>
                <a:hlinkClick r:id="rId2"/>
              </a:rPr>
              <a:t>[4]</a:t>
            </a:r>
            <a:endParaRPr lang="en-US" sz="1800" dirty="0"/>
          </a:p>
        </p:txBody>
      </p:sp>
      <p:sp>
        <p:nvSpPr>
          <p:cNvPr id="5" name="copy:slide-3#slide_points#2"/>
          <p:cNvSpPr/>
          <p:nvPr/>
        </p:nvSpPr>
        <p:spPr>
          <a:xfrm>
            <a:off x="457200" y="2674620"/>
            <a:ext cx="8801100" cy="590550"/>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250"/>
              </a:lnSpc>
              <a:buNone/>
            </a:pPr>
            <a:r>
              <a:rPr lang="en-US" sz="1800" dirty="0">
                <a:solidFill>
                  <a:schemeClr val="tx1"/>
                </a:solidFill>
                <a:latin typeface="Arial"/>
                <a:ea typeface="Arial"/>
                <a:cs typeface="Arial"/>
              </a:rPr>
              <a:t>Insurers price condition monitoring: 8 to 12 percent discounts </a:t>
            </a:r>
            <a:r>
              <a:rPr lang="en-US" sz="1800" dirty="0">
                <a:solidFill>
                  <a:schemeClr val="tx1"/>
                </a:solidFill>
                <a:latin typeface="Arial"/>
                <a:ea typeface="Arial"/>
                <a:cs typeface="Arial"/>
                <a:hlinkClick r:id="rId3"/>
              </a:rPr>
              <a:t>[3]</a:t>
            </a:r>
            <a:endParaRPr lang="en-US" sz="1800" dirty="0"/>
          </a:p>
        </p:txBody>
      </p:sp>
      <p:cxnSp>
        <p:nvCxnSpPr>
          <p:cNvPr id="6" name="edge:e1:e2"/>
          <p:cNvCxnSpPr>
            <a:stCxn id="3" idx="3"/>
            <a:endCxn id="4" idx="3"/>
          </p:cNvCxnSpPr>
          <p:nvPr/>
        </p:nvCxnSpPr>
        <p:spPr>
          <a:xfrm>
            <a:off x="9258300" y="1331595"/>
            <a:ext cx="12700" cy="819150"/>
          </a:xfrm>
          <a:prstGeom prst="bentConnector3">
            <a:avLst>
              <a:gd name="adj1" fmla="val 3000000"/>
            </a:avLst>
          </a:prstGeom>
          <a:ln w="19050">
            <a:solidFill>
              <a:schemeClr val="accent1"/>
            </a:solidFill>
            <a:tailEnd type="triangle"/>
          </a:ln>
        </p:spPr>
      </p:cxnSp>
      <p:sp>
        <p:nvSpPr>
          <p:cNvPr id="7" name="kind:e1:e2"/>
          <p:cNvSpPr txBox="1"/>
          <p:nvPr/>
        </p:nvSpPr>
        <p:spPr>
          <a:xfrm>
            <a:off x="10001250" y="1645206"/>
            <a:ext cx="2114550" cy="191929"/>
          </a:xfrm>
          <a:prstGeom prst="rect">
            <a:avLst/>
          </a:prstGeom>
          <a:noFill/>
          <a:ln>
            <a:noFill/>
          </a:ln>
        </p:spPr>
        <p:txBody>
          <a:bodyPr wrap="none" lIns="0" tIns="0" rIns="0" bIns="0" rtlCol="0" anchor="t">
            <a:noAutofit/>
          </a:bodyPr>
          <a:lstStyle/>
          <a:p>
            <a:pPr>
              <a:lnSpc>
                <a:spcPts val="1511"/>
              </a:lnSpc>
              <a:buNone/>
            </a:pPr>
            <a:r>
              <a:rPr lang="en-US" sz="975" dirty="0">
                <a:solidFill>
                  <a:schemeClr val="tx2"/>
                </a:solidFill>
                <a:latin typeface="Arial"/>
                <a:ea typeface="Arial"/>
                <a:cs typeface="Arial"/>
              </a:rPr>
              <a:t>converges-with</a:t>
            </a:r>
            <a:endParaRPr lang="en-US" sz="975" dirty="0"/>
          </a:p>
        </p:txBody>
      </p:sp>
      <p:cxnSp>
        <p:nvCxnSpPr>
          <p:cNvPr id="8" name="edge:e2:e3"/>
          <p:cNvCxnSpPr>
            <a:stCxn id="4" idx="3"/>
            <a:endCxn id="5" idx="3"/>
          </p:cNvCxnSpPr>
          <p:nvPr/>
        </p:nvCxnSpPr>
        <p:spPr>
          <a:xfrm>
            <a:off x="9258300" y="2150745"/>
            <a:ext cx="12700" cy="819150"/>
          </a:xfrm>
          <a:prstGeom prst="bentConnector3">
            <a:avLst>
              <a:gd name="adj1" fmla="val 5250000"/>
            </a:avLst>
          </a:prstGeom>
          <a:ln w="19050">
            <a:solidFill>
              <a:schemeClr val="accent1"/>
            </a:solidFill>
            <a:tailEnd type="triangle"/>
          </a:ln>
        </p:spPr>
      </p:cxnSp>
      <p:sp>
        <p:nvSpPr>
          <p:cNvPr id="9" name="kind:e2:e3"/>
          <p:cNvSpPr txBox="1"/>
          <p:nvPr/>
        </p:nvSpPr>
        <p:spPr>
          <a:xfrm>
            <a:off x="10001250" y="2464356"/>
            <a:ext cx="2114550" cy="191929"/>
          </a:xfrm>
          <a:prstGeom prst="rect">
            <a:avLst/>
          </a:prstGeom>
          <a:noFill/>
          <a:ln>
            <a:noFill/>
          </a:ln>
        </p:spPr>
        <p:txBody>
          <a:bodyPr wrap="none" lIns="0" tIns="0" rIns="0" bIns="0" rtlCol="0" anchor="t">
            <a:noAutofit/>
          </a:bodyPr>
          <a:lstStyle/>
          <a:p>
            <a:pPr>
              <a:lnSpc>
                <a:spcPts val="1511"/>
              </a:lnSpc>
              <a:buNone/>
            </a:pPr>
            <a:r>
              <a:rPr lang="en-US" sz="975" dirty="0">
                <a:solidFill>
                  <a:schemeClr val="tx2"/>
                </a:solidFill>
                <a:latin typeface="Arial"/>
                <a:ea typeface="Arial"/>
                <a:cs typeface="Arial"/>
              </a:rPr>
              <a:t>converges-with</a:t>
            </a:r>
            <a:endParaRPr lang="en-US" sz="975" dirty="0"/>
          </a:p>
        </p:txBody>
      </p:sp>
      <p:sp>
        <p:nvSpPr>
          <p:cNvPr id="10" name="copy:slide-3#evidence_status"/>
          <p:cNvSpPr txBox="1"/>
          <p:nvPr/>
        </p:nvSpPr>
        <p:spPr>
          <a:xfrm>
            <a:off x="457200" y="3493770"/>
            <a:ext cx="11277600" cy="285750"/>
          </a:xfrm>
          <a:prstGeom prst="rect">
            <a:avLst/>
          </a:prstGeom>
          <a:noFill/>
          <a:ln>
            <a:noFill/>
          </a:ln>
        </p:spPr>
        <p:txBody>
          <a:bodyPr wrap="square" lIns="0" tIns="0" rIns="0" bIns="0" rtlCol="0" anchor="t">
            <a:noAutofit/>
          </a:bodyPr>
          <a:lstStyle/>
          <a:p>
            <a:pPr>
              <a:lnSpc>
                <a:spcPts val="2250"/>
              </a:lnSpc>
              <a:buNone/>
            </a:pPr>
            <a:r>
              <a:rPr lang="en-US" sz="1800" dirty="0">
                <a:solidFill>
                  <a:schemeClr val="tx2"/>
                </a:solidFill>
                <a:latin typeface="Arial"/>
                <a:ea typeface="Arial"/>
                <a:cs typeface="Arial"/>
              </a:rPr>
              <a:t>triangulated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u-slide-4">
    <p:bg>
      <p:bgPr>
        <a:solidFill>
          <a:schemeClr val="bg1"/>
        </a:solidFill>
        <a:effectLst/>
      </p:bgPr>
    </p:bg>
    <p:spTree>
      <p:nvGrpSpPr>
        <p:cNvPr id="1" name=""/>
        <p:cNvGrpSpPr/>
        <p:nvPr/>
      </p:nvGrpSpPr>
      <p:grpSpPr>
        <a:xfrm>
          <a:off x="0" y="0"/>
          <a:ext cx="0" cy="0"/>
          <a:chOff x="0" y="0"/>
          <a:chExt cx="0" cy="0"/>
        </a:xfrm>
      </p:grpSpPr>
      <p:sp>
        <p:nvSpPr>
          <p:cNvPr id="2" name="copy:slide-4#headline"/>
          <p:cNvSpPr txBox="1"/>
          <p:nvPr/>
        </p:nvSpPr>
        <p:spPr>
          <a:xfrm>
            <a:off x="457200" y="457200"/>
            <a:ext cx="11277600" cy="350520"/>
          </a:xfrm>
          <a:prstGeom prst="rect">
            <a:avLst/>
          </a:prstGeom>
          <a:noFill/>
          <a:ln>
            <a:noFill/>
          </a:ln>
        </p:spPr>
        <p:txBody>
          <a:bodyPr wrap="square" lIns="0" tIns="0" rIns="0" bIns="0" rtlCol="0" anchor="t">
            <a:noAutofit/>
          </a:bodyPr>
          <a:lstStyle/>
          <a:p>
            <a:pPr>
              <a:lnSpc>
                <a:spcPts val="2760"/>
              </a:lnSpc>
              <a:buNone/>
            </a:pPr>
            <a:r>
              <a:rPr lang="en-US" sz="2400" dirty="0">
                <a:solidFill>
                  <a:schemeClr val="tx1"/>
                </a:solidFill>
                <a:latin typeface="Arial"/>
                <a:ea typeface="Arial"/>
                <a:cs typeface="Arial"/>
              </a:rPr>
              <a:t>Three Power Positions follow from the evidence</a:t>
            </a:r>
            <a:endParaRPr lang="en-US" sz="2400" dirty="0"/>
          </a:p>
        </p:txBody>
      </p:sp>
      <p:sp>
        <p:nvSpPr>
          <p:cNvPr id="3" name="copy:slide-4#slide_points#0"/>
          <p:cNvSpPr/>
          <p:nvPr/>
        </p:nvSpPr>
        <p:spPr>
          <a:xfrm>
            <a:off x="457200" y="1036320"/>
            <a:ext cx="8801100" cy="590550"/>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250"/>
              </a:lnSpc>
              <a:buNone/>
            </a:pPr>
            <a:r>
              <a:rPr lang="en-US" sz="1800" dirty="0">
                <a:solidFill>
                  <a:schemeClr val="tx1"/>
                </a:solidFill>
                <a:latin typeface="Arial"/>
                <a:ea typeface="Arial"/>
                <a:cs typeface="Arial"/>
              </a:rPr>
              <a:t>Asset-Health Data Integration</a:t>
            </a:r>
            <a:endParaRPr lang="en-US" sz="1800" dirty="0"/>
          </a:p>
        </p:txBody>
      </p:sp>
      <p:sp>
        <p:nvSpPr>
          <p:cNvPr id="4" name="copy:slide-4#slide_points#1"/>
          <p:cNvSpPr/>
          <p:nvPr/>
        </p:nvSpPr>
        <p:spPr>
          <a:xfrm>
            <a:off x="457200" y="1855470"/>
            <a:ext cx="8801100" cy="590550"/>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250"/>
              </a:lnSpc>
              <a:buNone/>
            </a:pPr>
            <a:r>
              <a:rPr lang="en-US" sz="1800" dirty="0">
                <a:solidFill>
                  <a:schemeClr val="tx1"/>
                </a:solidFill>
                <a:latin typeface="Arial"/>
                <a:ea typeface="Arial"/>
                <a:cs typeface="Arial"/>
              </a:rPr>
              <a:t>Compliance-by-Design Monitoring</a:t>
            </a:r>
            <a:endParaRPr lang="en-US" sz="1800" dirty="0"/>
          </a:p>
        </p:txBody>
      </p:sp>
      <p:sp>
        <p:nvSpPr>
          <p:cNvPr id="5" name="copy:slide-4#slide_points#2"/>
          <p:cNvSpPr/>
          <p:nvPr/>
        </p:nvSpPr>
        <p:spPr>
          <a:xfrm>
            <a:off x="457200" y="2674620"/>
            <a:ext cx="8801100" cy="590550"/>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250"/>
              </a:lnSpc>
              <a:buNone/>
            </a:pPr>
            <a:r>
              <a:rPr lang="en-US" sz="1800" dirty="0">
                <a:solidFill>
                  <a:schemeClr val="tx1"/>
                </a:solidFill>
                <a:latin typeface="Arial"/>
                <a:ea typeface="Arial"/>
                <a:cs typeface="Arial"/>
              </a:rPr>
              <a:t>Technician Leverage</a:t>
            </a:r>
            <a:endParaRPr lang="en-US" sz="1800" dirty="0"/>
          </a:p>
        </p:txBody>
      </p:sp>
      <p:cxnSp>
        <p:nvCxnSpPr>
          <p:cNvPr id="6" name="edge:e2:e1"/>
          <p:cNvCxnSpPr>
            <a:stCxn id="4" idx="3"/>
            <a:endCxn id="3" idx="3"/>
          </p:cNvCxnSpPr>
          <p:nvPr/>
        </p:nvCxnSpPr>
        <p:spPr>
          <a:xfrm flipV="1">
            <a:off x="9258300" y="1331595"/>
            <a:ext cx="12700" cy="819150"/>
          </a:xfrm>
          <a:prstGeom prst="bentConnector3">
            <a:avLst>
              <a:gd name="adj1" fmla="val 3000000"/>
            </a:avLst>
          </a:prstGeom>
          <a:ln w="19050">
            <a:solidFill>
              <a:schemeClr val="accent1"/>
            </a:solidFill>
            <a:tailEnd type="triangle"/>
          </a:ln>
        </p:spPr>
      </p:cxnSp>
      <p:sp>
        <p:nvSpPr>
          <p:cNvPr id="7" name="kind:e2:e1"/>
          <p:cNvSpPr txBox="1"/>
          <p:nvPr/>
        </p:nvSpPr>
        <p:spPr>
          <a:xfrm>
            <a:off x="10001250" y="1645206"/>
            <a:ext cx="2114550" cy="191929"/>
          </a:xfrm>
          <a:prstGeom prst="rect">
            <a:avLst/>
          </a:prstGeom>
          <a:noFill/>
          <a:ln>
            <a:noFill/>
          </a:ln>
        </p:spPr>
        <p:txBody>
          <a:bodyPr wrap="none" lIns="0" tIns="0" rIns="0" bIns="0" rtlCol="0" anchor="t">
            <a:noAutofit/>
          </a:bodyPr>
          <a:lstStyle/>
          <a:p>
            <a:pPr>
              <a:lnSpc>
                <a:spcPts val="1511"/>
              </a:lnSpc>
              <a:buNone/>
            </a:pPr>
            <a:r>
              <a:rPr lang="en-US" sz="975" dirty="0">
                <a:solidFill>
                  <a:schemeClr val="tx2"/>
                </a:solidFill>
                <a:latin typeface="Arial"/>
                <a:ea typeface="Arial"/>
                <a:cs typeface="Arial"/>
              </a:rPr>
              <a:t>depends-on</a:t>
            </a:r>
            <a:endParaRPr lang="en-US" sz="975" dirty="0"/>
          </a:p>
        </p:txBody>
      </p:sp>
      <p:cxnSp>
        <p:nvCxnSpPr>
          <p:cNvPr id="8" name="edge:e3:e1"/>
          <p:cNvCxnSpPr>
            <a:stCxn id="5" idx="3"/>
            <a:endCxn id="3" idx="3"/>
          </p:cNvCxnSpPr>
          <p:nvPr/>
        </p:nvCxnSpPr>
        <p:spPr>
          <a:xfrm flipV="1">
            <a:off x="9258300" y="1331595"/>
            <a:ext cx="12700" cy="1638300"/>
          </a:xfrm>
          <a:prstGeom prst="bentConnector3">
            <a:avLst>
              <a:gd name="adj1" fmla="val 5250000"/>
            </a:avLst>
          </a:prstGeom>
          <a:ln w="19050">
            <a:solidFill>
              <a:schemeClr val="accent1"/>
            </a:solidFill>
            <a:tailEnd type="triangle"/>
          </a:ln>
        </p:spPr>
      </p:cxnSp>
      <p:sp>
        <p:nvSpPr>
          <p:cNvPr id="9" name="kind:e3:e1"/>
          <p:cNvSpPr txBox="1"/>
          <p:nvPr/>
        </p:nvSpPr>
        <p:spPr>
          <a:xfrm>
            <a:off x="10001250" y="2054781"/>
            <a:ext cx="2114550" cy="191929"/>
          </a:xfrm>
          <a:prstGeom prst="rect">
            <a:avLst/>
          </a:prstGeom>
          <a:noFill/>
          <a:ln>
            <a:noFill/>
          </a:ln>
        </p:spPr>
        <p:txBody>
          <a:bodyPr wrap="none" lIns="0" tIns="0" rIns="0" bIns="0" rtlCol="0" anchor="t">
            <a:noAutofit/>
          </a:bodyPr>
          <a:lstStyle/>
          <a:p>
            <a:pPr>
              <a:lnSpc>
                <a:spcPts val="1511"/>
              </a:lnSpc>
              <a:buNone/>
            </a:pPr>
            <a:r>
              <a:rPr lang="en-US" sz="975" dirty="0">
                <a:solidFill>
                  <a:schemeClr val="tx2"/>
                </a:solidFill>
                <a:latin typeface="Arial"/>
                <a:ea typeface="Arial"/>
                <a:cs typeface="Arial"/>
              </a:rPr>
              <a:t>depends-on</a:t>
            </a:r>
            <a:endParaRPr lang="en-US" sz="975" dirty="0"/>
          </a:p>
        </p:txBody>
      </p:sp>
      <p:sp>
        <p:nvSpPr>
          <p:cNvPr id="10" name="copy:slide-4#evidence_status"/>
          <p:cNvSpPr txBox="1"/>
          <p:nvPr/>
        </p:nvSpPr>
        <p:spPr>
          <a:xfrm>
            <a:off x="457200" y="3493770"/>
            <a:ext cx="11277600" cy="285750"/>
          </a:xfrm>
          <a:prstGeom prst="rect">
            <a:avLst/>
          </a:prstGeom>
          <a:noFill/>
          <a:ln>
            <a:noFill/>
          </a:ln>
        </p:spPr>
        <p:txBody>
          <a:bodyPr wrap="square" lIns="0" tIns="0" rIns="0" bIns="0" rtlCol="0" anchor="t">
            <a:noAutofit/>
          </a:bodyPr>
          <a:lstStyle/>
          <a:p>
            <a:pPr>
              <a:lnSpc>
                <a:spcPts val="2250"/>
              </a:lnSpc>
              <a:buNone/>
            </a:pPr>
            <a:r>
              <a:rPr lang="en-US" sz="1800" dirty="0">
                <a:solidFill>
                  <a:schemeClr val="tx2"/>
                </a:solidFill>
                <a:latin typeface="Arial"/>
                <a:ea typeface="Arial"/>
                <a:cs typeface="Arial"/>
              </a:rPr>
              <a:t>interpretation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u-slide-5">
    <p:bg>
      <p:bgPr>
        <a:solidFill>
          <a:schemeClr val="bg1"/>
        </a:solidFill>
        <a:effectLst/>
      </p:bgPr>
    </p:bg>
    <p:spTree>
      <p:nvGrpSpPr>
        <p:cNvPr id="1" name=""/>
        <p:cNvGrpSpPr/>
        <p:nvPr/>
      </p:nvGrpSpPr>
      <p:grpSpPr>
        <a:xfrm>
          <a:off x="0" y="0"/>
          <a:ext cx="0" cy="0"/>
          <a:chOff x="0" y="0"/>
          <a:chExt cx="0" cy="0"/>
        </a:xfrm>
      </p:grpSpPr>
      <p:sp>
        <p:nvSpPr>
          <p:cNvPr id="2" name="copy:slide-5#headline"/>
          <p:cNvSpPr txBox="1"/>
          <p:nvPr/>
        </p:nvSpPr>
        <p:spPr>
          <a:xfrm>
            <a:off x="457200" y="457200"/>
            <a:ext cx="11277600" cy="350520"/>
          </a:xfrm>
          <a:prstGeom prst="rect">
            <a:avLst/>
          </a:prstGeom>
          <a:noFill/>
          <a:ln>
            <a:noFill/>
          </a:ln>
        </p:spPr>
        <p:txBody>
          <a:bodyPr wrap="square" lIns="0" tIns="0" rIns="0" bIns="0" rtlCol="0" anchor="t">
            <a:noAutofit/>
          </a:bodyPr>
          <a:lstStyle/>
          <a:p>
            <a:pPr>
              <a:lnSpc>
                <a:spcPts val="2760"/>
              </a:lnSpc>
              <a:buNone/>
            </a:pPr>
            <a:r>
              <a:rPr lang="en-US" sz="2400" dirty="0">
                <a:solidFill>
                  <a:schemeClr val="tx1"/>
                </a:solidFill>
                <a:latin typeface="Arial"/>
                <a:ea typeface="Arial"/>
                <a:cs typeface="Arial"/>
              </a:rPr>
              <a:t>The compound cost of inaction is 17.4 million euros</a:t>
            </a:r>
            <a:endParaRPr lang="en-US" sz="2400" dirty="0"/>
          </a:p>
        </p:txBody>
      </p:sp>
      <p:sp>
        <p:nvSpPr>
          <p:cNvPr id="3" name="rule:slide-5#slide_points#0"/>
          <p:cNvSpPr/>
          <p:nvPr/>
        </p:nvSpPr>
        <p:spPr>
          <a:xfrm>
            <a:off x="342900" y="1036320"/>
            <a:ext cx="28575" cy="285750"/>
          </a:xfrm>
          <a:prstGeom prst="rect">
            <a:avLst/>
          </a:prstGeom>
          <a:solidFill>
            <a:schemeClr val="accent1"/>
          </a:solidFill>
          <a:ln>
            <a:noFill/>
          </a:ln>
        </p:spPr>
      </p:sp>
      <p:sp>
        <p:nvSpPr>
          <p:cNvPr id="4" name="copy:slide-5#slide_points#0"/>
          <p:cNvSpPr txBox="1"/>
          <p:nvPr/>
        </p:nvSpPr>
        <p:spPr>
          <a:xfrm>
            <a:off x="457200" y="1036320"/>
            <a:ext cx="11277600" cy="285750"/>
          </a:xfrm>
          <a:prstGeom prst="rect">
            <a:avLst/>
          </a:prstGeom>
          <a:noFill/>
          <a:ln>
            <a:noFill/>
          </a:ln>
        </p:spPr>
        <p:txBody>
          <a:bodyPr wrap="square" lIns="0" tIns="0" rIns="0" bIns="0" rtlCol="0" anchor="t">
            <a:noAutofit/>
          </a:bodyPr>
          <a:lstStyle/>
          <a:p>
            <a:pPr>
              <a:lnSpc>
                <a:spcPts val="2250"/>
              </a:lnSpc>
              <a:buNone/>
            </a:pPr>
            <a:r>
              <a:rPr lang="en-US" sz="1800" dirty="0">
                <a:solidFill>
                  <a:schemeClr val="tx1"/>
                </a:solidFill>
                <a:latin typeface="Arial"/>
                <a:ea typeface="Arial"/>
                <a:cs typeface="Arial"/>
              </a:rPr>
              <a:t>Unplanned downtime: 13.0 million euros </a:t>
            </a:r>
            <a:r>
              <a:rPr lang="en-US" sz="1800" dirty="0">
                <a:solidFill>
                  <a:schemeClr val="tx1"/>
                </a:solidFill>
                <a:latin typeface="Arial"/>
                <a:ea typeface="Arial"/>
                <a:cs typeface="Arial"/>
                <a:hlinkClick r:id="rId1"/>
              </a:rPr>
              <a:t>[1]</a:t>
            </a:r>
            <a:endParaRPr lang="en-US" sz="1800" dirty="0"/>
          </a:p>
        </p:txBody>
      </p:sp>
      <p:sp>
        <p:nvSpPr>
          <p:cNvPr id="5" name="rule:slide-5#slide_points#1"/>
          <p:cNvSpPr/>
          <p:nvPr/>
        </p:nvSpPr>
        <p:spPr>
          <a:xfrm>
            <a:off x="342900" y="1436370"/>
            <a:ext cx="28575" cy="285750"/>
          </a:xfrm>
          <a:prstGeom prst="rect">
            <a:avLst/>
          </a:prstGeom>
          <a:solidFill>
            <a:schemeClr val="accent1"/>
          </a:solidFill>
          <a:ln>
            <a:noFill/>
          </a:ln>
        </p:spPr>
      </p:sp>
      <p:sp>
        <p:nvSpPr>
          <p:cNvPr id="6" name="copy:slide-5#slide_points#1"/>
          <p:cNvSpPr txBox="1"/>
          <p:nvPr/>
        </p:nvSpPr>
        <p:spPr>
          <a:xfrm>
            <a:off x="457200" y="1436370"/>
            <a:ext cx="11277600" cy="285750"/>
          </a:xfrm>
          <a:prstGeom prst="rect">
            <a:avLst/>
          </a:prstGeom>
          <a:noFill/>
          <a:ln>
            <a:noFill/>
          </a:ln>
        </p:spPr>
        <p:txBody>
          <a:bodyPr wrap="square" lIns="0" tIns="0" rIns="0" bIns="0" rtlCol="0" anchor="t">
            <a:noAutofit/>
          </a:bodyPr>
          <a:lstStyle/>
          <a:p>
            <a:pPr>
              <a:lnSpc>
                <a:spcPts val="2250"/>
              </a:lnSpc>
              <a:buNone/>
            </a:pPr>
            <a:r>
              <a:rPr lang="en-US" sz="1800" dirty="0">
                <a:solidFill>
                  <a:schemeClr val="tx1"/>
                </a:solidFill>
                <a:latin typeface="Arial"/>
                <a:ea typeface="Arial"/>
                <a:cs typeface="Arial"/>
              </a:rPr>
              <a:t>Technician wage premium: 2.1 million euros </a:t>
            </a:r>
            <a:r>
              <a:rPr lang="en-US" sz="1800" dirty="0">
                <a:solidFill>
                  <a:schemeClr val="tx1"/>
                </a:solidFill>
                <a:latin typeface="Arial"/>
                <a:ea typeface="Arial"/>
                <a:cs typeface="Arial"/>
                <a:hlinkClick r:id="rId2"/>
              </a:rPr>
              <a:t>[4]</a:t>
            </a:r>
            <a:endParaRPr lang="en-US" sz="1800" dirty="0"/>
          </a:p>
        </p:txBody>
      </p:sp>
      <p:sp>
        <p:nvSpPr>
          <p:cNvPr id="7" name="rule:slide-5#slide_points#2"/>
          <p:cNvSpPr/>
          <p:nvPr/>
        </p:nvSpPr>
        <p:spPr>
          <a:xfrm>
            <a:off x="342900" y="1836420"/>
            <a:ext cx="28575" cy="285750"/>
          </a:xfrm>
          <a:prstGeom prst="rect">
            <a:avLst/>
          </a:prstGeom>
          <a:solidFill>
            <a:schemeClr val="accent1"/>
          </a:solidFill>
          <a:ln>
            <a:noFill/>
          </a:ln>
        </p:spPr>
      </p:sp>
      <p:sp>
        <p:nvSpPr>
          <p:cNvPr id="8" name="copy:slide-5#slide_points#2"/>
          <p:cNvSpPr txBox="1"/>
          <p:nvPr/>
        </p:nvSpPr>
        <p:spPr>
          <a:xfrm>
            <a:off x="457200" y="1836420"/>
            <a:ext cx="11277600" cy="285750"/>
          </a:xfrm>
          <a:prstGeom prst="rect">
            <a:avLst/>
          </a:prstGeom>
          <a:noFill/>
          <a:ln>
            <a:noFill/>
          </a:ln>
        </p:spPr>
        <p:txBody>
          <a:bodyPr wrap="square" lIns="0" tIns="0" rIns="0" bIns="0" rtlCol="0" anchor="t">
            <a:noAutofit/>
          </a:bodyPr>
          <a:lstStyle/>
          <a:p>
            <a:pPr>
              <a:lnSpc>
                <a:spcPts val="2250"/>
              </a:lnSpc>
              <a:buNone/>
            </a:pPr>
            <a:r>
              <a:rPr lang="en-US" sz="1800" dirty="0">
                <a:solidFill>
                  <a:schemeClr val="tx1"/>
                </a:solidFill>
                <a:latin typeface="Arial"/>
                <a:ea typeface="Arial"/>
                <a:cs typeface="Arial"/>
              </a:rPr>
              <a:t>Insurance surcharges: 0.9 million euros </a:t>
            </a:r>
            <a:r>
              <a:rPr lang="en-US" sz="1800" dirty="0">
                <a:solidFill>
                  <a:schemeClr val="tx1"/>
                </a:solidFill>
                <a:latin typeface="Arial"/>
                <a:ea typeface="Arial"/>
                <a:cs typeface="Arial"/>
                <a:hlinkClick r:id="rId3"/>
              </a:rPr>
              <a:t>[3]</a:t>
            </a:r>
            <a:endParaRPr lang="en-US" sz="1800" dirty="0"/>
          </a:p>
        </p:txBody>
      </p:sp>
      <p:sp>
        <p:nvSpPr>
          <p:cNvPr id="9" name="rule:slide-5#slide_points#3"/>
          <p:cNvSpPr/>
          <p:nvPr/>
        </p:nvSpPr>
        <p:spPr>
          <a:xfrm>
            <a:off x="342900" y="2236470"/>
            <a:ext cx="28575" cy="285750"/>
          </a:xfrm>
          <a:prstGeom prst="rect">
            <a:avLst/>
          </a:prstGeom>
          <a:solidFill>
            <a:schemeClr val="accent1"/>
          </a:solidFill>
          <a:ln>
            <a:noFill/>
          </a:ln>
        </p:spPr>
      </p:sp>
      <p:sp>
        <p:nvSpPr>
          <p:cNvPr id="10" name="copy:slide-5#slide_points#3"/>
          <p:cNvSpPr txBox="1"/>
          <p:nvPr/>
        </p:nvSpPr>
        <p:spPr>
          <a:xfrm>
            <a:off x="457200" y="2236470"/>
            <a:ext cx="11277600" cy="285750"/>
          </a:xfrm>
          <a:prstGeom prst="rect">
            <a:avLst/>
          </a:prstGeom>
          <a:noFill/>
          <a:ln>
            <a:noFill/>
          </a:ln>
        </p:spPr>
        <p:txBody>
          <a:bodyPr wrap="square" lIns="0" tIns="0" rIns="0" bIns="0" rtlCol="0" anchor="t">
            <a:noAutofit/>
          </a:bodyPr>
          <a:lstStyle/>
          <a:p>
            <a:pPr>
              <a:lnSpc>
                <a:spcPts val="2250"/>
              </a:lnSpc>
              <a:buNone/>
            </a:pPr>
            <a:r>
              <a:rPr lang="en-US" sz="1800" dirty="0">
                <a:solidFill>
                  <a:schemeClr val="tx1"/>
                </a:solidFill>
                <a:latin typeface="Arial"/>
                <a:ea typeface="Arial"/>
                <a:cs typeface="Arial"/>
              </a:rPr>
              <a:t>Compliance retrofit: 1.4 million euros against 0.6 million planned </a:t>
            </a:r>
            <a:r>
              <a:rPr lang="en-US" sz="1800" dirty="0">
                <a:solidFill>
                  <a:schemeClr val="tx1"/>
                </a:solidFill>
                <a:latin typeface="Arial"/>
                <a:ea typeface="Arial"/>
                <a:cs typeface="Arial"/>
                <a:hlinkClick r:id="rId4"/>
              </a:rPr>
              <a:t>[2]</a:t>
            </a:r>
            <a:endParaRPr lang="en-US" sz="1800" dirty="0"/>
          </a:p>
        </p:txBody>
      </p:sp>
      <p:sp>
        <p:nvSpPr>
          <p:cNvPr id="11" name="copy:slide-5#evidence_status"/>
          <p:cNvSpPr txBox="1"/>
          <p:nvPr/>
        </p:nvSpPr>
        <p:spPr>
          <a:xfrm>
            <a:off x="457200" y="2750820"/>
            <a:ext cx="11277600" cy="285750"/>
          </a:xfrm>
          <a:prstGeom prst="rect">
            <a:avLst/>
          </a:prstGeom>
          <a:noFill/>
          <a:ln>
            <a:noFill/>
          </a:ln>
        </p:spPr>
        <p:txBody>
          <a:bodyPr wrap="square" lIns="0" tIns="0" rIns="0" bIns="0" rtlCol="0" anchor="t">
            <a:noAutofit/>
          </a:bodyPr>
          <a:lstStyle/>
          <a:p>
            <a:pPr>
              <a:lnSpc>
                <a:spcPts val="2250"/>
              </a:lnSpc>
              <a:buNone/>
            </a:pPr>
            <a:r>
              <a:rPr lang="en-US" sz="1800" dirty="0">
                <a:solidFill>
                  <a:schemeClr val="tx2"/>
                </a:solidFill>
                <a:latin typeface="Arial"/>
                <a:ea typeface="Arial"/>
                <a:cs typeface="Arial"/>
              </a:rPr>
              <a:t>mixed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u-slide-6">
    <p:bg>
      <p:bgPr>
        <a:solidFill>
          <a:schemeClr val="bg1"/>
        </a:solidFill>
        <a:effectLst/>
      </p:bgPr>
    </p:bg>
    <p:spTree>
      <p:nvGrpSpPr>
        <p:cNvPr id="1" name=""/>
        <p:cNvGrpSpPr/>
        <p:nvPr/>
      </p:nvGrpSpPr>
      <p:grpSpPr>
        <a:xfrm>
          <a:off x="0" y="0"/>
          <a:ext cx="0" cy="0"/>
          <a:chOff x="0" y="0"/>
          <a:chExt cx="0" cy="0"/>
        </a:xfrm>
      </p:grpSpPr>
      <p:sp>
        <p:nvSpPr>
          <p:cNvPr id="2" name="rule:u-slide-6"/>
          <p:cNvSpPr/>
          <p:nvPr/>
        </p:nvSpPr>
        <p:spPr>
          <a:xfrm>
            <a:off x="266700" y="457200"/>
            <a:ext cx="57150" cy="1120140"/>
          </a:xfrm>
          <a:prstGeom prst="rect">
            <a:avLst/>
          </a:prstGeom>
          <a:solidFill>
            <a:schemeClr val="accent1"/>
          </a:solidFill>
          <a:ln>
            <a:noFill/>
          </a:ln>
        </p:spPr>
      </p:sp>
      <p:sp>
        <p:nvSpPr>
          <p:cNvPr id="3" name="copy:slide-6#headline"/>
          <p:cNvSpPr txBox="1"/>
          <p:nvPr/>
        </p:nvSpPr>
        <p:spPr>
          <a:xfrm>
            <a:off x="457200" y="457200"/>
            <a:ext cx="11277600" cy="1120140"/>
          </a:xfrm>
          <a:prstGeom prst="rect">
            <a:avLst/>
          </a:prstGeom>
          <a:noFill/>
          <a:ln>
            <a:noFill/>
          </a:ln>
        </p:spPr>
        <p:txBody>
          <a:bodyPr wrap="square" lIns="0" tIns="0" rIns="0" bIns="0" rtlCol="0" anchor="t">
            <a:noAutofit/>
          </a:bodyPr>
          <a:lstStyle/>
          <a:p>
            <a:pPr>
              <a:lnSpc>
                <a:spcPts val="4410"/>
              </a:lnSpc>
              <a:buNone/>
            </a:pPr>
            <a:r>
              <a:rPr lang="en-US" sz="4200" dirty="0">
                <a:solidFill>
                  <a:schemeClr val="tx1"/>
                </a:solidFill>
                <a:latin typeface="Arial"/>
                <a:ea typeface="Arial"/>
                <a:cs typeface="Arial"/>
              </a:rPr>
              <a:t>Action costs less than inaction by roughly 4x</a:t>
            </a:r>
            <a:endParaRPr lang="en-US" sz="4200" dirty="0"/>
          </a:p>
        </p:txBody>
      </p:sp>
      <p:sp>
        <p:nvSpPr>
          <p:cNvPr id="4" name="copy:slide-6#slide_points"/>
          <p:cNvSpPr txBox="1"/>
          <p:nvPr/>
        </p:nvSpPr>
        <p:spPr>
          <a:xfrm>
            <a:off x="457200" y="1805940"/>
            <a:ext cx="11277600" cy="1085850"/>
          </a:xfrm>
          <a:prstGeom prst="rect">
            <a:avLst/>
          </a:prstGeom>
          <a:noFill/>
          <a:ln>
            <a:noFill/>
          </a:ln>
        </p:spPr>
        <p:txBody>
          <a:bodyPr wrap="square" lIns="0" tIns="0" rIns="0" bIns="0" rtlCol="0" anchor="t">
            <a:noAutofit/>
          </a:bodyPr>
          <a:lstStyle/>
          <a:p>
            <a:pPr marL="171450" indent="-171450">
              <a:lnSpc>
                <a:spcPts val="2250"/>
              </a:lnSpc>
              <a:buFont typeface="Arial"/>
              <a:buChar char="•"/>
            </a:pPr>
            <a:r>
              <a:rPr lang="en-US" sz="1800" dirty="0">
                <a:solidFill>
                  <a:schemeClr val="tx1"/>
                </a:solidFill>
                <a:latin typeface="Arial"/>
                <a:ea typeface="Arial"/>
                <a:cs typeface="Arial"/>
              </a:rPr>
              <a:t>17.4 million euros: the compound cost of inaction</a:t>
            </a:r>
            <a:endParaRPr lang="en-US" sz="1800" dirty="0"/>
          </a:p>
          <a:p>
            <a:pPr marL="171450" indent="-171450">
              <a:lnSpc>
                <a:spcPts val="2250"/>
              </a:lnSpc>
              <a:spcBef>
                <a:spcPts val="900"/>
              </a:spcBef>
              <a:buFont typeface="Arial"/>
              <a:buChar char="•"/>
            </a:pPr>
            <a:r>
              <a:rPr lang="en-US" sz="1800" dirty="0">
                <a:solidFill>
                  <a:schemeClr val="tx1"/>
                </a:solidFill>
                <a:latin typeface="Arial"/>
                <a:ea typeface="Arial"/>
                <a:cs typeface="Arial"/>
              </a:rPr>
              <a:t>4.2 million euros: a condition-based programme </a:t>
            </a:r>
            <a:r>
              <a:rPr lang="en-US" sz="1800" dirty="0">
                <a:solidFill>
                  <a:schemeClr val="tx1"/>
                </a:solidFill>
                <a:latin typeface="Arial"/>
                <a:ea typeface="Arial"/>
                <a:cs typeface="Arial"/>
                <a:hlinkClick r:id="rId1"/>
              </a:rPr>
              <a:t>[2]</a:t>
            </a:r>
            <a:endParaRPr lang="en-US" sz="1800" dirty="0"/>
          </a:p>
          <a:p>
            <a:pPr marL="171450" indent="-171450">
              <a:lnSpc>
                <a:spcPts val="2250"/>
              </a:lnSpc>
              <a:spcBef>
                <a:spcPts val="900"/>
              </a:spcBef>
              <a:buFont typeface="Arial"/>
              <a:buChar char="•"/>
            </a:pPr>
            <a:r>
              <a:rPr lang="en-US" sz="1800" dirty="0">
                <a:solidFill>
                  <a:schemeClr val="tx1"/>
                </a:solidFill>
                <a:latin typeface="Arial"/>
                <a:ea typeface="Arial"/>
                <a:cs typeface="Arial"/>
              </a:rPr>
              <a:t>4x</a:t>
            </a:r>
            <a:endParaRPr lang="en-US" sz="1800" dirty="0"/>
          </a:p>
        </p:txBody>
      </p:sp>
      <p:sp>
        <p:nvSpPr>
          <p:cNvPr id="5" name="copy:slide-6#evidence_status"/>
          <p:cNvSpPr txBox="1"/>
          <p:nvPr/>
        </p:nvSpPr>
        <p:spPr>
          <a:xfrm>
            <a:off x="457200" y="3120390"/>
            <a:ext cx="11277600" cy="285750"/>
          </a:xfrm>
          <a:prstGeom prst="rect">
            <a:avLst/>
          </a:prstGeom>
          <a:noFill/>
          <a:ln>
            <a:noFill/>
          </a:ln>
        </p:spPr>
        <p:txBody>
          <a:bodyPr wrap="square" lIns="0" tIns="0" rIns="0" bIns="0" rtlCol="0" anchor="t">
            <a:noAutofit/>
          </a:bodyPr>
          <a:lstStyle/>
          <a:p>
            <a:pPr>
              <a:lnSpc>
                <a:spcPts val="2250"/>
              </a:lnSpc>
              <a:buNone/>
            </a:pPr>
            <a:r>
              <a:rPr lang="en-US" sz="1800" dirty="0">
                <a:solidFill>
                  <a:schemeClr val="tx2"/>
                </a:solidFill>
                <a:latin typeface="Arial"/>
                <a:ea typeface="Arial"/>
                <a:cs typeface="Arial"/>
              </a:rPr>
              <a:t>proxy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u-slide-7">
    <p:bg>
      <p:bgPr>
        <a:solidFill>
          <a:schemeClr val="bg1"/>
        </a:solidFill>
        <a:effectLst/>
      </p:bgPr>
    </p:bg>
    <p:spTree>
      <p:nvGrpSpPr>
        <p:cNvPr id="1" name=""/>
        <p:cNvGrpSpPr/>
        <p:nvPr/>
      </p:nvGrpSpPr>
      <p:grpSpPr>
        <a:xfrm>
          <a:off x="0" y="0"/>
          <a:ext cx="0" cy="0"/>
          <a:chOff x="0" y="0"/>
          <a:chExt cx="0" cy="0"/>
        </a:xfrm>
      </p:grpSpPr>
      <p:sp>
        <p:nvSpPr>
          <p:cNvPr id="2" name="rule:u-slide-7"/>
          <p:cNvSpPr/>
          <p:nvPr/>
        </p:nvSpPr>
        <p:spPr>
          <a:xfrm>
            <a:off x="266700" y="457200"/>
            <a:ext cx="57150" cy="1120140"/>
          </a:xfrm>
          <a:prstGeom prst="rect">
            <a:avLst/>
          </a:prstGeom>
          <a:solidFill>
            <a:schemeClr val="accent1"/>
          </a:solidFill>
          <a:ln>
            <a:noFill/>
          </a:ln>
        </p:spPr>
      </p:sp>
      <p:sp>
        <p:nvSpPr>
          <p:cNvPr id="3" name="copy:slide-7#headline"/>
          <p:cNvSpPr txBox="1"/>
          <p:nvPr/>
        </p:nvSpPr>
        <p:spPr>
          <a:xfrm>
            <a:off x="457200" y="457200"/>
            <a:ext cx="11277600" cy="1120140"/>
          </a:xfrm>
          <a:prstGeom prst="rect">
            <a:avLst/>
          </a:prstGeom>
          <a:noFill/>
          <a:ln>
            <a:noFill/>
          </a:ln>
        </p:spPr>
        <p:txBody>
          <a:bodyPr wrap="square" lIns="0" tIns="0" rIns="0" bIns="0" rtlCol="0" anchor="t">
            <a:noAutofit/>
          </a:bodyPr>
          <a:lstStyle/>
          <a:p>
            <a:pPr>
              <a:lnSpc>
                <a:spcPts val="4410"/>
              </a:lnSpc>
              <a:buNone/>
            </a:pPr>
            <a:r>
              <a:rPr lang="en-US" sz="4200" dirty="0">
                <a:solidFill>
                  <a:schemeClr val="tx1"/>
                </a:solidFill>
                <a:latin typeface="Arial"/>
                <a:ea typeface="Arial"/>
                <a:cs typeface="Arial"/>
              </a:rPr>
              <a:t>Redirect the scheduled budget before January 2027</a:t>
            </a:r>
            <a:endParaRPr lang="en-US" sz="4200" dirty="0"/>
          </a:p>
        </p:txBody>
      </p:sp>
      <p:sp>
        <p:nvSpPr>
          <p:cNvPr id="4" name="copy:slide-7#slide_points"/>
          <p:cNvSpPr txBox="1"/>
          <p:nvPr/>
        </p:nvSpPr>
        <p:spPr>
          <a:xfrm>
            <a:off x="457200" y="1805940"/>
            <a:ext cx="11277600" cy="1085850"/>
          </a:xfrm>
          <a:prstGeom prst="rect">
            <a:avLst/>
          </a:prstGeom>
          <a:noFill/>
          <a:ln>
            <a:noFill/>
          </a:ln>
        </p:spPr>
        <p:txBody>
          <a:bodyPr wrap="square" lIns="0" tIns="0" rIns="0" bIns="0" rtlCol="0" anchor="t">
            <a:noAutofit/>
          </a:bodyPr>
          <a:lstStyle/>
          <a:p>
            <a:pPr marL="171450" indent="-171450">
              <a:lnSpc>
                <a:spcPts val="2250"/>
              </a:lnSpc>
              <a:buFont typeface="Arial"/>
              <a:buChar char="•"/>
            </a:pPr>
            <a:r>
              <a:rPr lang="en-US" sz="1800" dirty="0">
                <a:solidFill>
                  <a:schemeClr val="tx1"/>
                </a:solidFill>
                <a:latin typeface="Arial"/>
                <a:ea typeface="Arial"/>
                <a:cs typeface="Arial"/>
              </a:rPr>
              <a:t>Redirect the scheduled budget into one asset-health view</a:t>
            </a:r>
            <a:endParaRPr lang="en-US" sz="1800" dirty="0"/>
          </a:p>
          <a:p>
            <a:pPr marL="171450" indent="-171450">
              <a:lnSpc>
                <a:spcPts val="2250"/>
              </a:lnSpc>
              <a:spcBef>
                <a:spcPts val="900"/>
              </a:spcBef>
              <a:buFont typeface="Arial"/>
              <a:buChar char="•"/>
            </a:pPr>
            <a:r>
              <a:rPr lang="en-US" sz="1800" dirty="0">
                <a:solidFill>
                  <a:schemeClr val="tx1"/>
                </a:solidFill>
                <a:latin typeface="Arial"/>
                <a:ea typeface="Arial"/>
                <a:cs typeface="Arial"/>
              </a:rPr>
              <a:t>Build a compliance-by-design monitoring process</a:t>
            </a:r>
            <a:endParaRPr lang="en-US" sz="1800" dirty="0"/>
          </a:p>
          <a:p>
            <a:pPr marL="171450" indent="-171450">
              <a:lnSpc>
                <a:spcPts val="2250"/>
              </a:lnSpc>
              <a:spcBef>
                <a:spcPts val="900"/>
              </a:spcBef>
              <a:buFont typeface="Arial"/>
              <a:buChar char="•"/>
            </a:pPr>
            <a:r>
              <a:rPr lang="en-US" sz="1800" dirty="0">
                <a:solidFill>
                  <a:schemeClr val="tx1"/>
                </a:solidFill>
                <a:latin typeface="Arial"/>
                <a:ea typeface="Arial"/>
                <a:cs typeface="Arial"/>
              </a:rPr>
              <a:t>Act before the January 2027 regulation lands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u-slide-8">
    <p:bg>
      <p:bgPr>
        <a:solidFill>
          <a:schemeClr val="bg1"/>
        </a:solidFill>
        <a:effectLst/>
      </p:bgPr>
    </p:bg>
    <p:spTree>
      <p:nvGrpSpPr>
        <p:cNvPr id="1" name=""/>
        <p:cNvGrpSpPr/>
        <p:nvPr/>
      </p:nvGrpSpPr>
      <p:grpSpPr>
        <a:xfrm>
          <a:off x="0" y="0"/>
          <a:ext cx="0" cy="0"/>
          <a:chOff x="0" y="0"/>
          <a:chExt cx="0" cy="0"/>
        </a:xfrm>
      </p:grpSpPr>
      <p:sp>
        <p:nvSpPr>
          <p:cNvPr id="2" name="copy:slide-8#headline"/>
          <p:cNvSpPr txBox="1"/>
          <p:nvPr/>
        </p:nvSpPr>
        <p:spPr>
          <a:xfrm>
            <a:off x="457200" y="457200"/>
            <a:ext cx="11277600" cy="350520"/>
          </a:xfrm>
          <a:prstGeom prst="rect">
            <a:avLst/>
          </a:prstGeom>
          <a:noFill/>
          <a:ln>
            <a:noFill/>
          </a:ln>
        </p:spPr>
        <p:txBody>
          <a:bodyPr wrap="square" lIns="0" tIns="0" rIns="0" bIns="0" rtlCol="0" anchor="t">
            <a:noAutofit/>
          </a:bodyPr>
          <a:lstStyle/>
          <a:p>
            <a:pPr>
              <a:lnSpc>
                <a:spcPts val="2760"/>
              </a:lnSpc>
              <a:buNone/>
            </a:pPr>
            <a:r>
              <a:rPr lang="en-US" sz="2400" dirty="0">
                <a:solidFill>
                  <a:schemeClr val="tx1"/>
                </a:solidFill>
                <a:latin typeface="Arial"/>
                <a:ea typeface="Arial"/>
                <a:cs typeface="Arial"/>
              </a:rPr>
              <a:t>Sources</a:t>
            </a:r>
            <a:endParaRPr lang="en-US" sz="2400" dirty="0"/>
          </a:p>
        </p:txBody>
      </p:sp>
      <p:sp>
        <p:nvSpPr>
          <p:cNvPr id="3" name="register:u-slide-8"/>
          <p:cNvSpPr txBox="1"/>
          <p:nvPr/>
        </p:nvSpPr>
        <p:spPr>
          <a:xfrm>
            <a:off x="457200" y="1036320"/>
            <a:ext cx="11277600" cy="1110615"/>
          </a:xfrm>
          <a:prstGeom prst="rect">
            <a:avLst/>
          </a:prstGeom>
          <a:noFill/>
          <a:ln>
            <a:noFill/>
          </a:ln>
        </p:spPr>
        <p:txBody>
          <a:bodyPr wrap="square" lIns="0" tIns="0" rIns="0" bIns="0" rtlCol="0" anchor="t">
            <a:noAutofit/>
          </a:bodyPr>
          <a:lstStyle/>
          <a:p>
            <a:pPr>
              <a:lnSpc>
                <a:spcPts val="1511"/>
              </a:lnSpc>
              <a:buNone/>
            </a:pPr>
            <a:r>
              <a:rPr lang="en-US" sz="975" dirty="0">
                <a:solidFill>
                  <a:schemeClr val="tx1"/>
                </a:solidFill>
                <a:latin typeface="Arial"/>
                <a:ea typeface="Arial"/>
                <a:cs typeface="Arial"/>
              </a:rPr>
              <a:t>[1] source-01-fraunhofer.md — Fraunhofer IPA, "Instandhaltung 2025", 2025, </a:t>
            </a:r>
            <a:r>
              <a:rPr lang="en-US" sz="975" dirty="0">
                <a:solidFill>
                  <a:schemeClr val="tx1"/>
                </a:solidFill>
                <a:latin typeface="Arial"/>
                <a:ea typeface="Arial"/>
                <a:cs typeface="Arial"/>
                <a:hlinkClick r:id="rId1"/>
              </a:rPr>
              <a:t>https://www.ipa.fraunhofer.de/de/publikationen/instandhaltung-2025.html</a:t>
            </a:r>
            <a:endParaRPr lang="en-US" sz="975" dirty="0"/>
          </a:p>
          <a:p>
            <a:pPr>
              <a:lnSpc>
                <a:spcPts val="1511"/>
              </a:lnSpc>
              <a:spcBef>
                <a:spcPts val="900"/>
              </a:spcBef>
              <a:buNone/>
            </a:pPr>
            <a:r>
              <a:rPr lang="en-US" sz="975" dirty="0">
                <a:solidFill>
                  <a:schemeClr val="tx1"/>
                </a:solidFill>
                <a:latin typeface="Arial"/>
                <a:ea typeface="Arial"/>
                <a:cs typeface="Arial"/>
              </a:rPr>
              <a:t>[2] source-02-vdma.md — VDMA, "Condition-Monitoring-Studie 2025", 2025, </a:t>
            </a:r>
            <a:r>
              <a:rPr lang="en-US" sz="975" dirty="0">
                <a:solidFill>
                  <a:schemeClr val="tx1"/>
                </a:solidFill>
                <a:latin typeface="Arial"/>
                <a:ea typeface="Arial"/>
                <a:cs typeface="Arial"/>
                <a:hlinkClick r:id="rId2"/>
              </a:rPr>
              <a:t>https://www.vdma.org/condition-monitoring-studie-2025</a:t>
            </a:r>
            <a:endParaRPr lang="en-US" sz="975" dirty="0"/>
          </a:p>
          <a:p>
            <a:pPr>
              <a:lnSpc>
                <a:spcPts val="1511"/>
              </a:lnSpc>
              <a:spcBef>
                <a:spcPts val="900"/>
              </a:spcBef>
              <a:buNone/>
            </a:pPr>
            <a:r>
              <a:rPr lang="en-US" sz="975" dirty="0">
                <a:solidFill>
                  <a:schemeClr val="tx1"/>
                </a:solidFill>
                <a:latin typeface="Arial"/>
                <a:ea typeface="Arial"/>
                <a:cs typeface="Arial"/>
              </a:rPr>
              <a:t>[3] source-03-handelsblatt.md — Handelsblatt, "Predictive Maintenance, Fachkräfte und Versicherer 2025-2026", 2026, </a:t>
            </a:r>
            <a:r>
              <a:rPr lang="en-US" sz="975" dirty="0">
                <a:solidFill>
                  <a:schemeClr val="tx1"/>
                </a:solidFill>
                <a:latin typeface="Arial"/>
                <a:ea typeface="Arial"/>
                <a:cs typeface="Arial"/>
                <a:hlinkClick r:id="rId3"/>
              </a:rPr>
              <a:t>https://www.handelsblatt.com/unternehmen/industrie/</a:t>
            </a:r>
            <a:endParaRPr lang="en-US" sz="975" dirty="0"/>
          </a:p>
          <a:p>
            <a:pPr>
              <a:lnSpc>
                <a:spcPts val="1511"/>
              </a:lnSpc>
              <a:spcBef>
                <a:spcPts val="900"/>
              </a:spcBef>
              <a:buNone/>
            </a:pPr>
            <a:r>
              <a:rPr lang="en-US" sz="975" dirty="0">
                <a:solidFill>
                  <a:schemeClr val="tx1"/>
                </a:solidFill>
                <a:latin typeface="Arial"/>
                <a:ea typeface="Arial"/>
                <a:cs typeface="Arial"/>
              </a:rPr>
              <a:t>[4] source-04-destatis.md — Destatis, "Instandhaltung 2030", 2025, </a:t>
            </a:r>
            <a:r>
              <a:rPr lang="en-US" sz="975" dirty="0">
                <a:solidFill>
                  <a:schemeClr val="tx1"/>
                </a:solidFill>
                <a:latin typeface="Arial"/>
                <a:ea typeface="Arial"/>
                <a:cs typeface="Arial"/>
                <a:hlinkClick r:id="rId4"/>
              </a:rPr>
              <a:t>https://www.destatis.de/DE/Themen/Arbeit/Arbeitsmarkt/Erwerbstaetigkeit/instandhaltung-2030.html</a:t>
            </a:r>
            <a:endParaRPr lang="en-US" sz="975" dirty="0"/>
          </a:p>
        </p:txBody>
      </p:sp>
    </p:spTree>
  </p:cSld>
  <p:clrMapOvr>
    <a:masterClrMapping/>
  </p:clrMapOvr>
</p:sld>
</file>

<file path=ppt/theme/theme1.xml><?xml version="1.0" encoding="utf-8"?>
<a:theme xmlns:a="http://schemas.openxmlformats.org/drawingml/2006/main" name="cogni-work">
  <a:themeElements>
    <a:clrScheme name="cogni-work">
      <a:dk1>
        <a:srgbClr val="111111"/>
      </a:dk1>
      <a:lt1>
        <a:srgbClr val="FAFAF8"/>
      </a:lt1>
      <a:dk2>
        <a:srgbClr val="5C6370"/>
      </a:dk2>
      <a:lt2>
        <a:srgbClr val="F2F2EE"/>
      </a:lt2>
      <a:accent1>
        <a:srgbClr val="C8E62E"/>
      </a:accent1>
      <a:accent2>
        <a:srgbClr val="E0E0DC"/>
      </a:accent2>
      <a:accent3>
        <a:srgbClr val="5C6370"/>
      </a:accent3>
      <a:accent4>
        <a:srgbClr val="111111"/>
      </a:accent4>
      <a:accent5>
        <a:srgbClr val="F2F2EE"/>
      </a:accent5>
      <a:accent6>
        <a:srgbClr val="C8E62E"/>
      </a:accent6>
      <a:hlink>
        <a:srgbClr val="111111"/>
      </a:hlink>
      <a:folHlink>
        <a:srgbClr val="5C6370"/>
      </a:folHlink>
    </a:clrScheme>
    <a:fontScheme name="cogni-work">
      <a:majorFont>
        <a:latin typeface="Arial"/>
        <a:ea typeface=""/>
        <a:cs typeface=""/>
      </a:majorFont>
      <a:minorFont>
        <a:latin typeface="Arial"/>
        <a:ea typeface=""/>
        <a:cs typeface=""/>
      </a:minorFont>
    </a:fontScheme>
    <a:fmtScheme name="cogni-work">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cogni-work-notes">
  <a:themeElements>
    <a:clrScheme name="cogni-work-notes">
      <a:dk1>
        <a:srgbClr val="111111"/>
      </a:dk1>
      <a:lt1>
        <a:srgbClr val="FAFAF8"/>
      </a:lt1>
      <a:dk2>
        <a:srgbClr val="5C6370"/>
      </a:dk2>
      <a:lt2>
        <a:srgbClr val="F2F2EE"/>
      </a:lt2>
      <a:accent1>
        <a:srgbClr val="C8E62E"/>
      </a:accent1>
      <a:accent2>
        <a:srgbClr val="E0E0DC"/>
      </a:accent2>
      <a:accent3>
        <a:srgbClr val="5C6370"/>
      </a:accent3>
      <a:accent4>
        <a:srgbClr val="111111"/>
      </a:accent4>
      <a:accent5>
        <a:srgbClr val="F2F2EE"/>
      </a:accent5>
      <a:accent6>
        <a:srgbClr val="C8E62E"/>
      </a:accent6>
      <a:hlink>
        <a:srgbClr val="111111"/>
      </a:hlink>
      <a:folHlink>
        <a:srgbClr val="5C6370"/>
      </a:folHlink>
    </a:clrScheme>
    <a:fontScheme name="cogni-work-notes">
      <a:majorFont>
        <a:latin typeface="Arial"/>
        <a:ea typeface=""/>
        <a:cs typeface=""/>
      </a:majorFont>
      <a:minorFont>
        <a:latin typeface="Arial"/>
        <a:ea typeface=""/>
        <a:cs typeface=""/>
      </a:minorFont>
    </a:fontScheme>
    <a:fmtScheme name="cogni-work-notes">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cogni-publishing/design-render</Application>
  <PresentationFormat>Widescreen</PresentationFormat>
  <Slides>9</Slides>
  <Notes>8</Notes>
</Properties>
</file>

<file path=docProps/core.xml><?xml version="1.0" encoding="utf-8"?>
<cp:coreProperties xmlns:cp="http://schemas.openxmlformats.org/package/2006/metadata/core-properties" xmlns:dc="http://purl.org/dc/elements/1.1/">
  <dc:title>The Maintenance Budget That Buys Downtime</dc:title>
  <cp:revision>1</cp:revision>
</cp:coreProperties>
</file>