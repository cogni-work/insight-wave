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 euros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tx1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Unplanned downtime</c:v>
                </c:pt>
                <c:pt idx="1">
                  <c:v>Technician wage premium</c:v>
                </c:pt>
                <c:pt idx="2">
                  <c:v>Insurance surcharges</c:v>
                </c:pt>
                <c:pt idx="3">
                  <c:v>Compliance retrofit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2.1</c:v>
                </c:pt>
                <c:pt idx="2">
                  <c:v>0.9</c:v>
                </c:pt>
                <c:pt idx="3">
                  <c:v>1.4</c:v>
                </c:pt>
              </c:numCache>
            </c:numRef>
          </c:val>
        </c:ser>
        <c:gapWidth val="67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answ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Lead with the decision; the three slides after it carry the why, the cost and the how.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ar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Keep both options on screen; the contrast between them is the argument.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onent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Read the largest bar first, then the three that compound it.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apabilit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Point at the dependencies: the ranking needs the view, and the documentation needs the ranking.</a:t>
            </a:r>
            <a:endParaRPr 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vdma.org/condition-monitoring-studie-20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ipa.fraunhofer.de/de/publikationen/instandhaltung-2025.html" TargetMode="External"/><Relationship Id="rId3" Type="http://schemas.openxmlformats.org/officeDocument/2006/relationships/hyperlink" Target="https://www.destatis.de/DE/Themen/Arbeit/Arbeitsmarkt/Erwerbstaetigkeit/instandhaltung-2030.html" TargetMode="External"/><Relationship Id="rId4" Type="http://schemas.openxmlformats.org/officeDocument/2006/relationships/hyperlink" Target="https://www.handelsblatt.com/unternehmen/industrie/" TargetMode="External"/><Relationship Id="rId5" Type="http://schemas.openxmlformats.org/officeDocument/2006/relationships/hyperlink" Target="https://www.vdma.org/condition-monitoring-studie-20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destatis.de/DE/Themen/Arbeit/Arbeitsmarkt/Erwerbstaetigkeit/instandhaltung-2030.html" TargetMode="External"/><Relationship Id="rId3" Type="http://schemas.openxmlformats.org/officeDocument/2006/relationships/hyperlink" Target="https://www.handelsblatt.com/unternehmen/industrie/" TargetMode="External"/><Relationship Id="rId4" Type="http://schemas.openxmlformats.org/officeDocument/2006/relationships/hyperlink" Target="https://www.vdma.org/condition-monitoring-studie-2025" TargetMode="External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document#title"/>
          <p:cNvSpPr txBox="1"/>
          <p:nvPr/>
        </p:nvSpPr>
        <p:spPr>
          <a:xfrm>
            <a:off x="457200" y="457200"/>
            <a:ext cx="11277600" cy="1173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Moving maintenance from the calendar to the condition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answ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u-answer"/>
          <p:cNvSpPr/>
          <p:nvPr/>
        </p:nvSpPr>
        <p:spPr>
          <a:xfrm>
            <a:off x="266700" y="457200"/>
            <a:ext cx="57150" cy="1173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answer#title"/>
          <p:cNvSpPr txBox="1"/>
          <p:nvPr/>
        </p:nvSpPr>
        <p:spPr>
          <a:xfrm>
            <a:off x="457200" y="457200"/>
            <a:ext cx="11277600" cy="1173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Move the scheduled budget into condition-based maintenance</a:t>
            </a:r>
            <a:endParaRPr lang="en-US" sz="4200" dirty="0"/>
          </a:p>
        </p:txBody>
      </p:sp>
      <p:sp>
        <p:nvSpPr>
          <p:cNvPr id="4" name="copy:answer#body"/>
          <p:cNvSpPr txBox="1"/>
          <p:nvPr/>
        </p:nvSpPr>
        <p:spPr>
          <a:xfrm>
            <a:off x="457200" y="1859280"/>
            <a:ext cx="11277600" cy="544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Calendar maintenance keeps paying for downtime it cannot see coming; a condition view catches most stops before they happen.</a:t>
            </a:r>
            <a:endParaRPr lang="en-US" sz="1650" dirty="0"/>
          </a:p>
        </p:txBody>
      </p:sp>
      <p:sp>
        <p:nvSpPr>
          <p:cNvPr id="5" name="cites:u-answer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a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today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Today: maintenance by the calendar</a:t>
            </a:r>
            <a:endParaRPr lang="en-US" sz="2250" dirty="0"/>
          </a:p>
        </p:txBody>
      </p:sp>
      <p:sp>
        <p:nvSpPr>
          <p:cNvPr id="3" name="copy:today#body"/>
          <p:cNvSpPr txBox="1"/>
          <p:nvPr/>
        </p:nvSpPr>
        <p:spPr>
          <a:xfrm>
            <a:off x="457200" y="9144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Fixed intervals, surprise failures; most stops announce themselves first and go unread.</a:t>
            </a:r>
            <a:endParaRPr lang="en-US" sz="2250" dirty="0"/>
          </a:p>
        </p:txBody>
      </p:sp>
      <p:sp>
        <p:nvSpPr>
          <p:cNvPr id="4" name="copy:tomorrow#title"/>
          <p:cNvSpPr txBox="1"/>
          <p:nvPr/>
        </p:nvSpPr>
        <p:spPr>
          <a:xfrm>
            <a:off x="457200" y="17145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Tomorrow: maintenance by the condition</a:t>
            </a:r>
            <a:endParaRPr lang="en-US" sz="2250" dirty="0"/>
          </a:p>
        </p:txBody>
      </p:sp>
      <p:sp>
        <p:nvSpPr>
          <p:cNvPr id="5" name="copy:tomorrow#body"/>
          <p:cNvSpPr txBox="1"/>
          <p:nvPr/>
        </p:nvSpPr>
        <p:spPr>
          <a:xfrm>
            <a:off x="457200" y="21717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One view of every asset and one ranked list of alerts, so technicians act before the stop.</a:t>
            </a:r>
            <a:endParaRPr lang="en-US" sz="2250" dirty="0"/>
          </a:p>
        </p:txBody>
      </p:sp>
      <p:sp>
        <p:nvSpPr>
          <p:cNvPr id="6" name="cites:u-compare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2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on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omponents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Four costs stack on the same three-year horizon</a:t>
            </a:r>
            <a:endParaRPr lang="en-US" sz="2250" dirty="0"/>
          </a:p>
        </p:txBody>
      </p:sp>
      <p:graphicFrame>
        <p:nvGraphicFramePr>
          <p:cNvPr id="3" name="chart:u-components" descr="Two to twelve values compared by length."/>
          <p:cNvGraphicFramePr/>
          <p:nvPr/>
        </p:nvGraphicFramePr>
        <p:xfrm>
          <a:off x="4968240" y="1028700"/>
          <a:ext cx="4736592" cy="15240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py:data:downtime#label"/>
          <p:cNvSpPr txBox="1"/>
          <p:nvPr/>
        </p:nvSpPr>
        <p:spPr>
          <a:xfrm>
            <a:off x="457200" y="1028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Unplanned downtime</a:t>
            </a:r>
            <a:endParaRPr lang="en-US" sz="1200" dirty="0"/>
          </a:p>
        </p:txBody>
      </p:sp>
      <p:sp>
        <p:nvSpPr>
          <p:cNvPr id="5" name="value:downtime"/>
          <p:cNvSpPr txBox="1"/>
          <p:nvPr/>
        </p:nvSpPr>
        <p:spPr>
          <a:xfrm>
            <a:off x="9781032" y="1028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13.0 million euros</a:t>
            </a:r>
            <a:endParaRPr lang="en-US" sz="1200" dirty="0"/>
          </a:p>
        </p:txBody>
      </p:sp>
      <p:sp>
        <p:nvSpPr>
          <p:cNvPr id="6" name="copy:data:wage-premium#label"/>
          <p:cNvSpPr txBox="1"/>
          <p:nvPr/>
        </p:nvSpPr>
        <p:spPr>
          <a:xfrm>
            <a:off x="457200" y="1409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Technician wage premium</a:t>
            </a:r>
            <a:endParaRPr lang="en-US" sz="1200" dirty="0"/>
          </a:p>
        </p:txBody>
      </p:sp>
      <p:sp>
        <p:nvSpPr>
          <p:cNvPr id="7" name="value:wage-premium"/>
          <p:cNvSpPr txBox="1"/>
          <p:nvPr/>
        </p:nvSpPr>
        <p:spPr>
          <a:xfrm>
            <a:off x="9781032" y="1409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2.1 million euros</a:t>
            </a:r>
            <a:endParaRPr lang="en-US" sz="1200" dirty="0"/>
          </a:p>
        </p:txBody>
      </p:sp>
      <p:sp>
        <p:nvSpPr>
          <p:cNvPr id="8" name="copy:data:insurance-surcharge#label"/>
          <p:cNvSpPr txBox="1"/>
          <p:nvPr/>
        </p:nvSpPr>
        <p:spPr>
          <a:xfrm>
            <a:off x="457200" y="1790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Insurance surcharges</a:t>
            </a:r>
            <a:endParaRPr lang="en-US" sz="1200" dirty="0"/>
          </a:p>
        </p:txBody>
      </p:sp>
      <p:sp>
        <p:nvSpPr>
          <p:cNvPr id="9" name="value:insurance-surcharge"/>
          <p:cNvSpPr txBox="1"/>
          <p:nvPr/>
        </p:nvSpPr>
        <p:spPr>
          <a:xfrm>
            <a:off x="9781032" y="1790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0.9 million euros</a:t>
            </a:r>
            <a:endParaRPr lang="en-US" sz="1200" dirty="0"/>
          </a:p>
        </p:txBody>
      </p:sp>
      <p:sp>
        <p:nvSpPr>
          <p:cNvPr id="10" name="copy:data:compliance-retrofit#label"/>
          <p:cNvSpPr txBox="1"/>
          <p:nvPr/>
        </p:nvSpPr>
        <p:spPr>
          <a:xfrm>
            <a:off x="457200" y="2171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retrofit</a:t>
            </a:r>
            <a:endParaRPr lang="en-US" sz="1200" dirty="0"/>
          </a:p>
        </p:txBody>
      </p:sp>
      <p:sp>
        <p:nvSpPr>
          <p:cNvPr id="11" name="value:compliance-retrofit"/>
          <p:cNvSpPr txBox="1"/>
          <p:nvPr/>
        </p:nvSpPr>
        <p:spPr>
          <a:xfrm>
            <a:off x="9781032" y="2171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1.4 million euros</a:t>
            </a:r>
            <a:endParaRPr lang="en-US" sz="1200" dirty="0"/>
          </a:p>
        </p:txBody>
      </p:sp>
      <p:sp>
        <p:nvSpPr>
          <p:cNvPr id="12" name="copy:components#body"/>
          <p:cNvSpPr txBox="1"/>
          <p:nvPr/>
        </p:nvSpPr>
        <p:spPr>
          <a:xfrm>
            <a:off x="457200" y="278130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Downtime dominates, and the three smaller costs compound it.</a:t>
            </a:r>
            <a:endParaRPr lang="en-US" sz="1200" dirty="0"/>
          </a:p>
        </p:txBody>
      </p:sp>
      <p:sp>
        <p:nvSpPr>
          <p:cNvPr id="13" name="cites:u-components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2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3"/>
              </a:rPr>
              <a:t>[2]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4"/>
              </a:rPr>
              <a:t>[3]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5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apabil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apability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Three parts make one asset-health capability</a:t>
            </a:r>
            <a:endParaRPr lang="en-US" sz="2250" dirty="0"/>
          </a:p>
        </p:txBody>
      </p:sp>
      <p:sp>
        <p:nvSpPr>
          <p:cNvPr id="3" name="copy:capability#body"/>
          <p:cNvSpPr/>
          <p:nvPr/>
        </p:nvSpPr>
        <p:spPr>
          <a:xfrm>
            <a:off x="457200" y="1028700"/>
            <a:ext cx="8801100" cy="57721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One view of asset health</a:t>
            </a:r>
            <a:endParaRPr lang="en-US" sz="1650" dirty="0"/>
          </a:p>
        </p:txBody>
      </p:sp>
      <p:sp>
        <p:nvSpPr>
          <p:cNvPr id="4" name="copy:capability-2#title"/>
          <p:cNvSpPr/>
          <p:nvPr/>
        </p:nvSpPr>
        <p:spPr>
          <a:xfrm>
            <a:off x="457200" y="1834515"/>
            <a:ext cx="8801100" cy="57721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ranked list of alerts</a:t>
            </a:r>
            <a:endParaRPr lang="en-US" sz="1650" dirty="0"/>
          </a:p>
        </p:txBody>
      </p:sp>
      <p:sp>
        <p:nvSpPr>
          <p:cNvPr id="5" name="copy:capability-2#body"/>
          <p:cNvSpPr/>
          <p:nvPr/>
        </p:nvSpPr>
        <p:spPr>
          <a:xfrm>
            <a:off x="457200" y="2640330"/>
            <a:ext cx="8801100" cy="57721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documented by design</a:t>
            </a:r>
            <a:endParaRPr lang="en-US" sz="1650" dirty="0"/>
          </a:p>
        </p:txBody>
      </p:sp>
      <p:cxnSp>
        <p:nvCxnSpPr>
          <p:cNvPr id="6" name="edge:e2:e1"/>
          <p:cNvCxnSpPr>
            <a:stCxn id="4" idx="3"/>
            <a:endCxn id="3" idx="3"/>
          </p:cNvCxnSpPr>
          <p:nvPr/>
        </p:nvCxnSpPr>
        <p:spPr>
          <a:xfrm flipV="1">
            <a:off x="9258300" y="1317308"/>
            <a:ext cx="12700" cy="805815"/>
          </a:xfrm>
          <a:prstGeom prst="bentConnector3">
            <a:avLst>
              <a:gd name="adj1" fmla="val 300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7" name="kind:e2:e1"/>
          <p:cNvSpPr txBox="1"/>
          <p:nvPr/>
        </p:nvSpPr>
        <p:spPr>
          <a:xfrm>
            <a:off x="10001250" y="1620203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depends-on</a:t>
            </a:r>
            <a:endParaRPr lang="en-US" sz="1050" dirty="0"/>
          </a:p>
        </p:txBody>
      </p:sp>
      <p:cxnSp>
        <p:nvCxnSpPr>
          <p:cNvPr id="8" name="edge:e3:e2"/>
          <p:cNvCxnSpPr>
            <a:stCxn id="5" idx="3"/>
            <a:endCxn id="4" idx="3"/>
          </p:cNvCxnSpPr>
          <p:nvPr/>
        </p:nvCxnSpPr>
        <p:spPr>
          <a:xfrm flipV="1">
            <a:off x="9258300" y="2123122"/>
            <a:ext cx="12700" cy="805815"/>
          </a:xfrm>
          <a:prstGeom prst="bentConnector3">
            <a:avLst>
              <a:gd name="adj1" fmla="val 525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9" name="kind:e3:e2"/>
          <p:cNvSpPr txBox="1"/>
          <p:nvPr/>
        </p:nvSpPr>
        <p:spPr>
          <a:xfrm>
            <a:off x="10001250" y="2426018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depends-on</a:t>
            </a:r>
            <a:endParaRPr lang="en-US" sz="1050" dirty="0"/>
          </a:p>
        </p:txBody>
      </p:sp>
      <p:sp>
        <p:nvSpPr>
          <p:cNvPr id="10" name="cites:u-capability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ister:u-sources"/>
          <p:cNvSpPr txBox="1"/>
          <p:nvPr/>
        </p:nvSpPr>
        <p:spPr>
          <a:xfrm>
            <a:off x="457200" y="457200"/>
            <a:ext cx="1127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[1]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Fraunhofer IPA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Instandhaltung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1"/>
              </a:rPr>
              <a:t>https://www.ipa.fraunhofer.de/de/publikationen/instandhaltung-2025.html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[2]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Destatis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Instandhaltung 2030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2"/>
              </a:rPr>
              <a:t>https://www.destatis.de/DE/Themen/Arbeit/Arbeitsmarkt/Erwerbstaetigkeit/instandhaltung-2030.html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[3]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Handelsblatt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Predictive Maintenance, Fachkräfte und Versicherer 2025-2026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3"/>
              </a:rPr>
              <a:t>https://www.handelsblatt.com/unternehmen/industrie/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[4]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VDMA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Condition-Monitoring-Studie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4"/>
              </a:rPr>
              <a:t>https://www.vdma.org/condition-monitoring-studie-2025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oardroom-notes">
  <a:themeElements>
    <a:clrScheme name="boardroom-notes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-not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-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cogni-publishing/design-render</Application>
  <PresentationFormat>Widescreen</PresentationFormat>
  <Slides>6</Slides>
  <Notes>4</Notes>
</Properties>
</file>

<file path=docProps/core.xml><?xml version="1.0" encoding="utf-8"?>
<cp:coreProperties xmlns:cp="http://schemas.openxmlformats.org/package/2006/metadata/core-properties" xmlns:dc="http://purl.org/dc/elements/1.1/">
  <dc:title>Moving maintenance from the calendar to the condition</dc:title>
  <cp:revision>1</cp:revision>
</cp:coreProperties>
</file>