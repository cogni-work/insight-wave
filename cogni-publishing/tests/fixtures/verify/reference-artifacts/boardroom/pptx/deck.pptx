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lvl1pPr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million euros</c:v>
                </c:pt>
              </c:strCache>
            </c:strRef>
          </c:tx>
          <c:spPr>
            <a:solidFill>
              <a:schemeClr val="accent1"/>
            </a:solidFill>
            <a:ln w="9525">
              <a:solidFill>
                <a:schemeClr val="tx1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Unplanned downtime</c:v>
                </c:pt>
                <c:pt idx="1">
                  <c:v>Technician wage premium</c:v>
                </c:pt>
                <c:pt idx="2">
                  <c:v>Insurance surcharges</c:v>
                </c:pt>
                <c:pt idx="3">
                  <c:v>Compliance retrofit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13.0</c:v>
                </c:pt>
                <c:pt idx="1">
                  <c:v>2.1</c:v>
                </c:pt>
                <c:pt idx="2">
                  <c:v>0.9</c:v>
                </c:pt>
                <c:pt idx="3">
                  <c:v>1.4</c:v>
                </c:pt>
              </c:numCache>
            </c:numRef>
          </c:val>
        </c:ser>
        <c:gapWidth val="67"/>
        <c:axId val="500000001"/>
        <c:axId val="500000002"/>
      </c:barChart>
      <c:catAx>
        <c:axId val="500000001"/>
        <c:scaling>
          <c:orientation val="maxMin"/>
        </c:scaling>
        <c:delete val="0"/>
        <c:axPos val="l"/>
        <c:majorTickMark val="none"/>
        <c:minorTickMark val="none"/>
        <c:tickLblPos val="none"/>
        <c:spPr>
          <a:ln w="9525">
            <a:solidFill>
              <a:schemeClr val="tx1"/>
            </a:solidFill>
          </a:ln>
        </c:spPr>
        <c:crossAx val="500000002"/>
        <c:crosses val="autoZero"/>
        <c:auto val="1"/>
        <c:lblAlgn val="ctr"/>
        <c:lblOffset val="100"/>
        <c:noMultiLvlLbl val="0"/>
      </c:catAx>
      <c:valAx>
        <c:axId val="500000002"/>
        <c:scaling>
          <c:orientation val="minMax"/>
          <c:min val="0"/>
        </c:scaling>
        <c:delete val="1"/>
        <c:axPos val="t"/>
        <c:numFmt formatCode="General" sourceLinked="1"/>
        <c:majorTickMark val="none"/>
        <c:minorTickMark val="none"/>
        <c:tickLblPos val="nextTo"/>
        <c:crossAx val="50000000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:u-answ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Lead with the decision; the three slides after it carry the why, the cost and the how.</a:t>
            </a:r>
            <a:endParaRPr 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:u-compare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Keep both options on screen; the contrast between them is the argument.</a:t>
            </a:r>
            <a:endParaRPr lang="en-US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:u-component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Read the largest bar first, then the three that compound it.</a:t>
            </a:r>
            <a:endParaRPr lang="en-US" sz="12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:u-capabilit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Point at the dependencies: the ranking needs the view, and the documentation needs the ranking.</a:t>
            </a:r>
            <a:endParaRPr 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hyperlink" Target="https://www.ipa.fraunhofer.de/de/publikationen/instandhaltung-2025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hyperlink" Target="https://www.ipa.fraunhofer.de/de/publikationen/instandhaltung-2025.html" TargetMode="External"/><Relationship Id="rId2" Type="http://schemas.openxmlformats.org/officeDocument/2006/relationships/hyperlink" Target="https://www.vdma.org/condition-monitoring-studie-2025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hyperlink" Target="https://www.ipa.fraunhofer.de/de/publikationen/instandhaltung-2025.html" TargetMode="External"/><Relationship Id="rId3" Type="http://schemas.openxmlformats.org/officeDocument/2006/relationships/hyperlink" Target="https://www.destatis.de/DE/Themen/Arbeit/Arbeitsmarkt/Erwerbstaetigkeit/instandhaltung-2030.html" TargetMode="External"/><Relationship Id="rId4" Type="http://schemas.openxmlformats.org/officeDocument/2006/relationships/hyperlink" Target="https://www.handelsblatt.com/unternehmen/industrie/" TargetMode="External"/><Relationship Id="rId5" Type="http://schemas.openxmlformats.org/officeDocument/2006/relationships/hyperlink" Target="https://www.vdma.org/condition-monitoring-studie-2025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hyperlink" Target="https://www.vdma.org/condition-monitoring-studie-2025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hyperlink" Target="https://www.ipa.fraunhofer.de/de/publikationen/instandhaltung-2025.html" TargetMode="External"/><Relationship Id="rId2" Type="http://schemas.openxmlformats.org/officeDocument/2006/relationships/hyperlink" Target="https://www.destatis.de/DE/Themen/Arbeit/Arbeitsmarkt/Erwerbstaetigkeit/instandhaltung-2030.html" TargetMode="External"/><Relationship Id="rId3" Type="http://schemas.openxmlformats.org/officeDocument/2006/relationships/hyperlink" Target="https://www.handelsblatt.com/unternehmen/industrie/" TargetMode="External"/><Relationship Id="rId4" Type="http://schemas.openxmlformats.org/officeDocument/2006/relationships/hyperlink" Target="https://www.vdma.org/condition-monitoring-studie-2025" TargetMode="External"/><Relationship Id="rId5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ocu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:document#title"/>
          <p:cNvSpPr txBox="1"/>
          <p:nvPr/>
        </p:nvSpPr>
        <p:spPr>
          <a:xfrm>
            <a:off x="457200" y="457200"/>
            <a:ext cx="11277600" cy="1173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4620"/>
              </a:lnSpc>
              <a:buNone/>
            </a:pPr>
            <a:r>
              <a:rPr lang="en-US" sz="4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Moving maintenance from the calendar to the condition</a:t>
            </a:r>
            <a:endParaRPr lang="en-US" sz="4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-answ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:u-answer"/>
          <p:cNvSpPr/>
          <p:nvPr/>
        </p:nvSpPr>
        <p:spPr>
          <a:xfrm>
            <a:off x="266700" y="457200"/>
            <a:ext cx="57150" cy="1173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copy:answer#title"/>
          <p:cNvSpPr txBox="1"/>
          <p:nvPr/>
        </p:nvSpPr>
        <p:spPr>
          <a:xfrm>
            <a:off x="457200" y="457200"/>
            <a:ext cx="11277600" cy="1173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4620"/>
              </a:lnSpc>
              <a:buNone/>
            </a:pPr>
            <a:r>
              <a:rPr lang="en-US" sz="4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Move the scheduled budget into condition-based maintenance</a:t>
            </a:r>
            <a:endParaRPr lang="en-US" sz="4200" dirty="0"/>
          </a:p>
        </p:txBody>
      </p:sp>
      <p:sp>
        <p:nvSpPr>
          <p:cNvPr id="4" name="copy:answer#body"/>
          <p:cNvSpPr txBox="1"/>
          <p:nvPr/>
        </p:nvSpPr>
        <p:spPr>
          <a:xfrm>
            <a:off x="457200" y="1859280"/>
            <a:ext cx="11277600" cy="5448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145"/>
              </a:lnSpc>
              <a:buNone/>
            </a:pPr>
            <a:r>
              <a:rPr lang="en-US" sz="16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Calendar maintenance keeps paying for downtime it cannot see coming; a condition view catches most stops before they happen.</a:t>
            </a:r>
            <a:endParaRPr lang="en-US" sz="1650" dirty="0"/>
          </a:p>
        </p:txBody>
      </p:sp>
      <p:sp>
        <p:nvSpPr>
          <p:cNvPr id="5" name="cites:u-answer"/>
          <p:cNvSpPr txBox="1"/>
          <p:nvPr/>
        </p:nvSpPr>
        <p:spPr>
          <a:xfrm>
            <a:off x="457200" y="6529388"/>
            <a:ext cx="1127760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575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  <a:hlinkClick r:id="rId1"/>
              </a:rPr>
              <a:t>[1]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-compa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:today#title"/>
          <p:cNvSpPr/>
          <p:nvPr/>
        </p:nvSpPr>
        <p:spPr>
          <a:xfrm>
            <a:off x="342900" y="457200"/>
            <a:ext cx="28575" cy="2724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copy:today#title"/>
          <p:cNvSpPr txBox="1"/>
          <p:nvPr/>
        </p:nvSpPr>
        <p:spPr>
          <a:xfrm>
            <a:off x="457200" y="457200"/>
            <a:ext cx="11277600" cy="2724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145"/>
              </a:lnSpc>
              <a:buNone/>
            </a:pPr>
            <a:r>
              <a:rPr lang="en-US" sz="16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Today: maintenance by the calendar</a:t>
            </a:r>
            <a:endParaRPr lang="en-US" sz="1650" dirty="0"/>
          </a:p>
        </p:txBody>
      </p:sp>
      <p:sp>
        <p:nvSpPr>
          <p:cNvPr id="4" name="rule:today#body"/>
          <p:cNvSpPr/>
          <p:nvPr/>
        </p:nvSpPr>
        <p:spPr>
          <a:xfrm>
            <a:off x="342900" y="843915"/>
            <a:ext cx="28575" cy="2724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copy:today#body"/>
          <p:cNvSpPr txBox="1"/>
          <p:nvPr/>
        </p:nvSpPr>
        <p:spPr>
          <a:xfrm>
            <a:off x="457200" y="843915"/>
            <a:ext cx="11277600" cy="2724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145"/>
              </a:lnSpc>
              <a:buNone/>
            </a:pPr>
            <a:r>
              <a:rPr lang="en-US" sz="16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Fixed intervals, surprise failures; most stops announce themselves first and go unread.</a:t>
            </a:r>
            <a:endParaRPr lang="en-US" sz="1650" dirty="0"/>
          </a:p>
        </p:txBody>
      </p:sp>
      <p:sp>
        <p:nvSpPr>
          <p:cNvPr id="6" name="rule:tomorrow#title"/>
          <p:cNvSpPr/>
          <p:nvPr/>
        </p:nvSpPr>
        <p:spPr>
          <a:xfrm>
            <a:off x="342900" y="1230630"/>
            <a:ext cx="28575" cy="2724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copy:tomorrow#title"/>
          <p:cNvSpPr txBox="1"/>
          <p:nvPr/>
        </p:nvSpPr>
        <p:spPr>
          <a:xfrm>
            <a:off x="457200" y="1230630"/>
            <a:ext cx="11277600" cy="2724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145"/>
              </a:lnSpc>
              <a:buNone/>
            </a:pPr>
            <a:r>
              <a:rPr lang="en-US" sz="16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Tomorrow: maintenance by the condition</a:t>
            </a:r>
            <a:endParaRPr lang="en-US" sz="1650" dirty="0"/>
          </a:p>
        </p:txBody>
      </p:sp>
      <p:sp>
        <p:nvSpPr>
          <p:cNvPr id="8" name="rule:tomorrow#body"/>
          <p:cNvSpPr/>
          <p:nvPr/>
        </p:nvSpPr>
        <p:spPr>
          <a:xfrm>
            <a:off x="342900" y="1617345"/>
            <a:ext cx="28575" cy="2724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copy:tomorrow#body"/>
          <p:cNvSpPr txBox="1"/>
          <p:nvPr/>
        </p:nvSpPr>
        <p:spPr>
          <a:xfrm>
            <a:off x="457200" y="1617345"/>
            <a:ext cx="11277600" cy="2724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145"/>
              </a:lnSpc>
              <a:buNone/>
            </a:pPr>
            <a:r>
              <a:rPr lang="en-US" sz="16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One view of every asset and one ranked list of alerts, so technicians act before the stop.</a:t>
            </a:r>
            <a:endParaRPr lang="en-US" sz="1650" dirty="0"/>
          </a:p>
        </p:txBody>
      </p:sp>
      <p:sp>
        <p:nvSpPr>
          <p:cNvPr id="10" name="cites:u-compare"/>
          <p:cNvSpPr txBox="1"/>
          <p:nvPr/>
        </p:nvSpPr>
        <p:spPr>
          <a:xfrm>
            <a:off x="457200" y="6529388"/>
            <a:ext cx="1127760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575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  <a:hlinkClick r:id="rId1"/>
              </a:rPr>
              <a:t>[1]</a:t>
            </a: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  <a:hlinkClick r:id="rId2"/>
              </a:rPr>
              <a:t>[4]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-compon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:components#title"/>
          <p:cNvSpPr txBox="1"/>
          <p:nvPr/>
        </p:nvSpPr>
        <p:spPr>
          <a:xfrm>
            <a:off x="457200" y="457200"/>
            <a:ext cx="11277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700"/>
              </a:lnSpc>
              <a:buNone/>
            </a:pPr>
            <a:r>
              <a:rPr lang="en-US" sz="22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Four costs stack on the same three-year horizon</a:t>
            </a:r>
            <a:endParaRPr lang="en-US" sz="2250" dirty="0"/>
          </a:p>
        </p:txBody>
      </p:sp>
      <p:graphicFrame>
        <p:nvGraphicFramePr>
          <p:cNvPr id="3" name="chart:u-components" descr="Two to twelve values compared by length."/>
          <p:cNvGraphicFramePr/>
          <p:nvPr/>
        </p:nvGraphicFramePr>
        <p:xfrm>
          <a:off x="4968240" y="1028700"/>
          <a:ext cx="4736592" cy="15240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opy:data:downtime#label"/>
          <p:cNvSpPr txBox="1"/>
          <p:nvPr/>
        </p:nvSpPr>
        <p:spPr>
          <a:xfrm>
            <a:off x="457200" y="1028700"/>
            <a:ext cx="443484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Unplanned downtime</a:t>
            </a:r>
            <a:endParaRPr lang="en-US" sz="1200" dirty="0"/>
          </a:p>
        </p:txBody>
      </p:sp>
      <p:sp>
        <p:nvSpPr>
          <p:cNvPr id="5" name="value:downtime"/>
          <p:cNvSpPr txBox="1"/>
          <p:nvPr/>
        </p:nvSpPr>
        <p:spPr>
          <a:xfrm>
            <a:off x="9781032" y="1028700"/>
            <a:ext cx="195376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13.0 million euros</a:t>
            </a:r>
            <a:endParaRPr lang="en-US" sz="1200" dirty="0"/>
          </a:p>
        </p:txBody>
      </p:sp>
      <p:sp>
        <p:nvSpPr>
          <p:cNvPr id="6" name="copy:data:wage-premium#label"/>
          <p:cNvSpPr txBox="1"/>
          <p:nvPr/>
        </p:nvSpPr>
        <p:spPr>
          <a:xfrm>
            <a:off x="457200" y="1409700"/>
            <a:ext cx="443484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Technician wage premium</a:t>
            </a:r>
            <a:endParaRPr lang="en-US" sz="1200" dirty="0"/>
          </a:p>
        </p:txBody>
      </p:sp>
      <p:sp>
        <p:nvSpPr>
          <p:cNvPr id="7" name="value:wage-premium"/>
          <p:cNvSpPr txBox="1"/>
          <p:nvPr/>
        </p:nvSpPr>
        <p:spPr>
          <a:xfrm>
            <a:off x="9781032" y="1409700"/>
            <a:ext cx="195376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2.1 million euros</a:t>
            </a:r>
            <a:endParaRPr lang="en-US" sz="1200" dirty="0"/>
          </a:p>
        </p:txBody>
      </p:sp>
      <p:sp>
        <p:nvSpPr>
          <p:cNvPr id="8" name="copy:data:insurance-surcharge#label"/>
          <p:cNvSpPr txBox="1"/>
          <p:nvPr/>
        </p:nvSpPr>
        <p:spPr>
          <a:xfrm>
            <a:off x="457200" y="1790700"/>
            <a:ext cx="443484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Insurance surcharges</a:t>
            </a:r>
            <a:endParaRPr lang="en-US" sz="1200" dirty="0"/>
          </a:p>
        </p:txBody>
      </p:sp>
      <p:sp>
        <p:nvSpPr>
          <p:cNvPr id="9" name="value:insurance-surcharge"/>
          <p:cNvSpPr txBox="1"/>
          <p:nvPr/>
        </p:nvSpPr>
        <p:spPr>
          <a:xfrm>
            <a:off x="9781032" y="1790700"/>
            <a:ext cx="195376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0.9 million euros</a:t>
            </a:r>
            <a:endParaRPr lang="en-US" sz="1200" dirty="0"/>
          </a:p>
        </p:txBody>
      </p:sp>
      <p:sp>
        <p:nvSpPr>
          <p:cNvPr id="10" name="copy:data:compliance-retrofit#label"/>
          <p:cNvSpPr txBox="1"/>
          <p:nvPr/>
        </p:nvSpPr>
        <p:spPr>
          <a:xfrm>
            <a:off x="457200" y="2171700"/>
            <a:ext cx="443484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Compliance retrofit</a:t>
            </a:r>
            <a:endParaRPr lang="en-US" sz="1200" dirty="0"/>
          </a:p>
        </p:txBody>
      </p:sp>
      <p:sp>
        <p:nvSpPr>
          <p:cNvPr id="11" name="value:compliance-retrofit"/>
          <p:cNvSpPr txBox="1"/>
          <p:nvPr/>
        </p:nvSpPr>
        <p:spPr>
          <a:xfrm>
            <a:off x="9781032" y="2171700"/>
            <a:ext cx="195376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1.4 million euros</a:t>
            </a:r>
            <a:endParaRPr lang="en-US" sz="1200" dirty="0"/>
          </a:p>
        </p:txBody>
      </p:sp>
      <p:sp>
        <p:nvSpPr>
          <p:cNvPr id="12" name="copy:components#body"/>
          <p:cNvSpPr txBox="1"/>
          <p:nvPr/>
        </p:nvSpPr>
        <p:spPr>
          <a:xfrm>
            <a:off x="457200" y="2781300"/>
            <a:ext cx="11277600" cy="243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92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Downtime dominates, and the three smaller costs compound it.</a:t>
            </a:r>
            <a:endParaRPr lang="en-US" sz="1200" dirty="0"/>
          </a:p>
        </p:txBody>
      </p:sp>
      <p:sp>
        <p:nvSpPr>
          <p:cNvPr id="13" name="cites:u-components"/>
          <p:cNvSpPr txBox="1"/>
          <p:nvPr/>
        </p:nvSpPr>
        <p:spPr>
          <a:xfrm>
            <a:off x="457200" y="6529388"/>
            <a:ext cx="1127760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575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  <a:hlinkClick r:id="rId2"/>
              </a:rPr>
              <a:t>[1]</a:t>
            </a: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  <a:hlinkClick r:id="rId3"/>
              </a:rPr>
              <a:t>[2]</a:t>
            </a: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  <a:hlinkClick r:id="rId4"/>
              </a:rPr>
              <a:t>[3]</a:t>
            </a: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  <a:hlinkClick r:id="rId5"/>
              </a:rPr>
              <a:t>[4]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-capabili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:capability#title"/>
          <p:cNvSpPr txBox="1"/>
          <p:nvPr/>
        </p:nvSpPr>
        <p:spPr>
          <a:xfrm>
            <a:off x="457200" y="457200"/>
            <a:ext cx="11277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700"/>
              </a:lnSpc>
              <a:buNone/>
            </a:pPr>
            <a:r>
              <a:rPr lang="en-US" sz="22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Three parts make one asset-health capability</a:t>
            </a:r>
            <a:endParaRPr lang="en-US" sz="2250" dirty="0"/>
          </a:p>
        </p:txBody>
      </p:sp>
      <p:sp>
        <p:nvSpPr>
          <p:cNvPr id="3" name="copy:capability#body"/>
          <p:cNvSpPr/>
          <p:nvPr/>
        </p:nvSpPr>
        <p:spPr>
          <a:xfrm>
            <a:off x="457200" y="1028700"/>
            <a:ext cx="8801100" cy="577215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152400" tIns="152400" rIns="152400" bIns="152400" rtlCol="0" anchor="ctr">
            <a:noAutofit/>
          </a:bodyPr>
          <a:lstStyle/>
          <a:p>
            <a:pPr>
              <a:lnSpc>
                <a:spcPts val="2145"/>
              </a:lnSpc>
              <a:buNone/>
            </a:pPr>
            <a:r>
              <a:rPr lang="en-US" sz="16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One view of asset health</a:t>
            </a:r>
            <a:endParaRPr lang="en-US" sz="1650" dirty="0"/>
          </a:p>
        </p:txBody>
      </p:sp>
      <p:sp>
        <p:nvSpPr>
          <p:cNvPr id="4" name="copy:capability-2#title"/>
          <p:cNvSpPr/>
          <p:nvPr/>
        </p:nvSpPr>
        <p:spPr>
          <a:xfrm>
            <a:off x="457200" y="1834515"/>
            <a:ext cx="8801100" cy="577215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152400" tIns="152400" rIns="152400" bIns="152400" rtlCol="0" anchor="ctr">
            <a:noAutofit/>
          </a:bodyPr>
          <a:lstStyle/>
          <a:p>
            <a:pPr>
              <a:lnSpc>
                <a:spcPts val="2145"/>
              </a:lnSpc>
              <a:buNone/>
            </a:pPr>
            <a:r>
              <a:rPr lang="en-US" sz="16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A ranked list of alerts</a:t>
            </a:r>
            <a:endParaRPr lang="en-US" sz="1650" dirty="0"/>
          </a:p>
        </p:txBody>
      </p:sp>
      <p:sp>
        <p:nvSpPr>
          <p:cNvPr id="5" name="copy:capability-2#body"/>
          <p:cNvSpPr/>
          <p:nvPr/>
        </p:nvSpPr>
        <p:spPr>
          <a:xfrm>
            <a:off x="457200" y="2640330"/>
            <a:ext cx="8801100" cy="577215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152400" tIns="152400" rIns="152400" bIns="152400" rtlCol="0" anchor="ctr">
            <a:noAutofit/>
          </a:bodyPr>
          <a:lstStyle/>
          <a:p>
            <a:pPr>
              <a:lnSpc>
                <a:spcPts val="2145"/>
              </a:lnSpc>
              <a:buNone/>
            </a:pPr>
            <a:r>
              <a:rPr lang="en-US" sz="16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Compliance documented by design</a:t>
            </a:r>
            <a:endParaRPr lang="en-US" sz="1650" dirty="0"/>
          </a:p>
        </p:txBody>
      </p:sp>
      <p:cxnSp>
        <p:nvCxnSpPr>
          <p:cNvPr id="6" name="edge:e2:e1"/>
          <p:cNvCxnSpPr>
            <a:stCxn id="4" idx="3"/>
            <a:endCxn id="3" idx="3"/>
          </p:cNvCxnSpPr>
          <p:nvPr/>
        </p:nvCxnSpPr>
        <p:spPr>
          <a:xfrm flipV="1">
            <a:off x="9258300" y="1317308"/>
            <a:ext cx="12700" cy="805815"/>
          </a:xfrm>
          <a:prstGeom prst="bentConnector3">
            <a:avLst>
              <a:gd name="adj1" fmla="val 3000000"/>
            </a:avLst>
          </a:prstGeom>
          <a:ln w="19050">
            <a:solidFill>
              <a:schemeClr val="accent1"/>
            </a:solidFill>
            <a:tailEnd type="triangle"/>
          </a:ln>
        </p:spPr>
      </p:cxnSp>
      <p:sp>
        <p:nvSpPr>
          <p:cNvPr id="7" name="kind:e2:e1"/>
          <p:cNvSpPr txBox="1"/>
          <p:nvPr/>
        </p:nvSpPr>
        <p:spPr>
          <a:xfrm>
            <a:off x="10001250" y="1620203"/>
            <a:ext cx="211455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575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</a:rPr>
              <a:t>depends-on</a:t>
            </a:r>
            <a:endParaRPr lang="en-US" sz="1050" dirty="0"/>
          </a:p>
        </p:txBody>
      </p:sp>
      <p:cxnSp>
        <p:nvCxnSpPr>
          <p:cNvPr id="8" name="edge:e3:e2"/>
          <p:cNvCxnSpPr>
            <a:stCxn id="5" idx="3"/>
            <a:endCxn id="4" idx="3"/>
          </p:cNvCxnSpPr>
          <p:nvPr/>
        </p:nvCxnSpPr>
        <p:spPr>
          <a:xfrm flipV="1">
            <a:off x="9258300" y="2123122"/>
            <a:ext cx="12700" cy="805815"/>
          </a:xfrm>
          <a:prstGeom prst="bentConnector3">
            <a:avLst>
              <a:gd name="adj1" fmla="val 5250000"/>
            </a:avLst>
          </a:prstGeom>
          <a:ln w="19050">
            <a:solidFill>
              <a:schemeClr val="accent1"/>
            </a:solidFill>
            <a:tailEnd type="triangle"/>
          </a:ln>
        </p:spPr>
      </p:cxnSp>
      <p:sp>
        <p:nvSpPr>
          <p:cNvPr id="9" name="kind:e3:e2"/>
          <p:cNvSpPr txBox="1"/>
          <p:nvPr/>
        </p:nvSpPr>
        <p:spPr>
          <a:xfrm>
            <a:off x="10001250" y="2426018"/>
            <a:ext cx="211455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575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</a:rPr>
              <a:t>depends-on</a:t>
            </a:r>
            <a:endParaRPr lang="en-US" sz="1050" dirty="0"/>
          </a:p>
        </p:txBody>
      </p:sp>
      <p:sp>
        <p:nvSpPr>
          <p:cNvPr id="10" name="cites:u-capability"/>
          <p:cNvSpPr txBox="1"/>
          <p:nvPr/>
        </p:nvSpPr>
        <p:spPr>
          <a:xfrm>
            <a:off x="457200" y="6529388"/>
            <a:ext cx="1127760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575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  <a:hlinkClick r:id="rId1"/>
              </a:rPr>
              <a:t>[4]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-sourc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gister:u-sources"/>
          <p:cNvSpPr txBox="1"/>
          <p:nvPr/>
        </p:nvSpPr>
        <p:spPr>
          <a:xfrm>
            <a:off x="457200" y="457200"/>
            <a:ext cx="112776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575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</a:rPr>
              <a:t>[1]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Fraunhofer IPA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Instandhaltung 2025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  <a:hlinkClick r:id="rId1"/>
              </a:rPr>
              <a:t>https://www.ipa.fraunhofer.de/de/publikationen/instandhaltung-2025.html</a:t>
            </a:r>
            <a:endParaRPr lang="en-US" sz="1050" dirty="0"/>
          </a:p>
          <a:p>
            <a:pPr>
              <a:lnSpc>
                <a:spcPts val="1575"/>
              </a:lnSpc>
              <a:spcBef>
                <a:spcPts val="900"/>
              </a:spcBef>
              <a:buNone/>
            </a:pP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</a:rPr>
              <a:t>[2]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Destatis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Instandhaltung 2030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  <a:hlinkClick r:id="rId2"/>
              </a:rPr>
              <a:t>https://www.destatis.de/DE/Themen/Arbeit/Arbeitsmarkt/Erwerbstaetigkeit/instandhaltung-2030.html</a:t>
            </a:r>
            <a:endParaRPr lang="en-US" sz="1050" dirty="0"/>
          </a:p>
          <a:p>
            <a:pPr>
              <a:lnSpc>
                <a:spcPts val="1575"/>
              </a:lnSpc>
              <a:spcBef>
                <a:spcPts val="900"/>
              </a:spcBef>
              <a:buNone/>
            </a:pP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</a:rPr>
              <a:t>[3]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Handelsblatt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Predictive Maintenance, Fachkräfte und Versicherer 2025-2026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  <a:hlinkClick r:id="rId3"/>
              </a:rPr>
              <a:t>https://www.handelsblatt.com/unternehmen/industrie/</a:t>
            </a:r>
            <a:endParaRPr lang="en-US" sz="1050" dirty="0"/>
          </a:p>
          <a:p>
            <a:pPr>
              <a:lnSpc>
                <a:spcPts val="1575"/>
              </a:lnSpc>
              <a:spcBef>
                <a:spcPts val="900"/>
              </a:spcBef>
              <a:buNone/>
            </a:pPr>
            <a:r>
              <a:rPr lang="en-US" sz="1050" dirty="0">
                <a:solidFill>
                  <a:schemeClr val="tx2"/>
                </a:solidFill>
                <a:latin typeface="Arial"/>
                <a:ea typeface="Arial"/>
                <a:cs typeface="Arial"/>
              </a:rPr>
              <a:t>[4]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VDMA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Condition-Monitoring-Studie 2025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Arial"/>
                <a:ea typeface="Arial"/>
                <a:cs typeface="Arial"/>
                <a:hlinkClick r:id="rId4"/>
              </a:rPr>
              <a:t>https://www.vdma.org/condition-monitoring-studie-2025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ardroom">
  <a:themeElements>
    <a:clrScheme name="boardroom">
      <a:dk1>
        <a:srgbClr val="1A2331"/>
      </a:dk1>
      <a:lt1>
        <a:srgbClr val="FFFFFF"/>
      </a:lt1>
      <a:dk2>
        <a:srgbClr val="55617A"/>
      </a:dk2>
      <a:lt2>
        <a:srgbClr val="F4F6F9"/>
      </a:lt2>
      <a:accent1>
        <a:srgbClr val="8C6D1F"/>
      </a:accent1>
      <a:accent2>
        <a:srgbClr val="828B9E"/>
      </a:accent2>
      <a:accent3>
        <a:srgbClr val="55617A"/>
      </a:accent3>
      <a:accent4>
        <a:srgbClr val="1A2331"/>
      </a:accent4>
      <a:accent5>
        <a:srgbClr val="F4F6F9"/>
      </a:accent5>
      <a:accent6>
        <a:srgbClr val="8C6D1F"/>
      </a:accent6>
      <a:hlink>
        <a:srgbClr val="1A2331"/>
      </a:hlink>
      <a:folHlink>
        <a:srgbClr val="55617A"/>
      </a:folHlink>
    </a:clrScheme>
    <a:fontScheme name="boardroo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oardroom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oardroom-notes">
  <a:themeElements>
    <a:clrScheme name="boardroom-notes">
      <a:dk1>
        <a:srgbClr val="1A2331"/>
      </a:dk1>
      <a:lt1>
        <a:srgbClr val="FFFFFF"/>
      </a:lt1>
      <a:dk2>
        <a:srgbClr val="55617A"/>
      </a:dk2>
      <a:lt2>
        <a:srgbClr val="F4F6F9"/>
      </a:lt2>
      <a:accent1>
        <a:srgbClr val="8C6D1F"/>
      </a:accent1>
      <a:accent2>
        <a:srgbClr val="828B9E"/>
      </a:accent2>
      <a:accent3>
        <a:srgbClr val="55617A"/>
      </a:accent3>
      <a:accent4>
        <a:srgbClr val="1A2331"/>
      </a:accent4>
      <a:accent5>
        <a:srgbClr val="F4F6F9"/>
      </a:accent5>
      <a:accent6>
        <a:srgbClr val="8C6D1F"/>
      </a:accent6>
      <a:hlink>
        <a:srgbClr val="1A2331"/>
      </a:hlink>
      <a:folHlink>
        <a:srgbClr val="55617A"/>
      </a:folHlink>
    </a:clrScheme>
    <a:fontScheme name="boardroom-not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oardroom-note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cogni-publishing/design-render</Application>
  <PresentationFormat>Widescreen</PresentationFormat>
  <Slides>6</Slides>
  <Notes>4</Notes>
</Properties>
</file>

<file path=docProps/core.xml><?xml version="1.0" encoding="utf-8"?>
<cp:coreProperties xmlns:cp="http://schemas.openxmlformats.org/package/2006/metadata/core-properties" xmlns:dc="http://purl.org/dc/elements/1.1/">
  <dc:title>Moving maintenance from the calendar to the condition</dc:title>
  <cp:revision>1</cp:revision>
</cp:coreProperties>
</file>