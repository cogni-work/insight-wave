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 euros</c:v>
                </c:pt>
              </c:strCache>
            </c:strRef>
          </c:tx>
          <c:spPr>
            <a:solidFill>
              <a:schemeClr val="accent1"/>
            </a:solidFill>
            <a:ln w="9525">
              <a:solidFill>
                <a:schemeClr val="tx1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Unplanned downtime</c:v>
                </c:pt>
                <c:pt idx="1">
                  <c:v>Technician wage premium</c:v>
                </c:pt>
                <c:pt idx="2">
                  <c:v>Insurance surcharges</c:v>
                </c:pt>
                <c:pt idx="3">
                  <c:v>Compliance retrofit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2.1</c:v>
                </c:pt>
                <c:pt idx="2">
                  <c:v>0.9</c:v>
                </c:pt>
                <c:pt idx="3">
                  <c:v>1.4</c:v>
                </c:pt>
              </c:numCache>
            </c:numRef>
          </c:val>
        </c:ser>
        <c:gapWidth val="67"/>
        <c:axId val="500000001"/>
        <c:axId val="500000002"/>
      </c:barChart>
      <c:catAx>
        <c:axId val="500000001"/>
        <c:scaling>
          <c:orientation val="maxMin"/>
        </c:scaling>
        <c:delete val="0"/>
        <c:axPos val="l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>
          <c:orientation val="minMax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50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answ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Lead with the decision; the three slides after it carry the why, the cost and the how.</a:t>
            </a:r>
            <a:endParaRPr lang="en-US" sz="1275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ar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Keep both options on screen; the contrast between them is the argument.</a:t>
            </a:r>
            <a:endParaRPr lang="en-US" sz="1275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omponent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Read the largest bar first, then the three that compound it.</a:t>
            </a:r>
            <a:endParaRPr lang="en-US" sz="1275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:u-capabilit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Point at the dependencies: the ranking needs the view, and the documentation needs the ranking.</a:t>
            </a:r>
            <a:endParaRPr lang="en-US" sz="1275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vdma.org/condition-monitoring-studie-202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https://www.ipa.fraunhofer.de/de/publikationen/instandhaltung-2025.html" TargetMode="External"/><Relationship Id="rId3" Type="http://schemas.openxmlformats.org/officeDocument/2006/relationships/hyperlink" Target="https://www.destatis.de/DE/Themen/Arbeit/Arbeitsmarkt/Erwerbstaetigkeit/instandhaltung-2030.html" TargetMode="External"/><Relationship Id="rId4" Type="http://schemas.openxmlformats.org/officeDocument/2006/relationships/hyperlink" Target="https://www.handelsblatt.com/unternehmen/industrie/" TargetMode="External"/><Relationship Id="rId5" Type="http://schemas.openxmlformats.org/officeDocument/2006/relationships/hyperlink" Target="https://www.vdma.org/condition-monitoring-studie-20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hyperlink" Target="https://www.vdma.org/condition-monitoring-studie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hyperlink" Target="https://www.ipa.fraunhofer.de/de/publikationen/instandhaltung-2025.html" TargetMode="External"/><Relationship Id="rId2" Type="http://schemas.openxmlformats.org/officeDocument/2006/relationships/hyperlink" Target="https://www.destatis.de/DE/Themen/Arbeit/Arbeitsmarkt/Erwerbstaetigkeit/instandhaltung-2030.html" TargetMode="External"/><Relationship Id="rId3" Type="http://schemas.openxmlformats.org/officeDocument/2006/relationships/hyperlink" Target="https://www.handelsblatt.com/unternehmen/industrie/" TargetMode="External"/><Relationship Id="rId4" Type="http://schemas.openxmlformats.org/officeDocument/2006/relationships/hyperlink" Target="https://www.vdma.org/condition-monitoring-studie-2025" TargetMode="External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document#title"/>
          <p:cNvSpPr txBox="1"/>
          <p:nvPr/>
        </p:nvSpPr>
        <p:spPr>
          <a:xfrm>
            <a:off x="533400" y="533400"/>
            <a:ext cx="11125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860"/>
              </a:lnSpc>
              <a:buNone/>
            </a:pPr>
            <a:r>
              <a:rPr lang="en-US" sz="45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Moving maintenance from the calendar to the condition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answ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u-answer"/>
          <p:cNvSpPr/>
          <p:nvPr/>
        </p:nvSpPr>
        <p:spPr>
          <a:xfrm>
            <a:off x="342900" y="533400"/>
            <a:ext cx="57150" cy="1234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answer#title"/>
          <p:cNvSpPr txBox="1"/>
          <p:nvPr/>
        </p:nvSpPr>
        <p:spPr>
          <a:xfrm>
            <a:off x="533400" y="533400"/>
            <a:ext cx="11125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4860"/>
              </a:lnSpc>
              <a:buNone/>
            </a:pPr>
            <a:r>
              <a:rPr lang="en-US" sz="45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Move the scheduled budget into condition-based maintenance</a:t>
            </a:r>
            <a:endParaRPr lang="en-US" sz="4500" dirty="0"/>
          </a:p>
        </p:txBody>
      </p:sp>
      <p:sp>
        <p:nvSpPr>
          <p:cNvPr id="4" name="copy:answer#body"/>
          <p:cNvSpPr txBox="1"/>
          <p:nvPr/>
        </p:nvSpPr>
        <p:spPr>
          <a:xfrm>
            <a:off x="533400" y="2034540"/>
            <a:ext cx="11125200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Calendar maintenance keeps paying for downtime it cannot see coming; a condition view catches most stops before they happen.</a:t>
            </a:r>
            <a:endParaRPr lang="en-US" sz="1725" dirty="0"/>
          </a:p>
        </p:txBody>
      </p:sp>
      <p:sp>
        <p:nvSpPr>
          <p:cNvPr id="5" name="cites:u-answer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1"/>
              </a:rPr>
              <a:t>[1]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a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:today#title"/>
          <p:cNvSpPr/>
          <p:nvPr/>
        </p:nvSpPr>
        <p:spPr>
          <a:xfrm>
            <a:off x="419100" y="533400"/>
            <a:ext cx="28575" cy="28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copy:today#title"/>
          <p:cNvSpPr txBox="1"/>
          <p:nvPr/>
        </p:nvSpPr>
        <p:spPr>
          <a:xfrm>
            <a:off x="533400" y="533400"/>
            <a:ext cx="11125200" cy="2847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Today: maintenance by the calendar</a:t>
            </a:r>
            <a:endParaRPr lang="en-US" sz="1725" dirty="0"/>
          </a:p>
        </p:txBody>
      </p:sp>
      <p:sp>
        <p:nvSpPr>
          <p:cNvPr id="4" name="rule:today#body"/>
          <p:cNvSpPr/>
          <p:nvPr/>
        </p:nvSpPr>
        <p:spPr>
          <a:xfrm>
            <a:off x="419100" y="932498"/>
            <a:ext cx="28575" cy="28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copy:today#body"/>
          <p:cNvSpPr txBox="1"/>
          <p:nvPr/>
        </p:nvSpPr>
        <p:spPr>
          <a:xfrm>
            <a:off x="533400" y="932498"/>
            <a:ext cx="11125200" cy="2847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Fixed intervals, surprise failures; most stops announce themselves first and go unread.</a:t>
            </a:r>
            <a:endParaRPr lang="en-US" sz="1725" dirty="0"/>
          </a:p>
        </p:txBody>
      </p:sp>
      <p:sp>
        <p:nvSpPr>
          <p:cNvPr id="6" name="rule:tomorrow#title"/>
          <p:cNvSpPr/>
          <p:nvPr/>
        </p:nvSpPr>
        <p:spPr>
          <a:xfrm>
            <a:off x="419100" y="1331595"/>
            <a:ext cx="28575" cy="28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copy:tomorrow#title"/>
          <p:cNvSpPr txBox="1"/>
          <p:nvPr/>
        </p:nvSpPr>
        <p:spPr>
          <a:xfrm>
            <a:off x="533400" y="1331595"/>
            <a:ext cx="11125200" cy="2847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Tomorrow: maintenance by the condition</a:t>
            </a:r>
            <a:endParaRPr lang="en-US" sz="1725" dirty="0"/>
          </a:p>
        </p:txBody>
      </p:sp>
      <p:sp>
        <p:nvSpPr>
          <p:cNvPr id="8" name="rule:tomorrow#body"/>
          <p:cNvSpPr/>
          <p:nvPr/>
        </p:nvSpPr>
        <p:spPr>
          <a:xfrm>
            <a:off x="419100" y="1730693"/>
            <a:ext cx="28575" cy="2847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copy:tomorrow#body"/>
          <p:cNvSpPr txBox="1"/>
          <p:nvPr/>
        </p:nvSpPr>
        <p:spPr>
          <a:xfrm>
            <a:off x="533400" y="1730693"/>
            <a:ext cx="11125200" cy="2847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One view of every asset and one ranked list of alerts, so technicians act before the stop.</a:t>
            </a:r>
            <a:endParaRPr lang="en-US" sz="1725" dirty="0"/>
          </a:p>
        </p:txBody>
      </p:sp>
      <p:sp>
        <p:nvSpPr>
          <p:cNvPr id="10" name="cites:u-compare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1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2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ompon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omponents#title"/>
          <p:cNvSpPr txBox="1"/>
          <p:nvPr/>
        </p:nvSpPr>
        <p:spPr>
          <a:xfrm>
            <a:off x="533400" y="533400"/>
            <a:ext cx="11125200" cy="3602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836"/>
              </a:lnSpc>
              <a:buNone/>
            </a:pPr>
            <a:r>
              <a:rPr lang="en-US" sz="23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Four costs stack on the same three-year horizon</a:t>
            </a:r>
            <a:endParaRPr lang="en-US" sz="2325" dirty="0"/>
          </a:p>
        </p:txBody>
      </p:sp>
      <p:graphicFrame>
        <p:nvGraphicFramePr>
          <p:cNvPr id="3" name="chart:u-components" descr="Two to twelve values compared by length."/>
          <p:cNvGraphicFramePr/>
          <p:nvPr/>
        </p:nvGraphicFramePr>
        <p:xfrm>
          <a:off x="4983480" y="1160336"/>
          <a:ext cx="4672584" cy="155829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py:data:downtime#label"/>
          <p:cNvSpPr txBox="1"/>
          <p:nvPr/>
        </p:nvSpPr>
        <p:spPr>
          <a:xfrm>
            <a:off x="533400" y="1160336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Unplanned downtime</a:t>
            </a:r>
            <a:endParaRPr lang="en-US" sz="1275" dirty="0"/>
          </a:p>
        </p:txBody>
      </p:sp>
      <p:sp>
        <p:nvSpPr>
          <p:cNvPr id="5" name="value:downtime"/>
          <p:cNvSpPr txBox="1"/>
          <p:nvPr/>
        </p:nvSpPr>
        <p:spPr>
          <a:xfrm>
            <a:off x="9732264" y="1160336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13.0 million euros</a:t>
            </a:r>
            <a:endParaRPr lang="en-US" sz="1275" dirty="0"/>
          </a:p>
        </p:txBody>
      </p:sp>
      <p:sp>
        <p:nvSpPr>
          <p:cNvPr id="6" name="copy:data:wage-premium#label"/>
          <p:cNvSpPr txBox="1"/>
          <p:nvPr/>
        </p:nvSpPr>
        <p:spPr>
          <a:xfrm>
            <a:off x="533400" y="1549908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Technician wage premium</a:t>
            </a:r>
            <a:endParaRPr lang="en-US" sz="1275" dirty="0"/>
          </a:p>
        </p:txBody>
      </p:sp>
      <p:sp>
        <p:nvSpPr>
          <p:cNvPr id="7" name="value:wage-premium"/>
          <p:cNvSpPr txBox="1"/>
          <p:nvPr/>
        </p:nvSpPr>
        <p:spPr>
          <a:xfrm>
            <a:off x="9732264" y="1549908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2.1 million euros</a:t>
            </a:r>
            <a:endParaRPr lang="en-US" sz="1275" dirty="0"/>
          </a:p>
        </p:txBody>
      </p:sp>
      <p:sp>
        <p:nvSpPr>
          <p:cNvPr id="8" name="copy:data:insurance-surcharge#label"/>
          <p:cNvSpPr txBox="1"/>
          <p:nvPr/>
        </p:nvSpPr>
        <p:spPr>
          <a:xfrm>
            <a:off x="533400" y="1939480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Insurance surcharges</a:t>
            </a:r>
            <a:endParaRPr lang="en-US" sz="1275" dirty="0"/>
          </a:p>
        </p:txBody>
      </p:sp>
      <p:sp>
        <p:nvSpPr>
          <p:cNvPr id="9" name="value:insurance-surcharge"/>
          <p:cNvSpPr txBox="1"/>
          <p:nvPr/>
        </p:nvSpPr>
        <p:spPr>
          <a:xfrm>
            <a:off x="9732264" y="1939480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0.9 million euros</a:t>
            </a:r>
            <a:endParaRPr lang="en-US" sz="1275" dirty="0"/>
          </a:p>
        </p:txBody>
      </p:sp>
      <p:sp>
        <p:nvSpPr>
          <p:cNvPr id="10" name="copy:data:compliance-retrofit#label"/>
          <p:cNvSpPr txBox="1"/>
          <p:nvPr/>
        </p:nvSpPr>
        <p:spPr>
          <a:xfrm>
            <a:off x="533400" y="2329053"/>
            <a:ext cx="4373880" cy="3895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Compliance retrofit</a:t>
            </a:r>
            <a:endParaRPr lang="en-US" sz="1275" dirty="0"/>
          </a:p>
        </p:txBody>
      </p:sp>
      <p:sp>
        <p:nvSpPr>
          <p:cNvPr id="11" name="value:compliance-retrofit"/>
          <p:cNvSpPr txBox="1"/>
          <p:nvPr/>
        </p:nvSpPr>
        <p:spPr>
          <a:xfrm>
            <a:off x="9732264" y="2329053"/>
            <a:ext cx="1926336" cy="3895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1.4 million euros</a:t>
            </a:r>
            <a:endParaRPr lang="en-US" sz="1275" dirty="0"/>
          </a:p>
        </p:txBody>
      </p:sp>
      <p:sp>
        <p:nvSpPr>
          <p:cNvPr id="12" name="copy:components#body"/>
          <p:cNvSpPr txBox="1"/>
          <p:nvPr/>
        </p:nvSpPr>
        <p:spPr>
          <a:xfrm>
            <a:off x="533400" y="2985326"/>
            <a:ext cx="11125200" cy="275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168"/>
              </a:lnSpc>
              <a:buNone/>
            </a:pPr>
            <a:r>
              <a:rPr lang="en-US" sz="127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Downtime dominates, and the three smaller costs compound it.</a:t>
            </a:r>
            <a:endParaRPr lang="en-US" sz="1275" dirty="0"/>
          </a:p>
        </p:txBody>
      </p:sp>
      <p:sp>
        <p:nvSpPr>
          <p:cNvPr id="13" name="cites:u-components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2"/>
              </a:rPr>
              <a:t>[1]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3"/>
              </a:rPr>
              <a:t>[2]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4"/>
              </a:rPr>
              <a:t>[3]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5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capabil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:capability#title"/>
          <p:cNvSpPr txBox="1"/>
          <p:nvPr/>
        </p:nvSpPr>
        <p:spPr>
          <a:xfrm>
            <a:off x="533400" y="533400"/>
            <a:ext cx="11125200" cy="3602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836"/>
              </a:lnSpc>
              <a:buNone/>
            </a:pPr>
            <a:r>
              <a:rPr lang="en-US" sz="23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Three parts make one asset-health capability</a:t>
            </a:r>
            <a:endParaRPr lang="en-US" sz="2325" dirty="0"/>
          </a:p>
        </p:txBody>
      </p:sp>
      <p:sp>
        <p:nvSpPr>
          <p:cNvPr id="3" name="copy:capability#body"/>
          <p:cNvSpPr/>
          <p:nvPr/>
        </p:nvSpPr>
        <p:spPr>
          <a:xfrm>
            <a:off x="533400" y="1160336"/>
            <a:ext cx="8648700" cy="665798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90500" tIns="190500" rIns="190500" bIns="190500" rtlCol="0" anchor="ctr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One view of asset health</a:t>
            </a:r>
            <a:endParaRPr lang="en-US" sz="1725" dirty="0"/>
          </a:p>
        </p:txBody>
      </p:sp>
      <p:sp>
        <p:nvSpPr>
          <p:cNvPr id="4" name="copy:capability-2#title"/>
          <p:cNvSpPr/>
          <p:nvPr/>
        </p:nvSpPr>
        <p:spPr>
          <a:xfrm>
            <a:off x="533400" y="2092833"/>
            <a:ext cx="8648700" cy="665798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90500" tIns="190500" rIns="190500" bIns="190500" rtlCol="0" anchor="ctr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ranked list of alerts</a:t>
            </a:r>
            <a:endParaRPr lang="en-US" sz="1725" dirty="0"/>
          </a:p>
        </p:txBody>
      </p:sp>
      <p:sp>
        <p:nvSpPr>
          <p:cNvPr id="5" name="copy:capability-2#body"/>
          <p:cNvSpPr/>
          <p:nvPr/>
        </p:nvSpPr>
        <p:spPr>
          <a:xfrm>
            <a:off x="533400" y="3025330"/>
            <a:ext cx="8648700" cy="665798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190500" tIns="190500" rIns="190500" bIns="190500" rtlCol="0" anchor="ctr">
            <a:noAutofit/>
          </a:bodyPr>
          <a:lstStyle/>
          <a:p>
            <a:pPr>
              <a:lnSpc>
                <a:spcPts val="2242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Compliance documented by design</a:t>
            </a:r>
            <a:endParaRPr lang="en-US" sz="1725" dirty="0"/>
          </a:p>
        </p:txBody>
      </p:sp>
      <p:cxnSp>
        <p:nvCxnSpPr>
          <p:cNvPr id="6" name="edge:e2:e1"/>
          <p:cNvCxnSpPr>
            <a:stCxn id="4" idx="3"/>
            <a:endCxn id="3" idx="3"/>
          </p:cNvCxnSpPr>
          <p:nvPr/>
        </p:nvCxnSpPr>
        <p:spPr>
          <a:xfrm flipV="1">
            <a:off x="9182100" y="1493234"/>
            <a:ext cx="12700" cy="932498"/>
          </a:xfrm>
          <a:prstGeom prst="bentConnector3">
            <a:avLst>
              <a:gd name="adj1" fmla="val 300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7" name="kind:e2:e1"/>
          <p:cNvSpPr txBox="1"/>
          <p:nvPr/>
        </p:nvSpPr>
        <p:spPr>
          <a:xfrm>
            <a:off x="9925050" y="1856137"/>
            <a:ext cx="219075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depends-on</a:t>
            </a:r>
            <a:endParaRPr lang="en-US" sz="1050" dirty="0"/>
          </a:p>
        </p:txBody>
      </p:sp>
      <p:cxnSp>
        <p:nvCxnSpPr>
          <p:cNvPr id="8" name="edge:e3:e2"/>
          <p:cNvCxnSpPr>
            <a:stCxn id="5" idx="3"/>
            <a:endCxn id="4" idx="3"/>
          </p:cNvCxnSpPr>
          <p:nvPr/>
        </p:nvCxnSpPr>
        <p:spPr>
          <a:xfrm flipV="1">
            <a:off x="9182100" y="2425732"/>
            <a:ext cx="12700" cy="932497"/>
          </a:xfrm>
          <a:prstGeom prst="bentConnector3">
            <a:avLst>
              <a:gd name="adj1" fmla="val 5250000"/>
            </a:avLst>
          </a:prstGeom>
          <a:ln w="19050">
            <a:solidFill>
              <a:schemeClr val="accent1"/>
            </a:solidFill>
            <a:tailEnd type="triangle"/>
          </a:ln>
        </p:spPr>
      </p:cxnSp>
      <p:sp>
        <p:nvSpPr>
          <p:cNvPr id="9" name="kind:e3:e2"/>
          <p:cNvSpPr txBox="1"/>
          <p:nvPr/>
        </p:nvSpPr>
        <p:spPr>
          <a:xfrm>
            <a:off x="9925050" y="2788634"/>
            <a:ext cx="219075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depends-on</a:t>
            </a:r>
            <a:endParaRPr lang="en-US" sz="1050" dirty="0"/>
          </a:p>
        </p:txBody>
      </p:sp>
      <p:sp>
        <p:nvSpPr>
          <p:cNvPr id="10" name="cites:u-capability"/>
          <p:cNvSpPr txBox="1"/>
          <p:nvPr/>
        </p:nvSpPr>
        <p:spPr>
          <a:xfrm>
            <a:off x="533400" y="6487954"/>
            <a:ext cx="11125200" cy="2066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  <a:hlinkClick r:id="rId1"/>
              </a:rPr>
              <a:t>[4]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-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gister:u-sources"/>
          <p:cNvSpPr txBox="1"/>
          <p:nvPr/>
        </p:nvSpPr>
        <p:spPr>
          <a:xfrm>
            <a:off x="533400" y="533400"/>
            <a:ext cx="11125200" cy="1169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1628"/>
              </a:lnSpc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[1]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Fraunhofer IPA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Instandhaltung 2025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1"/>
              </a:rPr>
              <a:t>https://www.ipa.fraunhofer.de/de/publikationen/instandhaltung-2025.html</a:t>
            </a:r>
            <a:endParaRPr lang="en-US" sz="1050" dirty="0"/>
          </a:p>
          <a:p>
            <a:pPr>
              <a:lnSpc>
                <a:spcPts val="1628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[2]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Destatis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Instandhaltung 2030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2"/>
              </a:rPr>
              <a:t>https://www.destatis.de/DE/Themen/Arbeit/Arbeitsmarkt/Erwerbstaetigkeit/instandhaltung-2030.html</a:t>
            </a:r>
            <a:endParaRPr lang="en-US" sz="1050" dirty="0"/>
          </a:p>
          <a:p>
            <a:pPr>
              <a:lnSpc>
                <a:spcPts val="1628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[3]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Handelsblatt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Predictive Maintenance, Fachkräfte und Versicherer 2025-2026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3"/>
              </a:rPr>
              <a:t>https://www.handelsblatt.com/unternehmen/industrie/</a:t>
            </a:r>
            <a:endParaRPr lang="en-US" sz="1050" dirty="0"/>
          </a:p>
          <a:p>
            <a:pPr>
              <a:lnSpc>
                <a:spcPts val="1628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[4]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VDMA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Condition-Monitoring-Studie 2025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hlinkClick r:id="rId4"/>
              </a:rPr>
              <a:t>https://www.vdma.org/condition-monitoring-studie-2025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rgbClr val="241F1A"/>
      </a:dk1>
      <a:lt1>
        <a:srgbClr val="FBF7EF"/>
      </a:lt1>
      <a:dk2>
        <a:srgbClr val="5C544A"/>
      </a:dk2>
      <a:lt2>
        <a:srgbClr val="F3ECE0"/>
      </a:lt2>
      <a:accent1>
        <a:srgbClr val="A8541F"/>
      </a:accent1>
      <a:accent2>
        <a:srgbClr val="8B8378"/>
      </a:accent2>
      <a:accent3>
        <a:srgbClr val="5C544A"/>
      </a:accent3>
      <a:accent4>
        <a:srgbClr val="241F1A"/>
      </a:accent4>
      <a:accent5>
        <a:srgbClr val="F3ECE0"/>
      </a:accent5>
      <a:accent6>
        <a:srgbClr val="A8541F"/>
      </a:accent6>
      <a:hlink>
        <a:srgbClr val="241F1A"/>
      </a:hlink>
      <a:folHlink>
        <a:srgbClr val="5C544A"/>
      </a:folHlink>
    </a:clrScheme>
    <a:fontScheme name="editori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ditori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itorial-notes">
  <a:themeElements>
    <a:clrScheme name="editorial-notes">
      <a:dk1>
        <a:srgbClr val="241F1A"/>
      </a:dk1>
      <a:lt1>
        <a:srgbClr val="FBF7EF"/>
      </a:lt1>
      <a:dk2>
        <a:srgbClr val="5C544A"/>
      </a:dk2>
      <a:lt2>
        <a:srgbClr val="F3ECE0"/>
      </a:lt2>
      <a:accent1>
        <a:srgbClr val="A8541F"/>
      </a:accent1>
      <a:accent2>
        <a:srgbClr val="8B8378"/>
      </a:accent2>
      <a:accent3>
        <a:srgbClr val="5C544A"/>
      </a:accent3>
      <a:accent4>
        <a:srgbClr val="241F1A"/>
      </a:accent4>
      <a:accent5>
        <a:srgbClr val="F3ECE0"/>
      </a:accent5>
      <a:accent6>
        <a:srgbClr val="A8541F"/>
      </a:accent6>
      <a:hlink>
        <a:srgbClr val="241F1A"/>
      </a:hlink>
      <a:folHlink>
        <a:srgbClr val="5C544A"/>
      </a:folHlink>
    </a:clrScheme>
    <a:fontScheme name="editorial-not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ditorial-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cogni-publishing/design-render</Application>
  <PresentationFormat>Widescreen</PresentationFormat>
  <Slides>6</Slides>
  <Notes>4</Notes>
</Properties>
</file>

<file path=docProps/core.xml><?xml version="1.0" encoding="utf-8"?>
<cp:coreProperties xmlns:cp="http://schemas.openxmlformats.org/package/2006/metadata/core-properties" xmlns:dc="http://purl.org/dc/elements/1.1/">
  <dc:title>Moving maintenance from the calendar to the condition</dc:title>
  <cp:revision>1</cp:revision>
</cp:coreProperties>
</file>